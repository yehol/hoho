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2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858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9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CHARACTER ART TOY IP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70432"/>
            <a:ext cx="4297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900" b="1" dirty="0">
                <a:solidFill>
                  <a:srgbClr val="F3EEE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Would you, Tokki?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76479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3EEE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우주…토끼?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505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8AFA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Material-based Character Art Toy IP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6148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9A9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Born from different worlds.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4160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B8AFA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하나의 기본 토끼 조형에 서로 다른 세계의 물성과 환경을 적용해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B8AFA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확장하는 수집형 캐릭터 아트토이 IP.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806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B8AFA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예비창업 단계 · IP 개발 및 제품화 준비 중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349240" y="594360"/>
            <a:ext cx="6016752" cy="5623560"/>
          </a:xfrm>
          <a:prstGeom prst="rect">
            <a:avLst/>
          </a:prstGeom>
          <a:solidFill>
            <a:srgbClr val="332D26"/>
          </a:solidFill>
          <a:ln w="12700">
            <a:solidFill>
              <a:srgbClr val="463F37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5458968" y="685800"/>
            <a:ext cx="5797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B8AFA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IMAGE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5532120" y="3040380"/>
            <a:ext cx="5650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8AFA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Would you, Tokki?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8AFA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Full Character Lineup — Hero Image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8AFA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(원본 비율 유지 / 실제 이미지 교체 예정)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65105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8AFA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WOULD YOU, TOKKI?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9997135" y="651052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B8AFA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 / 12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89788"/>
            <a:ext cx="82296" cy="82296"/>
          </a:xfrm>
          <a:prstGeom prst="ellipse">
            <a:avLst/>
          </a:prstGeom>
          <a:solidFill>
            <a:srgbClr val="A681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53035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841248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50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캐릭터는 많지만,</a:t>
            </a:r>
            <a:endParaRPr lang="en-US" sz="2500" dirty="0"/>
          </a:p>
          <a:p>
            <a:pPr algn="l" indent="0" marL="0">
              <a:lnSpc>
                <a:spcPts val="3100"/>
              </a:lnSpc>
              <a:buNone/>
            </a:pPr>
            <a:r>
              <a:rPr lang="en-US" sz="250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오래 소유하고 싶은 캐릭터는 적다.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48840"/>
            <a:ext cx="4709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캐릭터 시장에는 다양한 그래픽과 굿즈가 존재하지만, 성인 소비자가 자신의 생활공간에 오래 두고 싶은 조형적 오브젝트형 캐릭터는 상대적으로 선택지가 제한적입니다.</a:t>
            </a:r>
            <a:endParaRPr lang="en-US" sz="1150" dirty="0"/>
          </a:p>
          <a:p>
            <a:pPr algn="l" indent="0" marL="0">
              <a:lnSpc>
                <a:spcPts val="1553"/>
              </a:lnSpc>
              <a:buNone/>
            </a:pPr>
            <a:endParaRPr lang="en-US" sz="1150" dirty="0"/>
          </a:p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반면 컬렉터 중심의 아트토이는 작품성과 수집가치는 높지만 가격과 접근성에서 진입장벽이 존재합니다.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2103120" cy="2103120"/>
          </a:xfrm>
          <a:prstGeom prst="ellipse">
            <a:avLst/>
          </a:prstGeom>
          <a:solidFill>
            <a:srgbClr val="8FA9B3">
              <a:alpha val="12000"/>
            </a:srgbClr>
          </a:solidFill>
          <a:ln w="15875">
            <a:solidFill>
              <a:srgbClr val="8FA9B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38160" y="2194560"/>
            <a:ext cx="2103120" cy="2103120"/>
          </a:xfrm>
          <a:prstGeom prst="ellipse">
            <a:avLst/>
          </a:prstGeom>
          <a:solidFill>
            <a:srgbClr val="BFA06E">
              <a:alpha val="12000"/>
            </a:srgbClr>
          </a:solidFill>
          <a:ln w="15875">
            <a:solidFill>
              <a:srgbClr val="BFA06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69480" y="3474720"/>
            <a:ext cx="2103120" cy="2103120"/>
          </a:xfrm>
          <a:prstGeom prst="ellipse">
            <a:avLst/>
          </a:prstGeom>
          <a:solidFill>
            <a:srgbClr val="77998C">
              <a:alpha val="12000"/>
            </a:srgbClr>
          </a:solidFill>
          <a:ln w="15875">
            <a:solidFill>
              <a:srgbClr val="77998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23134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spc="5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CHARACTER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3134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spc="5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ART TOY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360920" y="48463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spc="5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LIFESTYLE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spc="5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OBJECT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806440" y="58064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Would you, Tokki?는 이 세 영역의 접점을 지향합니다.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65105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WOULD YOU, TOKKI?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9997135" y="651052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 / 12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89788"/>
            <a:ext cx="82296" cy="82296"/>
          </a:xfrm>
          <a:prstGeom prst="ellipse">
            <a:avLst/>
          </a:prstGeom>
          <a:solidFill>
            <a:srgbClr val="A681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53035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841248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토끼, 다른 세계.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37160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형태, 다른 물성.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Would you, Tokki?는 하나의 기본 토끼 실루엣을 유지하면서 각기 다른 행성, 재료, 액체, 음식, 자연환경의 물성을 캐릭터 신체 자체에 적용하는 방식으로 확장됩니다.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2651760"/>
            <a:ext cx="939363" cy="939363"/>
          </a:xfrm>
          <a:prstGeom prst="rect">
            <a:avLst/>
          </a:prstGeom>
          <a:solidFill>
            <a:srgbClr val="F1EBE0"/>
          </a:solidFill>
          <a:ln w="12700">
            <a:solidFill>
              <a:srgbClr val="DDD5C7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932688" y="2743200"/>
            <a:ext cx="7199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IMAGE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755682"/>
            <a:ext cx="5736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664275"/>
            <a:ext cx="1030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MOON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856299"/>
            <a:ext cx="1030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크레이터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1890339" y="2651760"/>
            <a:ext cx="939363" cy="939363"/>
          </a:xfrm>
          <a:prstGeom prst="rect">
            <a:avLst/>
          </a:prstGeom>
          <a:solidFill>
            <a:srgbClr val="F1EBE0"/>
          </a:solidFill>
          <a:ln w="12700">
            <a:solidFill>
              <a:srgbClr val="DDD5C7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2000067" y="2743200"/>
            <a:ext cx="7199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IMAGE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2073219" y="2755682"/>
            <a:ext cx="5736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844619" y="3664275"/>
            <a:ext cx="1030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ICE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844619" y="3856299"/>
            <a:ext cx="1030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얼음 결정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57718" y="2651760"/>
            <a:ext cx="939363" cy="939363"/>
          </a:xfrm>
          <a:prstGeom prst="rect">
            <a:avLst/>
          </a:prstGeom>
          <a:solidFill>
            <a:srgbClr val="F1EBE0"/>
          </a:solidFill>
          <a:ln w="12700">
            <a:solidFill>
              <a:srgbClr val="DDD5C7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3067446" y="2743200"/>
            <a:ext cx="7199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IMAGE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3140598" y="2755682"/>
            <a:ext cx="5736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2911998" y="3664275"/>
            <a:ext cx="1030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ROCK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2911998" y="3856299"/>
            <a:ext cx="1030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갈라진 암석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025097" y="2651760"/>
            <a:ext cx="939363" cy="939363"/>
          </a:xfrm>
          <a:prstGeom prst="rect">
            <a:avLst/>
          </a:prstGeom>
          <a:solidFill>
            <a:srgbClr val="F1EBE0"/>
          </a:solidFill>
          <a:ln w="12700">
            <a:solidFill>
              <a:srgbClr val="DDD5C7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4134825" y="2743200"/>
            <a:ext cx="7199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IMAGE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4207977" y="2755682"/>
            <a:ext cx="5736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3979377" y="3664275"/>
            <a:ext cx="1030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SAND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3979377" y="3856299"/>
            <a:ext cx="1030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퇴적층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092476" y="2651760"/>
            <a:ext cx="939363" cy="939363"/>
          </a:xfrm>
          <a:prstGeom prst="rect">
            <a:avLst/>
          </a:prstGeom>
          <a:solidFill>
            <a:srgbClr val="F1EBE0"/>
          </a:solidFill>
          <a:ln w="12700">
            <a:solidFill>
              <a:srgbClr val="DDD5C7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5202204" y="2743200"/>
            <a:ext cx="7199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IMAGE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5275356" y="2755682"/>
            <a:ext cx="5736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046756" y="3664275"/>
            <a:ext cx="1030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5046756" y="3856299"/>
            <a:ext cx="1030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바다와 해양생물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159856" y="2651760"/>
            <a:ext cx="939363" cy="939363"/>
          </a:xfrm>
          <a:prstGeom prst="rect">
            <a:avLst/>
          </a:prstGeom>
          <a:solidFill>
            <a:srgbClr val="F1EBE0"/>
          </a:solidFill>
          <a:ln w="12700">
            <a:solidFill>
              <a:srgbClr val="DDD5C7"/>
            </a:solidFill>
            <a:prstDash val="dash"/>
          </a:ln>
        </p:spPr>
      </p:sp>
      <p:sp>
        <p:nvSpPr>
          <p:cNvPr id="33" name="Text 31"/>
          <p:cNvSpPr txBox="1"/>
          <p:nvPr/>
        </p:nvSpPr>
        <p:spPr>
          <a:xfrm>
            <a:off x="6269584" y="2743200"/>
            <a:ext cx="7199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IMAGE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6342736" y="2755682"/>
            <a:ext cx="5736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114136" y="3664275"/>
            <a:ext cx="1030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BUBBLE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6114136" y="3856299"/>
            <a:ext cx="1030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탄산과 기포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7227235" y="2651760"/>
            <a:ext cx="939363" cy="939363"/>
          </a:xfrm>
          <a:prstGeom prst="rect">
            <a:avLst/>
          </a:prstGeom>
          <a:solidFill>
            <a:srgbClr val="F1EBE0"/>
          </a:solidFill>
          <a:ln w="12700">
            <a:solidFill>
              <a:srgbClr val="DDD5C7"/>
            </a:solidFill>
            <a:prstDash val="dash"/>
          </a:ln>
        </p:spPr>
      </p:sp>
      <p:sp>
        <p:nvSpPr>
          <p:cNvPr id="38" name="Text 36"/>
          <p:cNvSpPr txBox="1"/>
          <p:nvPr/>
        </p:nvSpPr>
        <p:spPr>
          <a:xfrm>
            <a:off x="7336963" y="2743200"/>
            <a:ext cx="7199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IMAGE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7410115" y="2755682"/>
            <a:ext cx="5736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181515" y="3664275"/>
            <a:ext cx="1030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PUDDING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7181515" y="3856299"/>
            <a:ext cx="1030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흔들리는 젤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8294614" y="2651760"/>
            <a:ext cx="939363" cy="939363"/>
          </a:xfrm>
          <a:prstGeom prst="rect">
            <a:avLst/>
          </a:prstGeom>
          <a:solidFill>
            <a:srgbClr val="F1EBE0"/>
          </a:solidFill>
          <a:ln w="12700">
            <a:solidFill>
              <a:srgbClr val="DDD5C7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8404342" y="2743200"/>
            <a:ext cx="7199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IMAGE</a:t>
            </a:r>
            <a:endParaRPr lang="en-US" sz="750" dirty="0"/>
          </a:p>
        </p:txBody>
      </p:sp>
      <p:sp>
        <p:nvSpPr>
          <p:cNvPr id="44" name="Text 42"/>
          <p:cNvSpPr txBox="1"/>
          <p:nvPr/>
        </p:nvSpPr>
        <p:spPr>
          <a:xfrm>
            <a:off x="8477494" y="2755682"/>
            <a:ext cx="5736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8248894" y="3664275"/>
            <a:ext cx="1030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BREAD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8248894" y="3856299"/>
            <a:ext cx="1030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구워진 반죽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9361993" y="2651760"/>
            <a:ext cx="939363" cy="939363"/>
          </a:xfrm>
          <a:prstGeom prst="rect">
            <a:avLst/>
          </a:prstGeom>
          <a:solidFill>
            <a:srgbClr val="F1EBE0"/>
          </a:solidFill>
          <a:ln w="12700">
            <a:solidFill>
              <a:srgbClr val="DDD5C7"/>
            </a:solidFill>
            <a:prstDash val="dash"/>
          </a:ln>
        </p:spPr>
      </p:sp>
      <p:sp>
        <p:nvSpPr>
          <p:cNvPr id="48" name="Text 46"/>
          <p:cNvSpPr txBox="1"/>
          <p:nvPr/>
        </p:nvSpPr>
        <p:spPr>
          <a:xfrm>
            <a:off x="9471721" y="2743200"/>
            <a:ext cx="7199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IMAGE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9544873" y="2755682"/>
            <a:ext cx="5736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9316273" y="3664275"/>
            <a:ext cx="1030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BUTTERCREAM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9316273" y="3856299"/>
            <a:ext cx="1030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크리미한 질감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10429372" y="2651760"/>
            <a:ext cx="939363" cy="939363"/>
          </a:xfrm>
          <a:prstGeom prst="rect">
            <a:avLst/>
          </a:prstGeom>
          <a:solidFill>
            <a:srgbClr val="F1EBE0"/>
          </a:solidFill>
          <a:ln w="12700">
            <a:solidFill>
              <a:srgbClr val="DDD5C7"/>
            </a:solidFill>
            <a:prstDash val="dash"/>
          </a:ln>
        </p:spPr>
      </p:sp>
      <p:sp>
        <p:nvSpPr>
          <p:cNvPr id="53" name="Text 51"/>
          <p:cNvSpPr txBox="1"/>
          <p:nvPr/>
        </p:nvSpPr>
        <p:spPr>
          <a:xfrm>
            <a:off x="10539100" y="2743200"/>
            <a:ext cx="71990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IMAGE</a:t>
            </a:r>
            <a:endParaRPr lang="en-US" sz="750" dirty="0"/>
          </a:p>
        </p:txBody>
      </p:sp>
      <p:sp>
        <p:nvSpPr>
          <p:cNvPr id="54" name="Text 52"/>
          <p:cNvSpPr txBox="1"/>
          <p:nvPr/>
        </p:nvSpPr>
        <p:spPr>
          <a:xfrm>
            <a:off x="10612252" y="2755682"/>
            <a:ext cx="5736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10383652" y="3664275"/>
            <a:ext cx="10308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ANGORA</a:t>
            </a:r>
            <a:endParaRPr lang="en-US" sz="800" dirty="0"/>
          </a:p>
        </p:txBody>
      </p:sp>
      <p:sp>
        <p:nvSpPr>
          <p:cNvPr id="56" name="Text 54"/>
          <p:cNvSpPr txBox="1"/>
          <p:nvPr/>
        </p:nvSpPr>
        <p:spPr>
          <a:xfrm>
            <a:off x="10383652" y="3856299"/>
            <a:ext cx="10308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풍성한 긴 털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822960" y="4368363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캐릭터를 매번 처음부터 만드는 것이 아니라, 하나의 조형 시스템을 지속적으로 변주합니다.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822960" y="65105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WOULD YOU, TOKKI?</a:t>
            </a:r>
            <a:endParaRPr lang="en-US" sz="800" dirty="0"/>
          </a:p>
        </p:txBody>
      </p:sp>
      <p:sp>
        <p:nvSpPr>
          <p:cNvPr id="59" name="Text 57"/>
          <p:cNvSpPr txBox="1"/>
          <p:nvPr/>
        </p:nvSpPr>
        <p:spPr>
          <a:xfrm>
            <a:off x="9997135" y="651052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 / 12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89788"/>
            <a:ext cx="82296" cy="82296"/>
          </a:xfrm>
          <a:prstGeom prst="ellipse">
            <a:avLst/>
          </a:prstGeom>
          <a:solidFill>
            <a:srgbClr val="A681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53035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PRODUCT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84124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COLLECTION 01 — ORIGIN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335024"/>
            <a:ext cx="105457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번째 제품은 네 가지 기본 물성을 가진 아트토이로 시작합니다.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22960" y="1828800"/>
            <a:ext cx="2444420" cy="1965960"/>
          </a:xfrm>
          <a:prstGeom prst="rect">
            <a:avLst/>
          </a:prstGeom>
          <a:solidFill>
            <a:srgbClr val="F1EBE0"/>
          </a:solidFill>
          <a:ln w="12700">
            <a:solidFill>
              <a:srgbClr val="DDD5C7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932688" y="1920240"/>
            <a:ext cx="22249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IMAGE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446020"/>
            <a:ext cx="20786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886200"/>
            <a:ext cx="24444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MOON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096512"/>
            <a:ext cx="24444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크레이터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523412" y="1828800"/>
            <a:ext cx="2444420" cy="1965960"/>
          </a:xfrm>
          <a:prstGeom prst="rect">
            <a:avLst/>
          </a:prstGeom>
          <a:solidFill>
            <a:srgbClr val="F1EBE0"/>
          </a:solidFill>
          <a:ln w="12700">
            <a:solidFill>
              <a:srgbClr val="DDD5C7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3633140" y="1920240"/>
            <a:ext cx="22249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IMAGE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3706292" y="2446020"/>
            <a:ext cx="20786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3523412" y="3886200"/>
            <a:ext cx="24444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ICE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523412" y="4096512"/>
            <a:ext cx="24444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얼음 결정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23864" y="1828800"/>
            <a:ext cx="2444420" cy="1965960"/>
          </a:xfrm>
          <a:prstGeom prst="rect">
            <a:avLst/>
          </a:prstGeom>
          <a:solidFill>
            <a:srgbClr val="F1EBE0"/>
          </a:solidFill>
          <a:ln w="12700">
            <a:solidFill>
              <a:srgbClr val="DDD5C7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6333592" y="1920240"/>
            <a:ext cx="22249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IMAGE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6406744" y="2446020"/>
            <a:ext cx="20786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223864" y="3886200"/>
            <a:ext cx="24444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ROCK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23864" y="4096512"/>
            <a:ext cx="24444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갈라진 암석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924315" y="1828800"/>
            <a:ext cx="2444420" cy="1965960"/>
          </a:xfrm>
          <a:prstGeom prst="rect">
            <a:avLst/>
          </a:prstGeom>
          <a:solidFill>
            <a:srgbClr val="F1EBE0"/>
          </a:solidFill>
          <a:ln w="12700">
            <a:solidFill>
              <a:srgbClr val="DDD5C7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9034043" y="1920240"/>
            <a:ext cx="22249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IMAGE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9107195" y="2446020"/>
            <a:ext cx="20786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8924315" y="3886200"/>
            <a:ext cx="24444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SAND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924315" y="4096512"/>
            <a:ext cx="24444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퇴적층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441655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COMMON BASE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" y="4672584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235"/>
              </a:lnSpc>
              <a:spcAft>
                <a:spcPts val="300"/>
              </a:spcAft>
              <a:buSzPct val="100000"/>
              <a:buChar char="–"/>
            </a:pPr>
            <a:r>
              <a:rPr lang="en-US" sz="95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둥근 구형 바디</a:t>
            </a:r>
            <a:endParaRPr lang="en-US" sz="950" dirty="0"/>
          </a:p>
          <a:p>
            <a:pPr marL="177800" indent="-177800">
              <a:lnSpc>
                <a:spcPts val="1235"/>
              </a:lnSpc>
              <a:spcAft>
                <a:spcPts val="300"/>
              </a:spcAft>
              <a:buSzPct val="100000"/>
              <a:buChar char="–"/>
            </a:pPr>
            <a:r>
              <a:rPr lang="en-US" sz="95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짧은 팔과 다리</a:t>
            </a:r>
            <a:endParaRPr lang="en-US" sz="950" dirty="0"/>
          </a:p>
          <a:p>
            <a:pPr marL="177800" indent="-177800">
              <a:lnSpc>
                <a:spcPts val="1235"/>
              </a:lnSpc>
              <a:spcAft>
                <a:spcPts val="300"/>
              </a:spcAft>
              <a:buSzPct val="100000"/>
              <a:buChar char="–"/>
            </a:pPr>
            <a:r>
              <a:rPr lang="en-US" sz="95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토끼 귀</a:t>
            </a:r>
            <a:endParaRPr lang="en-US" sz="950" dirty="0"/>
          </a:p>
          <a:p>
            <a:pPr marL="177800" indent="-177800">
              <a:lnSpc>
                <a:spcPts val="1235"/>
              </a:lnSpc>
              <a:spcAft>
                <a:spcPts val="300"/>
              </a:spcAft>
              <a:buSzPct val="100000"/>
              <a:buChar char="–"/>
            </a:pPr>
            <a:r>
              <a:rPr lang="en-US" sz="95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작은 얼굴 요소</a:t>
            </a:r>
            <a:endParaRPr lang="en-US" sz="950" dirty="0"/>
          </a:p>
          <a:p>
            <a:pPr marL="177800" indent="-177800">
              <a:lnSpc>
                <a:spcPts val="1235"/>
              </a:lnSpc>
              <a:spcAft>
                <a:spcPts val="300"/>
              </a:spcAft>
              <a:buSzPct val="100000"/>
              <a:buChar char="–"/>
            </a:pPr>
            <a:r>
              <a:rPr lang="en-US" sz="95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단순하고 기억하기 쉬운 실루엣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4434840" y="441655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VARIATION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434840" y="4672584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235"/>
              </a:lnSpc>
              <a:spcAft>
                <a:spcPts val="300"/>
              </a:spcAft>
              <a:buSzPct val="100000"/>
              <a:buChar char="–"/>
            </a:pPr>
            <a:r>
              <a:rPr lang="en-US" sz="95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재질</a:t>
            </a:r>
            <a:endParaRPr lang="en-US" sz="950" dirty="0"/>
          </a:p>
          <a:p>
            <a:pPr marL="177800" indent="-177800">
              <a:lnSpc>
                <a:spcPts val="1235"/>
              </a:lnSpc>
              <a:spcAft>
                <a:spcPts val="300"/>
              </a:spcAft>
              <a:buSzPct val="100000"/>
              <a:buChar char="–"/>
            </a:pPr>
            <a:r>
              <a:rPr lang="en-US" sz="95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투명도</a:t>
            </a:r>
            <a:endParaRPr lang="en-US" sz="950" dirty="0"/>
          </a:p>
          <a:p>
            <a:pPr marL="177800" indent="-177800">
              <a:lnSpc>
                <a:spcPts val="1235"/>
              </a:lnSpc>
              <a:spcAft>
                <a:spcPts val="300"/>
              </a:spcAft>
              <a:buSzPct val="100000"/>
              <a:buChar char="–"/>
            </a:pPr>
            <a:r>
              <a:rPr lang="en-US" sz="95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균열</a:t>
            </a:r>
            <a:endParaRPr lang="en-US" sz="950" dirty="0"/>
          </a:p>
          <a:p>
            <a:pPr marL="177800" indent="-177800">
              <a:lnSpc>
                <a:spcPts val="1235"/>
              </a:lnSpc>
              <a:spcAft>
                <a:spcPts val="300"/>
              </a:spcAft>
              <a:buSzPct val="100000"/>
              <a:buChar char="–"/>
            </a:pPr>
            <a:r>
              <a:rPr lang="en-US" sz="95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기포</a:t>
            </a:r>
            <a:endParaRPr lang="en-US" sz="950" dirty="0"/>
          </a:p>
          <a:p>
            <a:pPr marL="177800" indent="-177800">
              <a:lnSpc>
                <a:spcPts val="1235"/>
              </a:lnSpc>
              <a:spcAft>
                <a:spcPts val="300"/>
              </a:spcAft>
              <a:buSzPct val="100000"/>
              <a:buChar char="–"/>
            </a:pPr>
            <a:r>
              <a:rPr lang="en-US" sz="95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퇴적층</a:t>
            </a:r>
            <a:endParaRPr lang="en-US" sz="950" dirty="0"/>
          </a:p>
          <a:p>
            <a:pPr marL="177800" indent="-177800">
              <a:lnSpc>
                <a:spcPts val="1235"/>
              </a:lnSpc>
              <a:spcAft>
                <a:spcPts val="300"/>
              </a:spcAft>
              <a:buSzPct val="100000"/>
              <a:buChar char="–"/>
            </a:pPr>
            <a:r>
              <a:rPr lang="en-US" sz="95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주변 파편</a:t>
            </a:r>
            <a:endParaRPr lang="en-US" sz="950" dirty="0"/>
          </a:p>
          <a:p>
            <a:pPr marL="177800" indent="-177800">
              <a:lnSpc>
                <a:spcPts val="1235"/>
              </a:lnSpc>
              <a:spcAft>
                <a:spcPts val="300"/>
              </a:spcAft>
              <a:buSzPct val="100000"/>
              <a:buChar char="–"/>
            </a:pPr>
            <a:r>
              <a:rPr lang="en-US" sz="95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궤도 오브젝트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8138160" y="4416552"/>
            <a:ext cx="40535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SIZE SYSTEM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138160" y="4672584"/>
            <a:ext cx="4053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MINI  7–9cm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STANDARD  12–15cm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ART EDITION  25–40cm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138160" y="5404104"/>
            <a:ext cx="4053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초기에는 STANDARD 사이즈를 중심으로 프로토타입 제작과 소비자 반응 테스트를 진행합니다.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822960" y="65105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WOULD YOU, TOKKI?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9997135" y="651052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 / 12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89788"/>
            <a:ext cx="82296" cy="82296"/>
          </a:xfrm>
          <a:prstGeom prst="ellipse">
            <a:avLst/>
          </a:prstGeom>
          <a:solidFill>
            <a:srgbClr val="A681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53035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 EXPERIENCE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841248"/>
            <a:ext cx="1054577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40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rabbit.</a:t>
            </a:r>
            <a:endParaRPr lang="en-US" sz="24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40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material.</a:t>
            </a:r>
            <a:endParaRPr lang="en-US" sz="24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40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question.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Would you, Tokki?에서 물질은 캐릭터의 외형을 만드는 데서 끝나지 않습니다. 각 물질의 실제 성질에서 출발한 짧은 질문을 통해 캐릭터와 사용자의 경험을 연결합니다.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822960" y="3977640"/>
            <a:ext cx="3657600" cy="914400"/>
          </a:xfrm>
          <a:prstGeom prst="rect">
            <a:avLst/>
          </a:prstGeom>
          <a:solidFill>
            <a:srgbClr val="F1EBE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87552" y="4114800"/>
            <a:ext cx="3328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70" i="1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이것은 심리검사나 성격유형 테스트가 아닙니다. 정답을 제시하지 않고, 사용자가 물질을 매개로 자신의 경험을 자유롭게 해석하게 합니다.</a:t>
            </a:r>
            <a:endParaRPr lang="en-US" sz="87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074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Art Toy → Question Card → Art Book → Exhibition → Web Experience → Question Archive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892040" y="1737360"/>
            <a:ext cx="1312850" cy="621792"/>
          </a:xfrm>
          <a:prstGeom prst="rect">
            <a:avLst/>
          </a:prstGeom>
          <a:solidFill>
            <a:srgbClr val="F1EBE0"/>
          </a:solidFill>
          <a:ln w="12700">
            <a:solidFill>
              <a:srgbClr val="DDD5C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92040" y="1737360"/>
            <a:ext cx="131285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30" b="1" spc="3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MATERIAL</a:t>
            </a:r>
            <a:endParaRPr lang="en-US" sz="830" dirty="0"/>
          </a:p>
        </p:txBody>
      </p:sp>
      <p:sp>
        <p:nvSpPr>
          <p:cNvPr id="11" name="Text 9"/>
          <p:cNvSpPr txBox="1"/>
          <p:nvPr/>
        </p:nvSpPr>
        <p:spPr>
          <a:xfrm>
            <a:off x="6204890" y="1737360"/>
            <a:ext cx="228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75222" y="1737360"/>
            <a:ext cx="1312850" cy="621792"/>
          </a:xfrm>
          <a:prstGeom prst="rect">
            <a:avLst/>
          </a:prstGeom>
          <a:solidFill>
            <a:srgbClr val="F1EBE0"/>
          </a:solidFill>
          <a:ln w="12700">
            <a:solidFill>
              <a:srgbClr val="DDD5C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75222" y="1737360"/>
            <a:ext cx="131285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30" b="1" spc="3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PHYSICAL</a:t>
            </a:r>
            <a:endParaRPr lang="en-US" sz="83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830" b="1" spc="3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PROPERTY</a:t>
            </a:r>
            <a:endParaRPr lang="en-US" sz="830" dirty="0"/>
          </a:p>
        </p:txBody>
      </p:sp>
      <p:sp>
        <p:nvSpPr>
          <p:cNvPr id="14" name="Text 12"/>
          <p:cNvSpPr txBox="1"/>
          <p:nvPr/>
        </p:nvSpPr>
        <p:spPr>
          <a:xfrm>
            <a:off x="7888072" y="1737360"/>
            <a:ext cx="228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58404" y="1737360"/>
            <a:ext cx="1312850" cy="621792"/>
          </a:xfrm>
          <a:prstGeom prst="rect">
            <a:avLst/>
          </a:prstGeom>
          <a:solidFill>
            <a:srgbClr val="F1EBE0"/>
          </a:solidFill>
          <a:ln w="12700">
            <a:solidFill>
              <a:srgbClr val="DDD5C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58404" y="1737360"/>
            <a:ext cx="131285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30" b="1" spc="3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QUESTION</a:t>
            </a:r>
            <a:endParaRPr lang="en-US" sz="830" dirty="0"/>
          </a:p>
        </p:txBody>
      </p:sp>
      <p:sp>
        <p:nvSpPr>
          <p:cNvPr id="17" name="Text 15"/>
          <p:cNvSpPr txBox="1"/>
          <p:nvPr/>
        </p:nvSpPr>
        <p:spPr>
          <a:xfrm>
            <a:off x="9571253" y="1737360"/>
            <a:ext cx="228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941585" y="1737360"/>
            <a:ext cx="1312850" cy="621792"/>
          </a:xfrm>
          <a:prstGeom prst="rect">
            <a:avLst/>
          </a:prstGeom>
          <a:solidFill>
            <a:srgbClr val="F1EBE0"/>
          </a:solidFill>
          <a:ln w="12700">
            <a:solidFill>
              <a:srgbClr val="DDD5C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941585" y="1737360"/>
            <a:ext cx="131285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30" b="1" spc="3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PERSONAL</a:t>
            </a:r>
            <a:endParaRPr lang="en-US" sz="83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830" b="1" spc="3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INTERPRETATION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4892040" y="2697480"/>
            <a:ext cx="566928" cy="932688"/>
          </a:xfrm>
          <a:prstGeom prst="rect">
            <a:avLst/>
          </a:prstGeom>
          <a:solidFill>
            <a:srgbClr val="5B564D">
              <a:alpha val="18000"/>
            </a:srgbClr>
          </a:solidFill>
          <a:ln w="12700">
            <a:solidFill>
              <a:srgbClr val="5B56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2697480"/>
            <a:ext cx="5669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0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ROCK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605272" y="2697480"/>
            <a:ext cx="1828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3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단단함 · 무게 · 오래 지속됨</a:t>
            </a:r>
            <a:endParaRPr lang="en-US" sz="830" dirty="0"/>
          </a:p>
        </p:txBody>
      </p:sp>
      <p:sp>
        <p:nvSpPr>
          <p:cNvPr id="23" name="Text 21"/>
          <p:cNvSpPr txBox="1"/>
          <p:nvPr/>
        </p:nvSpPr>
        <p:spPr>
          <a:xfrm>
            <a:off x="7589520" y="2697480"/>
            <a:ext cx="37792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i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“당신을 오래 버티게 한 것은 무엇인가요?”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892040" y="3776472"/>
            <a:ext cx="566928" cy="932688"/>
          </a:xfrm>
          <a:prstGeom prst="rect">
            <a:avLst/>
          </a:prstGeom>
          <a:solidFill>
            <a:srgbClr val="8FA9B3">
              <a:alpha val="18000"/>
            </a:srgbClr>
          </a:solidFill>
          <a:ln w="12700">
            <a:solidFill>
              <a:srgbClr val="8FA9B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92040" y="3776472"/>
            <a:ext cx="5669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0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CLOUD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5605272" y="3776472"/>
            <a:ext cx="1828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3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가벼움 · 이동 · 머무르지 않음</a:t>
            </a:r>
            <a:endParaRPr lang="en-US" sz="830" dirty="0"/>
          </a:p>
        </p:txBody>
      </p:sp>
      <p:sp>
        <p:nvSpPr>
          <p:cNvPr id="27" name="Text 25"/>
          <p:cNvSpPr txBox="1"/>
          <p:nvPr/>
        </p:nvSpPr>
        <p:spPr>
          <a:xfrm>
            <a:off x="7589520" y="3776472"/>
            <a:ext cx="37792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i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“잠시 멈춰도 된다고 생각하나요?”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892040" y="4855464"/>
            <a:ext cx="566928" cy="932688"/>
          </a:xfrm>
          <a:prstGeom prst="rect">
            <a:avLst/>
          </a:prstGeom>
          <a:solidFill>
            <a:srgbClr val="77998C">
              <a:alpha val="18000"/>
            </a:srgbClr>
          </a:solidFill>
          <a:ln w="12700">
            <a:solidFill>
              <a:srgbClr val="77998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892040" y="4855464"/>
            <a:ext cx="56692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0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BUBBLE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5605272" y="4855464"/>
            <a:ext cx="1828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3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투명함 · 가벼움 · 짧은 지속성</a:t>
            </a:r>
            <a:endParaRPr lang="en-US" sz="830" dirty="0"/>
          </a:p>
        </p:txBody>
      </p:sp>
      <p:sp>
        <p:nvSpPr>
          <p:cNvPr id="31" name="Text 29"/>
          <p:cNvSpPr txBox="1"/>
          <p:nvPr/>
        </p:nvSpPr>
        <p:spPr>
          <a:xfrm>
            <a:off x="7589520" y="4855464"/>
            <a:ext cx="37792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i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“짧았지만 오래 기억되는 순간이 있나요?”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65105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WOULD YOU, TOKKI?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9997135" y="651052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 / 12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89788"/>
            <a:ext cx="82296" cy="82296"/>
          </a:xfrm>
          <a:prstGeom prst="ellipse">
            <a:avLst/>
          </a:prstGeom>
          <a:solidFill>
            <a:srgbClr val="A681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53035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POSITIONING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841248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아이에게는 캐릭터, 어른에게는 오브제.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481328"/>
            <a:ext cx="3977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8"/>
              </a:lnSpc>
              <a:buNone/>
            </a:pPr>
            <a:r>
              <a:rPr lang="en-US" sz="108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Would you, Tokki?는 어린이 캐릭터와 고가 컬렉터 아트토이 사이의 중간 지점을 지향합니다. 캐릭터를 좋아하지만 지나치게 아동적이지 않고, 자신의 책상과 선반, 생활공간에 자연스럽게 놓을 수 있는 조형적인 제품을 원하는 소비자를 초기 고객으로 설정합니다.</a:t>
            </a:r>
            <a:endParaRPr lang="en-US" sz="108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4612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Character  ×  Art Toy  ×  Lifestyle Object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49040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spc="1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CUTE   ·   OBJECT   ·   COLLECTIBLE   ·   MATERIAL   ·   LIFESTYLE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257800" y="1481328"/>
            <a:ext cx="6110935" cy="4434840"/>
          </a:xfrm>
          <a:prstGeom prst="rect">
            <a:avLst/>
          </a:prstGeom>
          <a:solidFill>
            <a:srgbClr val="F1EBE0"/>
          </a:solidFill>
          <a:ln w="12700">
            <a:solidFill>
              <a:srgbClr val="DDD5C7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5367528" y="1572768"/>
            <a:ext cx="58914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IMAGE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5440680" y="3332988"/>
            <a:ext cx="57451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Would you, Tokki? — Desk / Shelf Lifestyle Mockup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(생활공간에 놓인 오브제 이미지, 원본 비율 유지)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65105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WOULD YOU, TOKKI?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9997135" y="651052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 / 12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89788"/>
            <a:ext cx="82296" cy="82296"/>
          </a:xfrm>
          <a:prstGeom prst="ellipse">
            <a:avLst/>
          </a:prstGeom>
          <a:solidFill>
            <a:srgbClr val="A681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53035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841248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172"/>
              </a:lnSpc>
              <a:buNone/>
            </a:pPr>
            <a:r>
              <a:rPr lang="en-US" sz="260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 Would you, Tokki?를 사는가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57276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PRIMARY TARGET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28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20–30대 디자인·캐릭터 소비자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캐릭터를 좋아하지만 지나치게 아동적인 제품보다 조형성과 디자인 완성도가 높은 제품을 선호하는 초기 예상 소비자층.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INTEREST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61188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Character IP · Art Toy · Design Object · Stationery · Interior · Independent Brand · Exhibition · Pop-up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434840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SECONDARY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6634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300"/>
              </a:lnSpc>
              <a:spcAft>
                <a:spcPts val="300"/>
              </a:spcAft>
              <a:buSzPct val="100000"/>
              <a:buChar char="–"/>
            </a:pPr>
            <a:r>
              <a:rPr lang="en-US" sz="100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선물용 소비자</a:t>
            </a:r>
            <a:endParaRPr lang="en-US" sz="1000" dirty="0"/>
          </a:p>
          <a:p>
            <a:pPr marL="177800" indent="-177800">
              <a:lnSpc>
                <a:spcPts val="1300"/>
              </a:lnSpc>
              <a:spcAft>
                <a:spcPts val="300"/>
              </a:spcAft>
              <a:buSzPct val="100000"/>
              <a:buChar char="–"/>
            </a:pPr>
            <a:r>
              <a:rPr lang="en-US" sz="100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아동과 함께 캐릭터 제품을 소비하는 가족층</a:t>
            </a:r>
            <a:endParaRPr lang="en-US" sz="1000" dirty="0"/>
          </a:p>
          <a:p>
            <a:pPr marL="177800" indent="-177800">
              <a:lnSpc>
                <a:spcPts val="1300"/>
              </a:lnSpc>
              <a:spcAft>
                <a:spcPts val="300"/>
              </a:spcAft>
              <a:buSzPct val="100000"/>
              <a:buChar char="–"/>
            </a:pPr>
            <a:r>
              <a:rPr lang="en-US" sz="100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캐릭터 컬래버레이션이 필요한 브랜드·기업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5669280"/>
            <a:ext cx="4754880" cy="566928"/>
          </a:xfrm>
          <a:prstGeom prst="rect">
            <a:avLst/>
          </a:prstGeom>
          <a:solidFill>
            <a:srgbClr val="F1EB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0120" y="566928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고객조사를 완료한 결과가 아닌, 초기 가설로서의 예상 핵심 고객입니다.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995160" y="1874520"/>
            <a:ext cx="3749040" cy="3749040"/>
          </a:xfrm>
          <a:prstGeom prst="ellipse">
            <a:avLst/>
          </a:prstGeom>
          <a:ln w="15875">
            <a:solidFill>
              <a:srgbClr val="DDD5C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98080" y="2377440"/>
            <a:ext cx="2743200" cy="2743200"/>
          </a:xfrm>
          <a:prstGeom prst="ellipse">
            <a:avLst/>
          </a:prstGeom>
          <a:ln w="15875">
            <a:solidFill>
              <a:srgbClr val="8FA9B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0" y="2926080"/>
            <a:ext cx="1645920" cy="1645920"/>
          </a:xfrm>
          <a:prstGeom prst="ellipse">
            <a:avLst/>
          </a:prstGeom>
          <a:ln w="15875">
            <a:solidFill>
              <a:srgbClr val="A6813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0" y="358444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PRIMARY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5166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SECONDARY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65105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WOULD YOU, TOKKI?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9997135" y="651052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 / 12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89788"/>
            <a:ext cx="82296" cy="82296"/>
          </a:xfrm>
          <a:prstGeom prst="ellipse">
            <a:avLst/>
          </a:prstGeom>
          <a:solidFill>
            <a:srgbClr val="A681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53035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DIFFERENTIATION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841248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172"/>
              </a:lnSpc>
              <a:buNone/>
            </a:pPr>
            <a:r>
              <a:rPr lang="en-US" sz="260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Would you, Tokki?가 확장되는 방식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22960" y="1600200"/>
            <a:ext cx="1422349" cy="658368"/>
          </a:xfrm>
          <a:prstGeom prst="rect">
            <a:avLst/>
          </a:prstGeom>
          <a:solidFill>
            <a:srgbClr val="F1EBE0"/>
          </a:solidFill>
          <a:ln w="12700">
            <a:solidFill>
              <a:srgbClr val="DDD5C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142234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Base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Bunny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2245309" y="1600200"/>
            <a:ext cx="201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647645" y="1600200"/>
            <a:ext cx="1422349" cy="658368"/>
          </a:xfrm>
          <a:prstGeom prst="rect">
            <a:avLst/>
          </a:prstGeom>
          <a:solidFill>
            <a:srgbClr val="F1EBE0"/>
          </a:solidFill>
          <a:ln w="12700">
            <a:solidFill>
              <a:srgbClr val="DDD5C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47645" y="1600200"/>
            <a:ext cx="142234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Material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069994" y="1600200"/>
            <a:ext cx="201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472330" y="1600200"/>
            <a:ext cx="1422349" cy="658368"/>
          </a:xfrm>
          <a:prstGeom prst="rect">
            <a:avLst/>
          </a:prstGeom>
          <a:solidFill>
            <a:srgbClr val="F1EBE0"/>
          </a:solidFill>
          <a:ln w="12700">
            <a:solidFill>
              <a:srgbClr val="DDD5C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72330" y="1600200"/>
            <a:ext cx="142234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Character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894680" y="1600200"/>
            <a:ext cx="201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97016" y="1600200"/>
            <a:ext cx="1422349" cy="658368"/>
          </a:xfrm>
          <a:prstGeom prst="rect">
            <a:avLst/>
          </a:prstGeom>
          <a:solidFill>
            <a:srgbClr val="F1EBE0"/>
          </a:solidFill>
          <a:ln w="12700">
            <a:solidFill>
              <a:srgbClr val="DDD5C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97016" y="1600200"/>
            <a:ext cx="142234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Question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7719365" y="1600200"/>
            <a:ext cx="201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21701" y="1600200"/>
            <a:ext cx="1422349" cy="658368"/>
          </a:xfrm>
          <a:prstGeom prst="rect">
            <a:avLst/>
          </a:prstGeom>
          <a:solidFill>
            <a:srgbClr val="F1EBE0"/>
          </a:solidFill>
          <a:ln w="12700">
            <a:solidFill>
              <a:srgbClr val="DDD5C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121701" y="1600200"/>
            <a:ext cx="142234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Art Toy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544050" y="1600200"/>
            <a:ext cx="201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946386" y="1600200"/>
            <a:ext cx="1422349" cy="658368"/>
          </a:xfrm>
          <a:prstGeom prst="rect">
            <a:avLst/>
          </a:prstGeom>
          <a:solidFill>
            <a:srgbClr val="F1EBE0"/>
          </a:solidFill>
          <a:ln w="12700">
            <a:solidFill>
              <a:srgbClr val="DDD5C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946386" y="1600200"/>
            <a:ext cx="142234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Object /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Sculpture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2606040"/>
            <a:ext cx="502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2606040"/>
            <a:ext cx="4541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MATERIAL AS CHARACTER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2898648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3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색이나 의상을 바꾸는 것이 아니라 물질 자체가 캐릭터 디자인이 됩니다.</a:t>
            </a:r>
            <a:endParaRPr lang="en-US" sz="930" dirty="0"/>
          </a:p>
        </p:txBody>
      </p:sp>
      <p:sp>
        <p:nvSpPr>
          <p:cNvPr id="25" name="Text 23"/>
          <p:cNvSpPr txBox="1"/>
          <p:nvPr/>
        </p:nvSpPr>
        <p:spPr>
          <a:xfrm>
            <a:off x="6324448" y="2606040"/>
            <a:ext cx="502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6827368" y="2606040"/>
            <a:ext cx="4541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ONE BASE, MANY WORLDS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827368" y="2898648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3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하나의 기본 조형을 유지하면서 서로 다른 세계로 확장할 수 있습니다.</a:t>
            </a:r>
            <a:endParaRPr lang="en-US" sz="93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3502152"/>
            <a:ext cx="502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900" dirty="0"/>
          </a:p>
        </p:txBody>
      </p:sp>
      <p:sp>
        <p:nvSpPr>
          <p:cNvPr id="29" name="Text 27"/>
          <p:cNvSpPr txBox="1"/>
          <p:nvPr/>
        </p:nvSpPr>
        <p:spPr>
          <a:xfrm>
            <a:off x="1325880" y="3502152"/>
            <a:ext cx="4541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3D FIRST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1325880" y="379476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3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처음부터 입체 조형과 실제 제품화를 고려해 디자인합니다.</a:t>
            </a:r>
            <a:endParaRPr lang="en-US" sz="930" dirty="0"/>
          </a:p>
        </p:txBody>
      </p:sp>
      <p:sp>
        <p:nvSpPr>
          <p:cNvPr id="31" name="Text 29"/>
          <p:cNvSpPr txBox="1"/>
          <p:nvPr/>
        </p:nvSpPr>
        <p:spPr>
          <a:xfrm>
            <a:off x="6324448" y="3502152"/>
            <a:ext cx="502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6827368" y="3502152"/>
            <a:ext cx="4541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MATERIAL → QUESTION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827368" y="3794760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3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물질의 실제 성질을 사용자의 경험을 떠올리게 하는 열린 질문으로 확장합니다.</a:t>
            </a:r>
            <a:endParaRPr lang="en-US" sz="930" dirty="0"/>
          </a:p>
        </p:txBody>
      </p:sp>
      <p:sp>
        <p:nvSpPr>
          <p:cNvPr id="34" name="Text 32"/>
          <p:cNvSpPr txBox="1"/>
          <p:nvPr/>
        </p:nvSpPr>
        <p:spPr>
          <a:xfrm>
            <a:off x="822960" y="4398264"/>
            <a:ext cx="502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900" dirty="0"/>
          </a:p>
        </p:txBody>
      </p:sp>
      <p:sp>
        <p:nvSpPr>
          <p:cNvPr id="35" name="Text 33"/>
          <p:cNvSpPr txBox="1"/>
          <p:nvPr/>
        </p:nvSpPr>
        <p:spPr>
          <a:xfrm>
            <a:off x="1325880" y="4398264"/>
            <a:ext cx="4541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ARTWORK → PRODUCT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1325880" y="4690872"/>
            <a:ext cx="4541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3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소형 아트토이뿐 아니라 대형 조각, 전시, 공간 설치까지 동일한 IP로 확장할 수 있습니다.</a:t>
            </a:r>
            <a:endParaRPr lang="en-US" sz="930" dirty="0"/>
          </a:p>
        </p:txBody>
      </p:sp>
      <p:sp>
        <p:nvSpPr>
          <p:cNvPr id="37" name="Text 35"/>
          <p:cNvSpPr txBox="1"/>
          <p:nvPr/>
        </p:nvSpPr>
        <p:spPr>
          <a:xfrm>
            <a:off x="822960" y="65105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WOULD YOU, TOKKI?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9997135" y="651052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 / 12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89788"/>
            <a:ext cx="82296" cy="82296"/>
          </a:xfrm>
          <a:prstGeom prst="ellipse">
            <a:avLst/>
          </a:prstGeom>
          <a:solidFill>
            <a:srgbClr val="A681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53035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BUSINESS MODEL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84124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172"/>
              </a:lnSpc>
              <a:buNone/>
            </a:pPr>
            <a:r>
              <a:rPr lang="en-US" sz="260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IP를 중심으로 확장되는 구조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711800" y="1426464"/>
            <a:ext cx="768096" cy="768096"/>
          </a:xfrm>
          <a:prstGeom prst="ellipse">
            <a:avLst/>
          </a:prstGeom>
          <a:solidFill>
            <a:srgbClr val="F1EBE0"/>
          </a:solidFill>
          <a:ln w="15875">
            <a:solidFill>
              <a:srgbClr val="DDD5C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711800" y="1426464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Would you,</a:t>
            </a:r>
            <a:endParaRPr lang="en-US" sz="85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Tokki?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68880"/>
            <a:ext cx="196285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spc="3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D2C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80944"/>
            <a:ext cx="196285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Art Toy · Design Object</a:t>
            </a:r>
            <a:endParaRPr lang="en-US" sz="78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Limited Edition · Lifestyle Goods</a:t>
            </a:r>
            <a:endParaRPr lang="en-US" sz="780" dirty="0"/>
          </a:p>
        </p:txBody>
      </p:sp>
      <p:sp>
        <p:nvSpPr>
          <p:cNvPr id="9" name="Text 7"/>
          <p:cNvSpPr txBox="1"/>
          <p:nvPr/>
        </p:nvSpPr>
        <p:spPr>
          <a:xfrm>
            <a:off x="2968691" y="2468880"/>
            <a:ext cx="196285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spc="3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B2B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2968691" y="2980944"/>
            <a:ext cx="196285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 Collaboration · Corporate Goods</a:t>
            </a:r>
            <a:endParaRPr lang="en-US" sz="78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Exhibition · Space Collaboration</a:t>
            </a:r>
            <a:endParaRPr lang="en-US" sz="780" dirty="0"/>
          </a:p>
        </p:txBody>
      </p:sp>
      <p:sp>
        <p:nvSpPr>
          <p:cNvPr id="11" name="Text 9"/>
          <p:cNvSpPr txBox="1"/>
          <p:nvPr/>
        </p:nvSpPr>
        <p:spPr>
          <a:xfrm>
            <a:off x="5114422" y="2468880"/>
            <a:ext cx="196285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spc="3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LICENSING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114422" y="2980944"/>
            <a:ext cx="196285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Character License</a:t>
            </a:r>
            <a:endParaRPr lang="en-US" sz="78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Product License · Content Collab.</a:t>
            </a:r>
            <a:endParaRPr lang="en-US" sz="780" dirty="0"/>
          </a:p>
        </p:txBody>
      </p:sp>
      <p:sp>
        <p:nvSpPr>
          <p:cNvPr id="13" name="Text 11"/>
          <p:cNvSpPr txBox="1"/>
          <p:nvPr/>
        </p:nvSpPr>
        <p:spPr>
          <a:xfrm>
            <a:off x="7260153" y="2468880"/>
            <a:ext cx="196285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spc="3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260153" y="2980944"/>
            <a:ext cx="196285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Limited Art Toy</a:t>
            </a:r>
            <a:endParaRPr lang="en-US" sz="78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Large Sculpture · Exhibition Work</a:t>
            </a:r>
            <a:endParaRPr lang="en-US" sz="780" dirty="0"/>
          </a:p>
        </p:txBody>
      </p:sp>
      <p:sp>
        <p:nvSpPr>
          <p:cNvPr id="15" name="Text 13"/>
          <p:cNvSpPr txBox="1"/>
          <p:nvPr/>
        </p:nvSpPr>
        <p:spPr>
          <a:xfrm>
            <a:off x="9405884" y="2468880"/>
            <a:ext cx="196285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spc="3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 /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spc="3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405884" y="2980944"/>
            <a:ext cx="196285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Question Card · Art Book</a:t>
            </a:r>
            <a:endParaRPr lang="en-US" sz="78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Web Experience · Exhibition Archive</a:t>
            </a:r>
            <a:endParaRPr lang="en-US" sz="78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160520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생산은 전문 제작 파트너와 함께합니다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416552"/>
            <a:ext cx="10545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브랜드는 초기부터 자체 제조시설을 구축하지 않습니다.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709160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역량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910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IP 기획 · 캐릭터 디자인 · 아트디렉션 · 제품기획 · 브랜드 경험 설계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4709160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 파트너 협업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4910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3D Modeling · 3D Printing · Mold · Production · Painting · Printing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65105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WOULD YOU, TOKKI?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9997135" y="651052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 / 12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89788"/>
            <a:ext cx="82296" cy="82296"/>
          </a:xfrm>
          <a:prstGeom prst="ellipse">
            <a:avLst/>
          </a:prstGeom>
          <a:solidFill>
            <a:srgbClr val="A681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53035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GO-TO-MARKET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841248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172"/>
              </a:lnSpc>
              <a:buNone/>
            </a:pPr>
            <a:r>
              <a:rPr lang="en-US" sz="260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많이 만들기보다, 먼저 검증합니다.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625575" y="2350008"/>
            <a:ext cx="8940546" cy="0"/>
          </a:xfrm>
          <a:prstGeom prst="line">
            <a:avLst/>
          </a:prstGeom>
          <a:noFill/>
          <a:ln w="12700">
            <a:solidFill>
              <a:srgbClr val="DDD5C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24407" y="2148840"/>
            <a:ext cx="402336" cy="402336"/>
          </a:xfrm>
          <a:prstGeom prst="ellipse">
            <a:avLst/>
          </a:prstGeom>
          <a:solidFill>
            <a:srgbClr val="FAF7F1"/>
          </a:solidFill>
          <a:ln w="19050">
            <a:solidFill>
              <a:srgbClr val="A6813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24407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15768"/>
            <a:ext cx="16052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3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IP FOUNDATION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63240"/>
            <a:ext cx="160522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3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캐릭터 형태와</a:t>
            </a:r>
            <a:endParaRPr lang="en-US" sz="83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3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 가이드 확정</a:t>
            </a:r>
            <a:endParaRPr lang="en-US" sz="830" dirty="0"/>
          </a:p>
        </p:txBody>
      </p:sp>
      <p:sp>
        <p:nvSpPr>
          <p:cNvPr id="10" name="Shape 8"/>
          <p:cNvSpPr/>
          <p:nvPr/>
        </p:nvSpPr>
        <p:spPr>
          <a:xfrm>
            <a:off x="3212516" y="2148840"/>
            <a:ext cx="402336" cy="402336"/>
          </a:xfrm>
          <a:prstGeom prst="ellipse">
            <a:avLst/>
          </a:prstGeom>
          <a:solidFill>
            <a:srgbClr val="FAF7F1"/>
          </a:solidFill>
          <a:ln w="19050">
            <a:solidFill>
              <a:srgbClr val="A6813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12516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611069" y="2715768"/>
            <a:ext cx="16052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3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2611069" y="3063240"/>
            <a:ext cx="160522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3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ORIGIN 4종 아트토이</a:t>
            </a:r>
            <a:endParaRPr lang="en-US" sz="83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3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시제품 제작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5000625" y="2148840"/>
            <a:ext cx="402336" cy="402336"/>
          </a:xfrm>
          <a:prstGeom prst="ellipse">
            <a:avLst/>
          </a:prstGeom>
          <a:solidFill>
            <a:srgbClr val="FAF7F1"/>
          </a:solidFill>
          <a:ln w="19050">
            <a:solidFill>
              <a:srgbClr val="A6813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00625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399178" y="2715768"/>
            <a:ext cx="16052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3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 TEST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399178" y="3063240"/>
            <a:ext cx="160522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3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SNS·숏폼·Question</a:t>
            </a:r>
            <a:endParaRPr lang="en-US" sz="83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3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Content, 캐릭터 반응 확인</a:t>
            </a:r>
            <a:endParaRPr lang="en-US" sz="830" dirty="0"/>
          </a:p>
        </p:txBody>
      </p:sp>
      <p:sp>
        <p:nvSpPr>
          <p:cNvPr id="18" name="Shape 16"/>
          <p:cNvSpPr/>
          <p:nvPr/>
        </p:nvSpPr>
        <p:spPr>
          <a:xfrm>
            <a:off x="6788734" y="2148840"/>
            <a:ext cx="402336" cy="402336"/>
          </a:xfrm>
          <a:prstGeom prst="ellipse">
            <a:avLst/>
          </a:prstGeom>
          <a:solidFill>
            <a:srgbClr val="FAF7F1"/>
          </a:solidFill>
          <a:ln w="19050">
            <a:solidFill>
              <a:srgbClr val="A6813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88734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187288" y="2715768"/>
            <a:ext cx="16052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3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SMALL BATCH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187288" y="3063240"/>
            <a:ext cx="160522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3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소량 제품 제작,</a:t>
            </a:r>
            <a:endParaRPr lang="en-US" sz="83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3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판매 테스트</a:t>
            </a:r>
            <a:endParaRPr lang="en-US" sz="830" dirty="0"/>
          </a:p>
        </p:txBody>
      </p:sp>
      <p:sp>
        <p:nvSpPr>
          <p:cNvPr id="22" name="Shape 20"/>
          <p:cNvSpPr/>
          <p:nvPr/>
        </p:nvSpPr>
        <p:spPr>
          <a:xfrm>
            <a:off x="8576843" y="2148840"/>
            <a:ext cx="402336" cy="402336"/>
          </a:xfrm>
          <a:prstGeom prst="ellipse">
            <a:avLst/>
          </a:prstGeom>
          <a:solidFill>
            <a:srgbClr val="FAF7F1"/>
          </a:solidFill>
          <a:ln w="19050">
            <a:solidFill>
              <a:srgbClr val="A6813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576843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975397" y="2715768"/>
            <a:ext cx="16052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3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OFFLINE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7975397" y="3063240"/>
            <a:ext cx="160522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3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팝업, 디자인마켓,</a:t>
            </a:r>
            <a:endParaRPr lang="en-US" sz="83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3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전시</a:t>
            </a:r>
            <a:endParaRPr lang="en-US" sz="830" dirty="0"/>
          </a:p>
        </p:txBody>
      </p:sp>
      <p:sp>
        <p:nvSpPr>
          <p:cNvPr id="26" name="Shape 24"/>
          <p:cNvSpPr/>
          <p:nvPr/>
        </p:nvSpPr>
        <p:spPr>
          <a:xfrm>
            <a:off x="10364953" y="2148840"/>
            <a:ext cx="402336" cy="402336"/>
          </a:xfrm>
          <a:prstGeom prst="ellipse">
            <a:avLst/>
          </a:prstGeom>
          <a:solidFill>
            <a:srgbClr val="FAF7F1"/>
          </a:solidFill>
          <a:ln w="19050">
            <a:solidFill>
              <a:srgbClr val="A6813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364953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763506" y="2715768"/>
            <a:ext cx="16052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3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SCALE-UP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763506" y="3063240"/>
            <a:ext cx="160522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3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검증된 캐릭터 중심 생산</a:t>
            </a:r>
            <a:endParaRPr lang="en-US" sz="83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3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확대, 협업·라이선싱</a:t>
            </a:r>
            <a:endParaRPr lang="en-US" sz="830" dirty="0"/>
          </a:p>
        </p:txBody>
      </p:sp>
      <p:sp>
        <p:nvSpPr>
          <p:cNvPr id="30" name="Shape 28"/>
          <p:cNvSpPr/>
          <p:nvPr/>
        </p:nvSpPr>
        <p:spPr>
          <a:xfrm>
            <a:off x="822960" y="4251960"/>
            <a:ext cx="10545775" cy="1828800"/>
          </a:xfrm>
          <a:prstGeom prst="rect">
            <a:avLst/>
          </a:prstGeom>
          <a:solidFill>
            <a:srgbClr val="F1EBE0"/>
          </a:solidFill>
          <a:ln w="12700">
            <a:solidFill>
              <a:srgbClr val="DDD5C7"/>
            </a:solidFill>
            <a:prstDash val="dash"/>
          </a:ln>
        </p:spPr>
      </p:sp>
      <p:sp>
        <p:nvSpPr>
          <p:cNvPr id="31" name="Text 29"/>
          <p:cNvSpPr txBox="1"/>
          <p:nvPr/>
        </p:nvSpPr>
        <p:spPr>
          <a:xfrm>
            <a:off x="932688" y="4343400"/>
            <a:ext cx="103263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IMAGE</a:t>
            </a:r>
            <a:endParaRPr lang="en-US" sz="750" dirty="0"/>
          </a:p>
        </p:txBody>
      </p:sp>
      <p:sp>
        <p:nvSpPr>
          <p:cNvPr id="32" name="Text 30"/>
          <p:cNvSpPr txBox="1"/>
          <p:nvPr/>
        </p:nvSpPr>
        <p:spPr>
          <a:xfrm>
            <a:off x="1005840" y="4800600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 / Content Test 진행 예시 이미지 (검증 예정)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22960" y="65105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WOULD YOU, TOKKI?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9997135" y="651052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 / 12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89788"/>
            <a:ext cx="82296" cy="82296"/>
          </a:xfrm>
          <a:prstGeom prst="ellipse">
            <a:avLst/>
          </a:prstGeom>
          <a:solidFill>
            <a:srgbClr val="A681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53035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CURRENT STATUS / ROADMAP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84124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84"/>
              </a:lnSpc>
              <a:buNone/>
            </a:pPr>
            <a:r>
              <a:rPr lang="en-US" sz="2200" b="1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현재는 IP 개발과 제품화 준비 단계입니다.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50876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CURRENT — 현재 진행된 부분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746504"/>
            <a:ext cx="5074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131"/>
              </a:lnSpc>
              <a:spcAft>
                <a:spcPts val="200"/>
              </a:spcAft>
              <a:buSzPct val="100000"/>
              <a:buChar char="–"/>
            </a:pPr>
            <a:r>
              <a:rPr lang="en-US" sz="87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 콘셉트 정립</a:t>
            </a:r>
            <a:endParaRPr lang="en-US" sz="870" dirty="0"/>
          </a:p>
          <a:p>
            <a:pPr marL="177800" indent="-177800">
              <a:lnSpc>
                <a:spcPts val="1131"/>
              </a:lnSpc>
              <a:spcAft>
                <a:spcPts val="200"/>
              </a:spcAft>
              <a:buSzPct val="100000"/>
              <a:buChar char="–"/>
            </a:pPr>
            <a:r>
              <a:rPr lang="en-US" sz="87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Would you, Tokki? 네이밍 확정</a:t>
            </a:r>
            <a:endParaRPr lang="en-US" sz="870" dirty="0"/>
          </a:p>
          <a:p>
            <a:pPr marL="177800" indent="-177800">
              <a:lnSpc>
                <a:spcPts val="1131"/>
              </a:lnSpc>
              <a:spcAft>
                <a:spcPts val="200"/>
              </a:spcAft>
              <a:buSzPct val="100000"/>
              <a:buChar char="–"/>
            </a:pPr>
            <a:r>
              <a:rPr lang="en-US" sz="87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메인 조형 언어 개발</a:t>
            </a:r>
            <a:endParaRPr lang="en-US" sz="870" dirty="0"/>
          </a:p>
          <a:p>
            <a:pPr marL="177800" indent="-177800">
              <a:lnSpc>
                <a:spcPts val="1131"/>
              </a:lnSpc>
              <a:spcAft>
                <a:spcPts val="200"/>
              </a:spcAft>
              <a:buSzPct val="100000"/>
              <a:buChar char="–"/>
            </a:pPr>
            <a:r>
              <a:rPr lang="en-US" sz="87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캐릭터 시스템 기획</a:t>
            </a:r>
            <a:endParaRPr lang="en-US" sz="870" dirty="0"/>
          </a:p>
          <a:p>
            <a:pPr marL="177800" indent="-177800">
              <a:lnSpc>
                <a:spcPts val="1131"/>
              </a:lnSpc>
              <a:spcAft>
                <a:spcPts val="200"/>
              </a:spcAft>
              <a:buSzPct val="100000"/>
              <a:buChar char="–"/>
            </a:pPr>
            <a:r>
              <a:rPr lang="en-US" sz="87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ORIGIN 4종 기획</a:t>
            </a:r>
            <a:endParaRPr lang="en-US" sz="870" dirty="0"/>
          </a:p>
          <a:p>
            <a:pPr marL="177800" indent="-177800">
              <a:lnSpc>
                <a:spcPts val="1131"/>
              </a:lnSpc>
              <a:spcAft>
                <a:spcPts val="200"/>
              </a:spcAft>
              <a:buSzPct val="100000"/>
              <a:buChar char="–"/>
            </a:pPr>
            <a:r>
              <a:rPr lang="en-US" sz="87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 / Bubble / Food / Angora 등 확장 캐릭터 개발</a:t>
            </a:r>
            <a:endParaRPr lang="en-US" sz="870" dirty="0"/>
          </a:p>
          <a:p>
            <a:pPr marL="177800" indent="-177800">
              <a:lnSpc>
                <a:spcPts val="1131"/>
              </a:lnSpc>
              <a:spcAft>
                <a:spcPts val="200"/>
              </a:spcAft>
              <a:buSzPct val="100000"/>
              <a:buChar char="–"/>
            </a:pPr>
            <a:r>
              <a:rPr lang="en-US" sz="87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Material → Question 브랜드 경험 구조 기획</a:t>
            </a:r>
            <a:endParaRPr lang="en-US" sz="870" dirty="0"/>
          </a:p>
          <a:p>
            <a:pPr marL="177800" indent="-177800">
              <a:lnSpc>
                <a:spcPts val="1131"/>
              </a:lnSpc>
              <a:spcAft>
                <a:spcPts val="200"/>
              </a:spcAft>
              <a:buSzPct val="100000"/>
              <a:buChar char="–"/>
            </a:pPr>
            <a:r>
              <a:rPr lang="en-US" sz="87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2D·3D 비주얼 테스트</a:t>
            </a:r>
            <a:endParaRPr lang="en-US" sz="870" dirty="0"/>
          </a:p>
          <a:p>
            <a:pPr marL="177800" indent="-177800">
              <a:lnSpc>
                <a:spcPts val="1131"/>
              </a:lnSpc>
              <a:spcAft>
                <a:spcPts val="200"/>
              </a:spcAft>
              <a:buSzPct val="100000"/>
              <a:buChar char="–"/>
            </a:pPr>
            <a:r>
              <a:rPr lang="en-US" sz="87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아트토이 제품 방향 설정</a:t>
            </a:r>
            <a:endParaRPr lang="en-US" sz="870" dirty="0"/>
          </a:p>
          <a:p>
            <a:pPr marL="177800" indent="-177800">
              <a:lnSpc>
                <a:spcPts val="1131"/>
              </a:lnSpc>
              <a:spcAft>
                <a:spcPts val="200"/>
              </a:spcAft>
              <a:buSzPct val="100000"/>
              <a:buChar char="–"/>
            </a:pPr>
            <a:r>
              <a:rPr lang="en-US" sz="87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브랜드·사업 제안서 초안 작성</a:t>
            </a:r>
            <a:endParaRPr lang="en-US" sz="87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150876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 VALIDATE — 아직 검증이 필요한 부분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1746504"/>
            <a:ext cx="5074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131"/>
              </a:lnSpc>
              <a:spcAft>
                <a:spcPts val="200"/>
              </a:spcAft>
              <a:buSzPct val="100000"/>
              <a:buChar char="–"/>
            </a:pPr>
            <a:r>
              <a:rPr lang="en-US" sz="87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제작단가</a:t>
            </a:r>
            <a:endParaRPr lang="en-US" sz="870" dirty="0"/>
          </a:p>
          <a:p>
            <a:pPr marL="177800" indent="-177800">
              <a:lnSpc>
                <a:spcPts val="1131"/>
              </a:lnSpc>
              <a:spcAft>
                <a:spcPts val="200"/>
              </a:spcAft>
              <a:buSzPct val="100000"/>
              <a:buChar char="–"/>
            </a:pPr>
            <a:r>
              <a:rPr lang="en-US" sz="87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적정 판매가</a:t>
            </a:r>
            <a:endParaRPr lang="en-US" sz="870" dirty="0"/>
          </a:p>
          <a:p>
            <a:pPr marL="177800" indent="-177800">
              <a:lnSpc>
                <a:spcPts val="1131"/>
              </a:lnSpc>
              <a:spcAft>
                <a:spcPts val="200"/>
              </a:spcAft>
              <a:buSzPct val="100000"/>
              <a:buChar char="–"/>
            </a:pPr>
            <a:r>
              <a:rPr lang="en-US" sz="87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소재 및 생산방식</a:t>
            </a:r>
            <a:endParaRPr lang="en-US" sz="870" dirty="0"/>
          </a:p>
          <a:p>
            <a:pPr marL="177800" indent="-177800">
              <a:lnSpc>
                <a:spcPts val="1131"/>
              </a:lnSpc>
              <a:spcAft>
                <a:spcPts val="200"/>
              </a:spcAft>
              <a:buSzPct val="100000"/>
              <a:buChar char="–"/>
            </a:pPr>
            <a:r>
              <a:rPr lang="en-US" sz="87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출시 캐릭터 수</a:t>
            </a:r>
            <a:endParaRPr lang="en-US" sz="870" dirty="0"/>
          </a:p>
          <a:p>
            <a:pPr marL="177800" indent="-177800">
              <a:lnSpc>
                <a:spcPts val="1131"/>
              </a:lnSpc>
              <a:spcAft>
                <a:spcPts val="200"/>
              </a:spcAft>
              <a:buSzPct val="100000"/>
              <a:buChar char="–"/>
            </a:pPr>
            <a:r>
              <a:rPr lang="en-US" sz="87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소비자 반응</a:t>
            </a:r>
            <a:endParaRPr lang="en-US" sz="870" dirty="0"/>
          </a:p>
          <a:p>
            <a:pPr marL="177800" indent="-177800">
              <a:lnSpc>
                <a:spcPts val="1131"/>
              </a:lnSpc>
              <a:spcAft>
                <a:spcPts val="200"/>
              </a:spcAft>
              <a:buSzPct val="100000"/>
              <a:buChar char="–"/>
            </a:pPr>
            <a:r>
              <a:rPr lang="en-US" sz="87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판매채널</a:t>
            </a:r>
            <a:endParaRPr lang="en-US" sz="870" dirty="0"/>
          </a:p>
          <a:p>
            <a:pPr marL="177800" indent="-177800">
              <a:lnSpc>
                <a:spcPts val="1131"/>
              </a:lnSpc>
              <a:spcAft>
                <a:spcPts val="200"/>
              </a:spcAft>
              <a:buSzPct val="100000"/>
              <a:buChar char="–"/>
            </a:pPr>
            <a:r>
              <a:rPr lang="en-US" sz="87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손익구조</a:t>
            </a:r>
            <a:endParaRPr lang="en-US" sz="870" dirty="0"/>
          </a:p>
          <a:p>
            <a:pPr marL="177800" indent="-177800">
              <a:lnSpc>
                <a:spcPts val="1131"/>
              </a:lnSpc>
              <a:spcAft>
                <a:spcPts val="200"/>
              </a:spcAft>
              <a:buSzPct val="100000"/>
              <a:buChar char="–"/>
            </a:pPr>
            <a:r>
              <a:rPr lang="en-US" sz="87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 파트너</a:t>
            </a:r>
            <a:endParaRPr lang="en-US" sz="87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749040"/>
            <a:ext cx="105457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 MONTH ROADMAP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22960" y="4023360"/>
            <a:ext cx="10545775" cy="0"/>
          </a:xfrm>
          <a:prstGeom prst="line">
            <a:avLst/>
          </a:prstGeom>
          <a:noFill/>
          <a:ln w="9525">
            <a:solidFill>
              <a:srgbClr val="DDD5C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114800"/>
            <a:ext cx="2444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PHASE 1  </a:t>
            </a:r>
            <a:pPr indent="0" marL="0">
              <a:buNone/>
            </a:pPr>
            <a:r>
              <a:rPr lang="en-US" sz="950" b="1" spc="5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FOUNDATION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334256"/>
            <a:ext cx="24444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1–3개월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572000"/>
            <a:ext cx="24444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040"/>
              </a:lnSpc>
              <a:spcAft>
                <a:spcPts val="200"/>
              </a:spcAft>
              <a:buSzPct val="100000"/>
              <a:buChar char="–"/>
            </a:pPr>
            <a:r>
              <a:rPr lang="en-US" sz="80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 시스템 확정</a:t>
            </a:r>
            <a:endParaRPr lang="en-US" sz="800" dirty="0"/>
          </a:p>
          <a:p>
            <a:pPr marL="177800" indent="-177800">
              <a:lnSpc>
                <a:spcPts val="1040"/>
              </a:lnSpc>
              <a:spcAft>
                <a:spcPts val="200"/>
              </a:spcAft>
              <a:buSzPct val="100000"/>
              <a:buChar char="–"/>
            </a:pPr>
            <a:r>
              <a:rPr lang="en-US" sz="80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 가이드 정리</a:t>
            </a:r>
            <a:endParaRPr lang="en-US" sz="800" dirty="0"/>
          </a:p>
          <a:p>
            <a:pPr marL="177800" indent="-177800">
              <a:lnSpc>
                <a:spcPts val="1040"/>
              </a:lnSpc>
              <a:spcAft>
                <a:spcPts val="200"/>
              </a:spcAft>
              <a:buSzPct val="100000"/>
              <a:buChar char="–"/>
            </a:pPr>
            <a:r>
              <a:rPr lang="en-US" sz="80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상표·저작권 검토</a:t>
            </a:r>
            <a:endParaRPr lang="en-US" sz="800" dirty="0"/>
          </a:p>
          <a:p>
            <a:pPr marL="177800" indent="-177800">
              <a:lnSpc>
                <a:spcPts val="1040"/>
              </a:lnSpc>
              <a:spcAft>
                <a:spcPts val="200"/>
              </a:spcAft>
              <a:buSzPct val="100000"/>
              <a:buChar char="–"/>
            </a:pPr>
            <a:r>
              <a:rPr lang="en-US" sz="80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3D 모델링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3523412" y="4114800"/>
            <a:ext cx="2444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PHASE 2  </a:t>
            </a:r>
            <a:pPr indent="0" marL="0">
              <a:buNone/>
            </a:pPr>
            <a:r>
              <a:rPr lang="en-US" sz="950" b="1" spc="5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523412" y="4334256"/>
            <a:ext cx="24444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3–6개월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3523412" y="4572000"/>
            <a:ext cx="24444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040"/>
              </a:lnSpc>
              <a:spcAft>
                <a:spcPts val="200"/>
              </a:spcAft>
              <a:buSzPct val="100000"/>
              <a:buChar char="–"/>
            </a:pPr>
            <a:r>
              <a:rPr lang="en-US" sz="80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ORIGIN 4종 시제품 제작</a:t>
            </a:r>
            <a:endParaRPr lang="en-US" sz="800" dirty="0"/>
          </a:p>
          <a:p>
            <a:pPr marL="177800" indent="-177800">
              <a:lnSpc>
                <a:spcPts val="1040"/>
              </a:lnSpc>
              <a:spcAft>
                <a:spcPts val="200"/>
              </a:spcAft>
              <a:buSzPct val="100000"/>
              <a:buChar char="–"/>
            </a:pPr>
            <a:r>
              <a:rPr lang="en-US" sz="80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재질 테스트</a:t>
            </a:r>
            <a:endParaRPr lang="en-US" sz="800" dirty="0"/>
          </a:p>
          <a:p>
            <a:pPr marL="177800" indent="-177800">
              <a:lnSpc>
                <a:spcPts val="1040"/>
              </a:lnSpc>
              <a:spcAft>
                <a:spcPts val="200"/>
              </a:spcAft>
              <a:buSzPct val="100000"/>
              <a:buChar char="–"/>
            </a:pPr>
            <a:r>
              <a:rPr lang="en-US" sz="80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크기 테스트</a:t>
            </a:r>
            <a:endParaRPr lang="en-US" sz="800" dirty="0"/>
          </a:p>
          <a:p>
            <a:pPr marL="177800" indent="-177800">
              <a:lnSpc>
                <a:spcPts val="1040"/>
              </a:lnSpc>
              <a:spcAft>
                <a:spcPts val="200"/>
              </a:spcAft>
              <a:buSzPct val="100000"/>
              <a:buChar char="–"/>
            </a:pPr>
            <a:r>
              <a:rPr lang="en-US" sz="80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패키지 개발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6223864" y="4114800"/>
            <a:ext cx="2444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PHASE 3  </a:t>
            </a:r>
            <a:pPr indent="0" marL="0">
              <a:buNone/>
            </a:pPr>
            <a:r>
              <a:rPr lang="en-US" sz="950" b="1" spc="5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VALIDATION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223864" y="4334256"/>
            <a:ext cx="24444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6–9개월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6223864" y="4572000"/>
            <a:ext cx="24444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040"/>
              </a:lnSpc>
              <a:spcAft>
                <a:spcPts val="200"/>
              </a:spcAft>
              <a:buSzPct val="100000"/>
              <a:buChar char="–"/>
            </a:pPr>
            <a:r>
              <a:rPr lang="en-US" sz="80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SNS 콘텐츠 테스트</a:t>
            </a:r>
            <a:endParaRPr lang="en-US" sz="800" dirty="0"/>
          </a:p>
          <a:p>
            <a:pPr marL="177800" indent="-177800">
              <a:lnSpc>
                <a:spcPts val="1040"/>
              </a:lnSpc>
              <a:spcAft>
                <a:spcPts val="200"/>
              </a:spcAft>
              <a:buSzPct val="100000"/>
              <a:buChar char="–"/>
            </a:pPr>
            <a:r>
              <a:rPr lang="en-US" sz="80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Question Content 테스트</a:t>
            </a:r>
            <a:endParaRPr lang="en-US" sz="800" dirty="0"/>
          </a:p>
          <a:p>
            <a:pPr marL="177800" indent="-177800">
              <a:lnSpc>
                <a:spcPts val="1040"/>
              </a:lnSpc>
              <a:spcAft>
                <a:spcPts val="200"/>
              </a:spcAft>
              <a:buSzPct val="100000"/>
              <a:buChar char="–"/>
            </a:pPr>
            <a:r>
              <a:rPr lang="en-US" sz="80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디자인마켓 · 팝업</a:t>
            </a:r>
            <a:endParaRPr lang="en-US" sz="800" dirty="0"/>
          </a:p>
          <a:p>
            <a:pPr marL="177800" indent="-177800">
              <a:lnSpc>
                <a:spcPts val="1040"/>
              </a:lnSpc>
              <a:spcAft>
                <a:spcPts val="200"/>
              </a:spcAft>
              <a:buSzPct val="100000"/>
              <a:buChar char="–"/>
            </a:pPr>
            <a:r>
              <a:rPr lang="en-US" sz="80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소량 판매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8924315" y="4114800"/>
            <a:ext cx="2444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A681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PHASE 4  </a:t>
            </a:r>
            <a:pPr indent="0" marL="0">
              <a:buNone/>
            </a:pPr>
            <a:r>
              <a:rPr lang="en-US" sz="950" b="1" spc="50" kern="0" dirty="0">
                <a:solidFill>
                  <a:srgbClr val="2A262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LAUNCH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924315" y="4334256"/>
            <a:ext cx="24444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9–12개월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8924315" y="4572000"/>
            <a:ext cx="24444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040"/>
              </a:lnSpc>
              <a:spcAft>
                <a:spcPts val="200"/>
              </a:spcAft>
              <a:buSzPct val="100000"/>
              <a:buChar char="–"/>
            </a:pPr>
            <a:r>
              <a:rPr lang="en-US" sz="80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 캐릭터 선정</a:t>
            </a:r>
            <a:endParaRPr lang="en-US" sz="800" dirty="0"/>
          </a:p>
          <a:p>
            <a:pPr marL="177800" indent="-177800">
              <a:lnSpc>
                <a:spcPts val="1040"/>
              </a:lnSpc>
              <a:spcAft>
                <a:spcPts val="200"/>
              </a:spcAft>
              <a:buSzPct val="100000"/>
              <a:buChar char="–"/>
            </a:pPr>
            <a:r>
              <a:rPr lang="en-US" sz="80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정식 제품 생산</a:t>
            </a:r>
            <a:endParaRPr lang="en-US" sz="800" dirty="0"/>
          </a:p>
          <a:p>
            <a:pPr marL="177800" indent="-177800">
              <a:lnSpc>
                <a:spcPts val="1040"/>
              </a:lnSpc>
              <a:spcAft>
                <a:spcPts val="200"/>
              </a:spcAft>
              <a:buSzPct val="100000"/>
              <a:buChar char="–"/>
            </a:pPr>
            <a:r>
              <a:rPr lang="en-US" sz="80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온라인 판매채널 구축</a:t>
            </a:r>
            <a:endParaRPr lang="en-US" sz="800" dirty="0"/>
          </a:p>
          <a:p>
            <a:pPr marL="177800" indent="-177800">
              <a:lnSpc>
                <a:spcPts val="1040"/>
              </a:lnSpc>
              <a:spcAft>
                <a:spcPts val="200"/>
              </a:spcAft>
              <a:buSzPct val="100000"/>
              <a:buChar char="–"/>
            </a:pPr>
            <a:r>
              <a:rPr lang="en-US" sz="800" dirty="0">
                <a:solidFill>
                  <a:srgbClr val="5B56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 협업·라이선싱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65105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WOULD YOU, TOKKI?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9997135" y="651052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8A82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/ 12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622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89788"/>
            <a:ext cx="82296" cy="82296"/>
          </a:xfrm>
          <a:prstGeom prst="ellipse">
            <a:avLst/>
          </a:prstGeom>
          <a:solidFill>
            <a:srgbClr val="C9A9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53035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C9A9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ASK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841248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00" b="1" dirty="0">
                <a:solidFill>
                  <a:srgbClr val="F3EEE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가장 필요한 것은</a:t>
            </a:r>
            <a:endParaRPr lang="en-US" sz="2200" dirty="0"/>
          </a:p>
          <a:p>
            <a:pPr algn="l" indent="0" marL="0">
              <a:lnSpc>
                <a:spcPts val="2700"/>
              </a:lnSpc>
              <a:buNone/>
            </a:pPr>
            <a:r>
              <a:rPr lang="en-US" sz="2200" b="1" dirty="0">
                <a:solidFill>
                  <a:srgbClr val="F3EEE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더 많은 캐릭터가 아니라 검증입니다.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B8AFA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Would you, Tokki?는 현재 디자인 아이디어에서 실제 사업으로 넘어가기 위한 전환점에 있습니다. 이번 컨설팅에서 확인하고 싶은 내용: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50592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9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450592"/>
            <a:ext cx="466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F3EEE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사업모델에서 가장 부족한 요소는 무엇인가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324448" y="2450592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9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08496" y="2450592"/>
            <a:ext cx="466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F3EEE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지원사업 및 투자 관점에서 설득력을 갖추려면 어떤 데이터와 검증이 필요한가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319272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9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319272"/>
            <a:ext cx="466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F3EEE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제품을 ORIGIN 4종으로 시작하는 전략이 적절한가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324448" y="3319272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9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708496" y="3319272"/>
            <a:ext cx="466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F3EEE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IP 브랜드가 제조를 외주화하는 구조가 적절한가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187952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9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4187952"/>
            <a:ext cx="466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F3EEE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시장검증 전 사업자등록이 필요한가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324448" y="4187952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9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708496" y="4187952"/>
            <a:ext cx="466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F3EEE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 고객 반응을 어떤 방식으로 측정하는 것이 적절한가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056632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9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07008" y="5056632"/>
            <a:ext cx="466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F3EEE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Material → Question 구조가 브랜드 차별화와 고객 경험으로 실질적인 가치가 있는가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324448" y="5056632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9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08496" y="5056632"/>
            <a:ext cx="466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F3EEE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IR Deck에서 사업적으로 가장 약한 부분은 무엇인가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574243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B8AFA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Would you, Tokki?는 귀여운 캐릭터를 많이 만드는 브랜드가 아니라, 하나의 조형 시스템과 서로 다른 물질, 그리고 질문을 통해 각자의 세계를 수집하게 만드는 캐릭터 IP를 목표로 합니다.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6236208"/>
            <a:ext cx="105457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9A9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rabbit. A material. A question.   —   Born from different worlds.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65105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8AFA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WOULD YOU, TOKKI?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9997135" y="651052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B8AFA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 / 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2026-09-17T09:19:06Z</dcterms:created>
  <dcterms:modified xsi:type="dcterms:W3CDTF">2026-09-17T09:19:06Z</dcterms:modified>
</cp:coreProperties>
</file>