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spPr>
            <a:solidFill>
              <a:srgbClr val="C8321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디자인·외모</c:v>
                  </c:pt>
                  <c:pt idx="1">
                    <c:v>캐릭터 호감</c:v>
                  </c:pt>
                  <c:pt idx="2">
                    <c:v>상품 품질</c:v>
                  </c:pt>
                  <c:pt idx="3">
                    <c:v>상품 가격</c:v>
                  </c:pt>
                  <c:pt idx="4">
                    <c:v>인지도·인기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42.4</c:v>
                </c:pt>
                <c:pt idx="1">
                  <c:v>42</c:v>
                </c:pt>
                <c:pt idx="2">
                  <c:v>26.8</c:v>
                </c:pt>
                <c:pt idx="3">
                  <c:v>24.3</c:v>
                </c:pt>
                <c:pt idx="4">
                  <c:v>23.5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A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F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D">
    <p:bg>
      <p:bgPr>
        <a:solidFill>
          <a:srgbClr val="C83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594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CHARACTER 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CASE BOOK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457200"/>
            <a:ext cx="4782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DEEP</a:t>
            </a:r>
            <a:endParaRPr lang="en-US" sz="800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DIVE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IP 사례 자료집 · 심층 확장편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4 · 6 · 7 · 24쪽에 한 장으로 줄였던 내용을 한 주제당 한 장으로 풀었습니다.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3520440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81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 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04-1 ~ 04-6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4572000"/>
            <a:ext cx="3520440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15968" y="4681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06·07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824728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고객을 얻은 곳 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24728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06-0 ~ 06-5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83296" y="4572000"/>
            <a:ext cx="3520440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83296" y="46817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592056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변화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592056" y="5047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24-1 ~ 24-5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본편의 해당 쪽 바로 뒤에 끼워 넣어 쓰도록 쪽 번호를 '04-1'처럼 붙였습니다. 근거 표기(확인·발표·2차·해석)는 본편과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DEEP DIVE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04-1 ~ 04-6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결론 6, 한 장씩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4쪽 '스토리만으로는 구매가 설명되지 않는다'의 여섯 질문을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근거와 사례, 묘브제에 주는 의미까지 풀었습니다.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무엇을 보는가 · 02 세계관 · 03 디자인 완성도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마케팅과 매출 · 05 인기 하락 검증 · 06 굿즈와 아트토이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04-1 — KEY FINDINGS · Q01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외형으로 시작하고, 호감·품질·가격으로 결정한다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소비자는 캐릭터에서 무엇을 보는가?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01번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디자인은 늘 1위지만 혼자가 아니다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4708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214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KOCCA 2024 구매 고려 요소(1·2순위 합산): 디자인·외모 42.4%, 캐릭터 호감 42.0%, 품질 26.8%, 가격 24.3%, 인지도 23.5%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'생김새'와 '그 캐릭터가 좋다'는 따로 집계된다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디자인(42.4%)과 호감(42.0%)이 거의 같은 비율로 따로 나왔다. 좋아하게 된 이유에서도 디자인 60.2% 다음이 익숙함 40.5%, 행동 32.9%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'나와 닮아서'는 여러 이유 중 하나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39312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JBR 2022(225명): 상징적 표현·자기 이미지 일치·감정 가치가 함께 구매 의향을 설명. 자기 유사성 하나로 설명할 근거는 없다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품질·가격은 4명 중 1명꼴로 상위 기준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974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캐릭터가 좋아도 마감과 가격이 맞지 않으면 구매로 이어지기 어렵다는 뜻으로 읽을 수 있다</a:t>
            </a:r>
            <a:endParaRPr lang="en-US" sz="11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355080" y="1828800"/>
          <a:ext cx="528523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355080" y="512064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KOCCA 2024 캐릭터 상품 구매 경험자 2,852명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실루엣의 완성도(관문) + 토끼별 성격(호감) + 조소 작가의 마감(품질) + 가설가 검증(가격), 네 가지를 함께 준비해야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04-2 — KEY FINDINGS · Q02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세계관보다 짧은 성격과 행동이 먼저 닿는다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긴 세계관이 꼭 필요한가?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02번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출발점은 사례마다 다르다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4708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214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영화(토토로) · 게임(포켓몬) · 메신저 대화(카카오프렌즈) · 짧은 영상(김햄찌) · 공간 경험(프릳츠, Jellycat) · 문화유산(뮷즈) · 작가 슬로건(조구만)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좋아하게 된 이유: 행동 &gt; 콘텐츠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'캐릭터의 행동이 좋아서' 32.9%가 '등장 콘텐츠가 좋아서' 24.2%보다 높다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이야기를 몰라도 고를 수 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39312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산리오는 짧은 설정과 시각적 특징만으로 입문하고 이후 깊은 콘텐츠로 이동하는 구조 (원고 해석)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장면으로도 빠르게 큰다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974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김햄찌는 직장 장면 단위 영상으로 약 6개월 만에 구독자 60만 명, 2026.7 71만 명</a:t>
            </a:r>
            <a:endParaRPr lang="en-US" sz="1150" dirty="0"/>
          </a:p>
        </p:txBody>
      </p:sp>
      <p:pic>
        <p:nvPicPr>
          <p:cNvPr id="24" name="Image 0" descr="/tmp/claude-0/-home-user-hoho/be02f18f-1e6f-5d80-8a1f-70cf34bf4c7e/scratchpad/build/crop_ext/totoro_282x1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2578608" cy="126644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355080" y="3140964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영화에서 출발 · 토토로</a:t>
            </a:r>
            <a:endParaRPr lang="en-US" sz="1000" dirty="0"/>
          </a:p>
        </p:txBody>
      </p:sp>
      <p:pic>
        <p:nvPicPr>
          <p:cNvPr id="26" name="Image 1" descr="/tmp/claude-0/-home-user-hoho/be02f18f-1e6f-5d80-8a1f-70cf34bf4c7e/scratchpad/build/crop_ext/kakao_282x13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4" y="1828800"/>
            <a:ext cx="2578608" cy="12664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061704" y="3140964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대화에서 출발 · 춘식이</a:t>
            </a:r>
            <a:endParaRPr lang="en-US" sz="1000" dirty="0"/>
          </a:p>
        </p:txBody>
      </p:sp>
      <p:pic>
        <p:nvPicPr>
          <p:cNvPr id="28" name="Image 2" descr="/tmp/claude-0/-home-user-hoho/be02f18f-1e6f-5d80-8a1f-70cf34bf4c7e/scratchpad/build/crop_ext/hamzzi_282x13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07308"/>
            <a:ext cx="2578608" cy="12664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355080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영상에서 출발 · 김햄찌</a:t>
            </a:r>
            <a:endParaRPr lang="en-US" sz="1000" dirty="0"/>
          </a:p>
        </p:txBody>
      </p:sp>
      <p:pic>
        <p:nvPicPr>
          <p:cNvPr id="30" name="Image 3" descr="/tmp/claude-0/-home-user-hoho/be02f18f-1e6f-5d80-8a1f-70cf34bf4c7e/scratchpad/build/crop_ext/muds_282x13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3607308"/>
            <a:ext cx="2578608" cy="12664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61704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문화유산에서 출발 · 뮷즈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세계관 설명서보다 토끼마다 '성격 한 줄 + 행동 하나'를 먼저 정하고, SNS에 짧은 장면으로 반복해 보여준다.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04-3 — KEY FINDINGS · Q03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완성도는 네 가지로 나눠 본다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디자인 완성도는 어떻게 보는가?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03번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04-3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kaws_290x1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651760" cy="1600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축소해도 알아보는 특징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X형 눈(KAWS), 드러난 이빨(라부부). 작아지고 멀어져도 남는 기호 하나</a:t>
            </a:r>
            <a:endParaRPr lang="en-US" sz="1150" dirty="0"/>
          </a:p>
        </p:txBody>
      </p:sp>
      <p:pic>
        <p:nvPicPr>
          <p:cNvPr id="13" name="Image 1" descr="/tmp/claude-0/-home-user-hoho/be02f18f-1e6f-5d80-8a1f-70cf34bf4c7e/scratchpad/build/crop_ext/muds_290x17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28800"/>
            <a:ext cx="2651760" cy="1600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64992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959352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소재·크기에 맞는 구현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364992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레진 155mm 반가사유상(뮷즈), 조명이 된 구름(FWY), 극도로 부드러운 봉제(Jellycat)</a:t>
            </a:r>
            <a:endParaRPr lang="en-US" sz="1150" dirty="0"/>
          </a:p>
        </p:txBody>
      </p:sp>
      <p:pic>
        <p:nvPicPr>
          <p:cNvPr id="17" name="Image 2" descr="/tmp/claude-0/-home-user-hoho/be02f18f-1e6f-5d80-8a1f-70cf34bf4c7e/scratchpad/build/crop_ext/sanrio_kv_290x17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828800"/>
            <a:ext cx="2651760" cy="1600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81344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775704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사이의 일관성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181344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얼굴에 의상만 바꿈(라부부), 얼굴·대표색·이름 고정(산리오)</a:t>
            </a:r>
            <a:endParaRPr lang="en-US" sz="1150" dirty="0"/>
          </a:p>
        </p:txBody>
      </p:sp>
      <p:pic>
        <p:nvPicPr>
          <p:cNvPr id="21" name="Image 3" descr="/tmp/claude-0/-home-user-hoho/be02f18f-1e6f-5d80-8a1f-70cf34bf4c7e/scratchpad/build/crop_ext/hamzzi_290x17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828800"/>
            <a:ext cx="2651760" cy="1600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97696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9592056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상황과의 적합성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997696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가방에 다는 펜던트(라부부), 키캡·손목쿠션(김햄찌), 책상 위 오브제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091672" y="1298448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10cm에서 구름·암석 질감이 구분되는가(02), 5종이 한 브랜드로 보이는가(03), 책상 위에서 어떤 장면이 되는가(04), 멀리서도 남는 기호가 있는가(01)를 시제품 체크리스트로.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04-4 — KEY FINDINGS · Q04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변화는 확인되지만, 마케팅만의 몫은 분리되지 않는다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마케팅이 매출을 얼마나 늘렸나?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04번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078736" cy="19202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65960"/>
            <a:ext cx="130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+365.7%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60320"/>
            <a:ext cx="1749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매출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30.407억 → 141.611억 위안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(2024→2025, 팝마트 공시)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060448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55392" y="1828800"/>
            <a:ext cx="2078736" cy="19202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19984" y="1965960"/>
            <a:ext cx="130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+33.9%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919984" y="2560320"/>
            <a:ext cx="1749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산리오 회사 매출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1,449.04억 → 1,940.88억 엔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로열티 +36.3%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67200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62144" y="1828800"/>
            <a:ext cx="2078736" cy="19202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6736" y="1965960"/>
            <a:ext cx="130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+94.2%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126736" y="2560320"/>
            <a:ext cx="1749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국립박물관문화재단 상품 매출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212억 8,400만 → 413억 3,700만 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8620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같이 움직인 것들이 너무 많다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0448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788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라부부: 유명인 노출·매장·리셀 열기 / 산리오: 라이선스·중국 점포·유럽 유통 / 뮷즈: 관람객·한국 문화 관심·판매처 확대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81144"/>
            <a:ext cx="649224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6360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상품의 바이럴로 전체를 설명할 수 없다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54296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92861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뮷즈 까치호랑이 배지 약 13억 원은 2025년 상품 매출의 약 3.1%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78040" y="1828800"/>
            <a:ext cx="4462272" cy="34747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196596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매출을 추정하려면 필요한 것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37744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실결제 평균가 × 유료 판매 수량 − 환불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926080"/>
            <a:ext cx="4005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채널·기간의 거래액만 추정 가능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완판·방문·예약만 있으면 매출로 환산하지 않음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보도자료를 반복한 여러 기사는 독립 근거가 아님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캠페인 기여를 보려면 캠페인 전후, 같은 채널, 같은 상품을 비교해야 함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채널별로 기록을 나눈다. SNS 게시 → 프로필 방문 → 문의 → 펀딩 참여를 따로 세면, 무엇이 판매를 만들었는지 나중에 구분할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04-5 — KEY FINDINGS · Q05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인기 하락은 신호 네 개를 나눠 봐야 판단할 수 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인기 하락은 어떻게 검증하나?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05번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04-5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알려주는 것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주의할 점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리셀 가격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희소성에 대한 기대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공급이 늘면 정가 구매가 쉬워져 떨어질 수 있음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검색 관심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알고 싶어하는 사람의 규모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화제성과 구매 의향은 다름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정가 판매량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실제로 돈을 낸 수요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공개되지 않는 경우가 많음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반복 구매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팬으로 남았는지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회원 데이터가 있어야 볼 수 있음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4800600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4800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신호별 해석은 원고의 분석 기준입니다.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1828800"/>
            <a:ext cx="4785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라부부: 두 신호가 갈라진 사례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58000" y="2240280"/>
            <a:ext cx="2328520" cy="182880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22592" y="2377440"/>
            <a:ext cx="155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리셀 ↓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022592" y="2971800"/>
            <a:ext cx="1999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말 리셀 시장 냉각 분석 (LSEG, 2026-01)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619592" y="244144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314536" y="2240280"/>
            <a:ext cx="2328520" cy="182880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79128" y="2377440"/>
            <a:ext cx="155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매출 ↑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479128" y="2971800"/>
            <a:ext cx="1999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2025 매출 +365.7%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076127" y="244144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20624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리셀 냉각은 '인기가 꺼졌다'일 수도, '공급이 늘어 정가로 사기 쉬워졌다'일 수도 있다. 같은 해에 매출은 크게 늘었다.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품절이나 리셀가가 아니라 정가 재구매로 판단한다. 펀딩 후 '다음 토끼 알림 신청'과 두 번째 구매 비율을 기록한다.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04-6 — KEY FINDINGS · Q06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굿즈와 아트토이는 목적·가격·유통이 다른 사업이다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굿즈와 아트토이는 같은 사업인가?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04쪽 06번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04-6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547872" cy="34747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pic>
        <p:nvPicPr>
          <p:cNvPr id="10" name="Image 0" descr="/tmp/claude-0/-home-user-hoho/be02f18f-1e6f-5d80-8a1f-70cf34bf4c7e/scratchpad/build/crop_ext/fritz_130x1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1188720" cy="11887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057400" y="201168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생활용품 반복 구매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260604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쓰다가 또 산다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3375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프릳츠 랜덤 물개 키링 6,000원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6576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포차코 마스코트 각 2,200엔 · 토토로 머그 3,960엔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유통·가격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8172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편의점·문구점·온라인, 낮은 가격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15968" y="1828800"/>
            <a:ext cx="3547872" cy="34747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pic>
        <p:nvPicPr>
          <p:cNvPr id="18" name="Image 1" descr="/tmp/claude-0/-home-user-hoho/be02f18f-1e6f-5d80-8a1f-70cf34bf4c7e/scratchpad/build/crop_ext/labubu_130x1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011680"/>
            <a:ext cx="1188720" cy="11887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824728" y="201168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봉제 선물·휴대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824728" y="260604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들고 다니고 선물한다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498848" y="33375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Have a Seat 26.99달러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498848" y="36576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Jellycat 봉제 · 라부부 펜던트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498848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유통·가격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498848" y="468172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매장·체험·팝업, 중간 가격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083296" y="1828800"/>
            <a:ext cx="3547872" cy="34747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pic>
        <p:nvPicPr>
          <p:cNvPr id="26" name="Image 2" descr="/tmp/claude-0/-home-user-hoho/be02f18f-1e6f-5d80-8a1f-70cf34bf4c7e/scratchpad/build/crop_ext/muds_130x13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11680"/>
            <a:ext cx="1188720" cy="11887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592056" y="2011680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조형물 소장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592056" y="260604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공간에 두고 오래 본다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266176" y="33375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뮷즈 반가사유상 ver.3 65,000원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8266176" y="365760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토토로 디오라마 320,000원 · KAWS 작품·에디션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266176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유통·가격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266176" y="468172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공식몰·전시·편집숍, 높은 가격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10cm 레진 데스크 오브제(3.2만~5.9만 원 가설)는 '조형물 소장' 쪽이다. 키링 같은 진입 상품은 같은 브랜드 안의 다른 사업으로 따로 설계한다.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DEEP DIVE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06-0 ~ 06-5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고객을 얻은 곳 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6·7쪽의 해외·국내 개요 표를 '처음 고객을 만난 곳'별로 다시 묶었습니다.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어떻게 쌓였고, 어떤 상품이 되었는지 묶음마다 풀었습니다.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콘텐츠 · 디지털 일상 · 미술·작가 · 매장·상품 · 장소·기관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06-0 — OVERVIEW ·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17개 사례를 '처음 고객을 얻은 곳' 다섯 갈래로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국가보다 이 구분이 더 많은 것을 설명합니다 (원고 종합 해석). 오른쪽 열은 묘브제가 쓸 수 있는 정도입니다.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 · 총정리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06-0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63040"/>
                <a:gridCol w="2743200"/>
                <a:gridCol w="2651760"/>
                <a:gridCol w="96012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갈래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처음 만나는 곳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관계가 상품이 되는 방식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묘브제 활용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콘텐츠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게임·영화·애니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포켓몬 · 토토로 · 하츄핑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콘텐츠로 관계 → 상품은 기억을 불러옴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콘텐츠 투자가 필요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디지털 일상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메신저·SNS·유튜브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카카오프렌즈 · LINE·BT21 · 구냥이 · 김햄찌 · 최고심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매일 보는 대화·피드 → 익숙함 → 문구·팝업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1인도 시작 가능, 비용 낮음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미술·작가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작품·전시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KAWS · FriendsWithYou · 스티키몬스터랩 · 조구만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작가의 조형·태도 → 에디션·협업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조소 작가라는 출발점과 같음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매장·상품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상품이 첫 접점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라부부 · Jellycat · 산리오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상품·시리즈·체험 자체가 콘텐츠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유통력 필요, 팝업·페어로 축소 적용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321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장소·기관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박물관·카페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뮷즈 · 프릳츠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경험 → 상품이 기념이 됨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262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484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작업실·제작 과정이 장소를 대신할 수 있음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440680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54406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 활용 정도는 이 자료의 판단입니다. 다음 다섯 장에서 갈래별 근거를 봅니다.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06-1 —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콘텐츠에서 출발: 관계는 작품이 만들고, 상품은 기억을 불러온다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게임·영화·애니메이션으로 먼저 관계를 맺은 사례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06-1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pokemon_66x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" cy="603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포켓몬 · 게임·카드 1996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상품 소매 매출 약 120억 달러 (2024)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65376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4" name="Image 1" descr="/tmp/claude-0/-home-user-hoho/be02f18f-1e6f-5d80-8a1f-70cf34bf4c7e/scratchpad/build/crop_ext/totoro_66x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98448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토토로 · 영화 1988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98448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영화 이후 봉제, 노리타케 머그 3,960엔·모래시계 9,680엔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9" name="Image 2" descr="/tmp/claude-0/-home-user-hoho/be02f18f-1e6f-5d80-8a1f-70cf34bf4c7e/scratchpad/build/crop_ext/hachuping_66x6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8448" y="3273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하츄핑 · TV 2020 · 극장판 2024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98448" y="3547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3–9세 최선호 4.8% (티니핑 11.2%), 극장판 70만 명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60720" y="3291840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583680" y="182880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766560" y="1901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곳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0" y="190195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게임·영화·TV 시리즈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766560" y="2542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583680" y="269748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766560" y="2770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쌓이는 방식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229600" y="277063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수십 시간의 이야기와 장면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676656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583680" y="3566160"/>
            <a:ext cx="5059375" cy="7315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36393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상품이 되는 형태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229600" y="363931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장면을 떠올리게 하는 봉제·생활용품·고급 소재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6583680" y="45262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가장 강한 갈래다. 대신 콘텐츠 제작에 큰 투자가 먼저 들어갔고, 상품 매출은 그 결과다 (해석).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장편 콘텐츠는 지금 규모로 어렵다. 대신 '장면' 단위로 토끼를 기억하게 하는 짧은 이미지·영상을 쌓는다.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06-2 —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일상에서 출발: 매일 보는 익숙함이 상품이 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메신저·SNS·유튜브에서 매일 만나며 관계를 맺은 사례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06-2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kakao_66x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" cy="603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카카오프렌즈 · 메신저 2012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10–69세 최선호 5.6% (춘식이 4.1%), 행사 방문 8.3만 명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65376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4" name="Image 1" descr="/tmp/claude-0/-home-user-hoho/be02f18f-1e6f-5d80-8a1f-70cf34bf4c7e/scratchpad/build/crop_ext/hamzzi_66x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98448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김햄찌 · 유튜브 2025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98448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6개월 만에 구독자 60만 → 2026.7 71만, 팝업 예약 10분 마감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9" name="Image 2" descr="/tmp/claude-0/-home-user-hoho/be02f18f-1e6f-5d80-8a1f-70cf34bf4c7e/scratchpad/build/crop_ext/gunyang_66x6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8448" y="3273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구냥이 · 카카오 이모티콘 2020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98448" y="3547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이모티콘 74~125종, 밈 기반 굿즈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60720" y="329184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3913632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24" name="Image 3" descr="/tmp/claude-0/-home-user-hoho/be02f18f-1e6f-5d80-8a1f-70cf34bf4c7e/scratchpad/build/crop_ext/choigosim_66x6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68496"/>
            <a:ext cx="603504" cy="6035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98448" y="3986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최고심 · 인스타그램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298448" y="42611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팔로워 22만~33만, LG 트윈스 협업 품절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760720" y="4005072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48640" y="4626864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29" name="Image 4" descr="/tmp/claude-0/-home-user-hoho/be02f18f-1e6f-5d80-8a1f-70cf34bf4c7e/scratchpad/build/crop_ext/bt21_66x66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81728"/>
            <a:ext cx="603504" cy="60350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98448" y="4700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LINE·BT21 · 2017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1298448" y="49743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BTS 팬덤과 연결된 유입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5760720" y="4718304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583680" y="182880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766560" y="1901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곳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229600" y="190195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대화·피드·영상, 하루에도 여러 번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6766560" y="2542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583680" y="269748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766560" y="2770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쌓이는 방식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8229600" y="277063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노출로 익숙해짐 (좋아하게 된 이유 2위 40.5%)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676656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583680" y="3566160"/>
            <a:ext cx="5059375" cy="7315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766560" y="36393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상품이 되는 형태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8229600" y="363931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문구·이모티콘·팝업 굿즈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6583680" y="45262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'익숙해서·자주 봐서'가 좋아하게 된 이유 2위다. 이 갈래가 그 익숙함을 가장 싸게 쌓는다 (해석).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현실적인 경로. 토끼별 질문을 SNS에 같은 형식으로 반복 게시해 익숙함부터 쌓는다 (사업계획서 SNS 3회 이상 목표와 연결).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06-3 —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미술·작가에서 출발: 조형과 태도가 가격 계단의 위쪽을 만든다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작품·전시·작가의 태도로 먼저 알려진 사례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06-3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kaws_66x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" cy="603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KAWS · COMPANION 1999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미술관 전시와 유니클로 협업이 공존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65376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4" name="Image 1" descr="/tmp/claude-0/-home-user-hoho/be02f18f-1e6f-5d80-8a1f-70cf34bf4c7e/scratchpad/build/crop_ext/fwy_66x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98448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FriendsWithYou · 2002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98448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Little Cloud Lamp 2022, 메이시스 퍼레이드 풍선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9" name="Image 2" descr="/tmp/claude-0/-home-user-hoho/be02f18f-1e6f-5d80-8a1f-70cf34bf4c7e/scratchpad/build/crop_ext/sml_66x6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8448" y="3273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스티키몬스터랩 · 2007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98448" y="3547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영상·전시·조형 활동, 기업 협업 다수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60720" y="329184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3913632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24" name="Image 3" descr="/tmp/claude-0/-home-user-hoho/be02f18f-1e6f-5d80-8a1f-70cf34bf4c7e/scratchpad/build/crop_ext/joguman_66x6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68496"/>
            <a:ext cx="603504" cy="6035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98448" y="39867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조구만 · 2017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298448" y="42611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"조구맣지만 안 중요하다는 건 아냐", NC·불가리 협업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760720" y="4005072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583680" y="182880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766560" y="1901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곳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0" y="190195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작품·전시·작가 SNS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6766560" y="2542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583680" y="269748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766560" y="2770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쌓이는 방식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8229600" y="277063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작가의 조형 언어와 태도에 대한 신뢰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676656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583680" y="3566160"/>
            <a:ext cx="5059375" cy="7315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766560" y="36393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상품이 되는 형태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229600" y="363931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에디션(높은 가격) + 대중 협업(낮은 가격)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6583680" y="45262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작가성은 높은 가격을 정당화하지만, 이 갈래는 공개된 매출 근거가 약하다. 판매량 우위를 주장할 근거는 부족하다 (원고).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조소 작가라는 출발점이 이 갈래와 같다. 작업 과정·손 마감을 '작품'으로 보여주고, 에디션 넘버로 소장 단계를 만든다.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06-4 —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매장·상품에서 출발: 상품과 체험 자체가 콘텐츠가 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이야기보다 매장과 상품 시리즈로 먼저 만난 사례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06-4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labubu_66x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" cy="603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라부부 · 팝마트 매장·시리즈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2025 매출 141.6억 위안 (+365.7%)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65376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4" name="Image 1" descr="/tmp/claude-0/-home-user-hoho/be02f18f-1e6f-5d80-8a1f-70cf34bf4c7e/scratchpad/build/crop_ext/jellycat_66x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98448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Jellycat · 봉제·체험 매장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98448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 런던 Fish &amp; Chips 체험 매장 운영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200400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9" name="Image 2" descr="/tmp/claude-0/-home-user-hoho/be02f18f-1e6f-5d80-8a1f-70cf34bf4c7e/scratchpad/build/crop_ext/sanrio_kv_66x6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98448" y="3273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산리오 · 라이선스·점포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298448" y="35478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매출 +33.9%, 팬 투표 6,316만 표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60720" y="3291840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583680" y="182880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766560" y="1901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곳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229600" y="190195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진열·블라인드박스·체험 공간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766560" y="2542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583680" y="269748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766560" y="2770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쌓이는 방식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229600" y="277063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고르고 열어 보고 찍는 경험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676656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583680" y="3566160"/>
            <a:ext cx="5059375" cy="7315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36393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상품이 되는 형태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229600" y="363931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시리즈·한정판·체험형 판매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6583680" y="45262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근거가 큰 갈래지만 넓은 유통망이 전제다. 체험의 구매 전환율은 공개되지 않았다 (원고).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넓은 유통은 어렵다. 12월 성과 전시·팝업·아트토이 페어에서 '어떤 토끼?' 고르기 체험으로 축소 적용한다.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06-5 — TOUCHPOINT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장소·기관에서 출발: 방문 경험이 상품을 기념품으로 만든다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박물관·카페에 다녀간 경험이 먼저 있는 사례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06·07쪽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06-5</a:t>
            </a:r>
            <a:endParaRPr lang="en-US" sz="1800" dirty="0"/>
          </a:p>
        </p:txBody>
      </p:sp>
      <p:pic>
        <p:nvPicPr>
          <p:cNvPr id="9" name="Image 0" descr="/tmp/claude-0/-home-user-hoho/be02f18f-1e6f-5d80-8a1f-70cf34bf4c7e/scratchpad/build/crop_ext/muds_66x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3504" cy="6035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98448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뮷즈 · 국립박물관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1214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재단 상품 매출 413억 원 (+94.2%), 까치호랑이 배지 약 9만 개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65376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487168"/>
            <a:ext cx="576072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pic>
        <p:nvPicPr>
          <p:cNvPr id="14" name="Image 1" descr="/tmp/claude-0/-home-user-hoho/be02f18f-1e6f-5d80-8a1f-70cf34bf4c7e/scratchpad/build/crop_ext/fritz_66x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2032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98448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프릳츠 · 카페·원두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298448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연매출 약 80억 원, 원두 납품 약 550개 카페 (2020)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83680" y="182880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0" y="19019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만나는 곳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190195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전시실·매장 방문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2542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83680" y="2697480"/>
            <a:ext cx="5059375" cy="73152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0" y="27706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관계가 쌓이는 방식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0" y="277063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장소에서 보고 마신 기억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766560" y="3410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583680" y="3566160"/>
            <a:ext cx="5059375" cy="731520"/>
          </a:xfrm>
          <a:prstGeom prst="rect">
            <a:avLst/>
          </a:prstGeom>
          <a:solidFill>
            <a:srgbClr val="F6E3DA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766560" y="36393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상품이 되는 형태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0" y="3639312"/>
            <a:ext cx="32305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카드가 든 기념품, 랜덤 키링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583680" y="45262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장소와 기관의 신뢰가 상품의 출처를 설명한다. 다만 관람객·본업 매출 같은 장소 자체의 힘이 함께 작동한다 (원고).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장소가 없다면 '작업실과 제작 과정'이 장소를 대신할 수 있다 (해석). 작업실 공개·제작 기록을 기념할 경험으로 만든다.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10312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DEEP DIVE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3D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24-1 ~ 24-5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다섯 가지 변화, 한 장씩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본편 24쪽 '연도 나열보다 중요한 다섯 가지 변화'를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6E3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근거, 해석의 범위, 묘브제에 주는 의미까지 풀었습니다.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휴대·착장 · 02 판매 과정의 콘텐츠화 · 03 성인·고가 소재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통합 상품 브랜드 · 05 인기와 판매 신호의 분리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24-1 — CHANGES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전시·보관에서 휴대·착장으로, 입체 상품이 밖으로 나왔다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01 · 대표 근거: THE MONSTERS의 봉제 구성, 펜던트 판매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24쪽 01번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24-1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56332" cy="14630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65960"/>
            <a:ext cx="1879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50.4%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6032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팝마트 전체 매출 중 봉제 제품 비중 2025 (2024년 21.7%). 봉제 매출 전부가 라부부는 아님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38044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2988" y="1828800"/>
            <a:ext cx="2656332" cy="14630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7580" y="1965960"/>
            <a:ext cx="1879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+560.6%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97580" y="256032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팝마트 봉제 매출 187.1억 위안 (2025)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202996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가방에 달면 남에게 다시 보인다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493008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 안의 수집품이 외부 노출물이 된다. 사용하는 장면이 곧 광고가 되는 구조 (원고 해석)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07408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81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IP·운영사의 사례다. 시장 전체의 점유율 변화로 읽지 않는다</a:t>
            </a:r>
            <a:endParaRPr lang="en-US" sz="1150" dirty="0"/>
          </a:p>
        </p:txBody>
      </p:sp>
      <p:pic>
        <p:nvPicPr>
          <p:cNvPr id="24" name="Image 0" descr="/tmp/claude-0/-home-user-hoho/be02f18f-1e6f-5d80-8a1f-70cf34bf4c7e/scratchpad/build/crop_ext/labubu_282x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2578608" cy="30449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355080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봉제 시리즈</a:t>
            </a:r>
            <a:endParaRPr lang="en-US" sz="1000" dirty="0"/>
          </a:p>
        </p:txBody>
      </p:sp>
      <p:pic>
        <p:nvPicPr>
          <p:cNvPr id="26" name="Image 1" descr="/tmp/claude-0/-home-user-hoho/be02f18f-1e6f-5d80-8a1f-70cf34bf4c7e/scratchpad/build/crop_ext/cover_labubu_282x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4" y="1828800"/>
            <a:ext cx="2578608" cy="304495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061704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MONSTERS 봉제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10cm 레진 오브제는 '두는' 상품이다. 휴대형(키링·펜던트)은 다른 소재·공정이 필요하므로 진입 상품 후보로만 따로 검토한다.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24-2 — CHANGES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사는 과정 자체가 찍고 참여하는 콘텐츠가 됐다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02 · 대표 근거: Jellycat 2024 런던 체험, 카카오 팬 행사, 김햄찌 2026 팝업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24쪽 02번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24-2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Jellycat · 봉제를 음식처럼 판다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4708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214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봉제를 음식 주문·포장처럼 다루는 체험 매장. 판매 직원의 연출이 촬영 장면을 만든다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· 공연형 팬 행사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 라춘댄스 시즌2 더현대 서울 방문 8만 3,000명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김햄찌 · 직장 콘셉트 팝업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39312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4일 예약이 10분 만에 마감, 업무용 굿즈 등 45종 준비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974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체험형 실행은 확인된다. 일반 판매보다 수익성이 높다는 증거는 없다</a:t>
            </a:r>
            <a:endParaRPr lang="en-US" sz="1150" dirty="0"/>
          </a:p>
        </p:txBody>
      </p:sp>
      <p:pic>
        <p:nvPicPr>
          <p:cNvPr id="24" name="Image 0" descr="/tmp/claude-0/-home-user-hoho/be02f18f-1e6f-5d80-8a1f-70cf34bf4c7e/scratchpad/build/crop_ext/jellycat2_282x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2578608" cy="30449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355080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Jellycat Fish &amp; Chips 체험 매장</a:t>
            </a:r>
            <a:endParaRPr lang="en-US" sz="1000" dirty="0"/>
          </a:p>
        </p:txBody>
      </p:sp>
      <p:pic>
        <p:nvPicPr>
          <p:cNvPr id="26" name="Image 1" descr="/tmp/claude-0/-home-user-hoho/be02f18f-1e6f-5d80-8a1f-70cf34bf4c7e/scratchpad/build/crop_ext/hamzzi_282x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4" y="1828800"/>
            <a:ext cx="2578608" cy="304495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061704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김햄찌 팝업 '오늘도 출근했습니다'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 성과 전시에서 '나는 어떤 토끼?' 고르기와 질감 만져보기를 촬영할 수 있는 장면으로 설계한다. 방문자 수·촬영·문의를 따로 기록한다.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24-3 — CHANGES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친숙한 IP가 성인의 생활과 고가 소재로 옮겨갔다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03 · 대표 근거: 포켓몬 2023 티파니, 지브리 생활용품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24쪽 03번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24-3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포켓몬 × 티파니 (2023)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4708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214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다니엘 아샴과 포켓몬 여섯 마리, 주얼리 아홉 디자인. 실버·다이아몬드·18K 골드, 뉴욕·도쿄 지정 매장과 온라인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토토로 생활용품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노리타케 머그 3,960엔(2022), 모래시계 9,680엔(2024). 같은 캐릭터를 실사용 소재로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캐릭터를 다시 그리지 않는다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39312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정체성은 남기고 소재·패키지·판매 장소를 바꿔 성인의 장신구·예술 취향 영역에 배치 (원고 해석)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974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상품·채널의 확장은 확인된다. 성인 전체의 선호 상승률은 미측정이다</a:t>
            </a:r>
            <a:endParaRPr lang="en-US" sz="1150" dirty="0"/>
          </a:p>
        </p:txBody>
      </p:sp>
      <p:pic>
        <p:nvPicPr>
          <p:cNvPr id="24" name="Image 0" descr="/tmp/claude-0/-home-user-hoho/be02f18f-1e6f-5d80-8a1f-70cf34bf4c7e/scratchpad/build/crop_ext/pokemon_282x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2578608" cy="30449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355080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티파니 × 포켓몬 주얼리</a:t>
            </a:r>
            <a:endParaRPr lang="en-US" sz="1000" dirty="0"/>
          </a:p>
        </p:txBody>
      </p:sp>
      <p:pic>
        <p:nvPicPr>
          <p:cNvPr id="26" name="Image 1" descr="/tmp/claude-0/-home-user-hoho/be02f18f-1e6f-5d80-8a1f-70cf34bf4c7e/scratchpad/build/crop_ext/totoro_282x33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4" y="1828800"/>
            <a:ext cx="2578608" cy="304495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061704" y="4919472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토토로 생활용품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묘브제는 반대 방향이다. 처음부터 성인용 소재(레진)·마감·저채도 색으로 시작한다. 이미 갖춘 강점이므로 사진과 설명에서 분명히 보여준다.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24-4 — CHANGES ·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원천 자산을 하나의 상품 브랜드로 묶었다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04 · 대표 근거: 뮷즈 2022 출범과 이후 매출 확대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24쪽 04번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24-4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656332" cy="14630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65960"/>
            <a:ext cx="1879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413억 원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6032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국립박물관문화재단 상품 매출 2025 (2024년 212.8억 원, +94.2%)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38044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2988" y="1828800"/>
            <a:ext cx="2656332" cy="146304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7580" y="1965960"/>
            <a:ext cx="1879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497580" y="2560320"/>
            <a:ext cx="23271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까치호랑이 배지 약 9만 개·13억 원이 전체에서 차지한 비중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이름과 태도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49300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'뮤지엄 + 굿즈'를 합친 이름, 슬로건 'MU:DS, K-Culture Unboxed'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07408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81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관람객·관광객 변화, 한국 문화 관심, 판매처 확대도 함께 작동. 성장 전체를 로고·네이밍 효과로 보지 않는다</a:t>
            </a:r>
            <a:endParaRPr lang="en-US" sz="1150" dirty="0"/>
          </a:p>
        </p:txBody>
      </p:sp>
      <p:pic>
        <p:nvPicPr>
          <p:cNvPr id="24" name="Image 0" descr="/tmp/claude-0/-home-user-hoho/be02f18f-1e6f-5d80-8a1f-70cf34bf4c7e/scratchpad/build/crop_ext/muds_578x3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28800"/>
            <a:ext cx="5285232" cy="304495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6355080" y="4919472"/>
            <a:ext cx="5285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반가사유상 미니어처 ver.3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 토끼를 각각의 상품이 아니라 하나의 브랜드 규칙(공통 실루엣·로고·패키지·질문 형식)으로 묶는 근거가 된다.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321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24-5 — CHANGES · 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32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인기 신호와 판매 신호가 갈라질 수 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05 · 대표 근거: 라부부 리셀 냉각과 연간 매출 증가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382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C·IP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638251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4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본편 24쪽 05번 확장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177272" y="6382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24-5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리셀 시장은 식었다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4708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1214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LSEG는 2025년 말 라부부 리셀 시장 냉각을 분석했다 (2026-01-07)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매출은 크게 늘었다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743200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해 THE MONSTERS 매출 30.407억 → 141.611억 위안 (+365.7%)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해석이 모두 가능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39312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13632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희소성 기대가 약해졌다는 신호일 수도, 공급이 늘어 정가 구매가 쉬워진 결과일 수도 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62272"/>
            <a:ext cx="5440680" cy="0"/>
          </a:xfrm>
          <a:prstGeom prst="line">
            <a:avLst/>
          </a:prstGeom>
          <a:noFill/>
          <a:ln w="9525">
            <a:solidFill>
              <a:srgbClr val="BDB5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17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548640" cy="228600"/>
          </a:xfrm>
          <a:prstGeom prst="rect">
            <a:avLst/>
          </a:prstGeom>
          <a:solidFill>
            <a:srgbClr val="DDD7CE"/>
          </a:solidFill>
          <a:ln w="12700">
            <a:solidFill>
              <a:srgbClr val="DDD7C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6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09744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하락, 공급 정상화, 매출 감소를 각각 다른 지표로 판단한다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1828800"/>
            <a:ext cx="2578608" cy="173736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19659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리셀 ↓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2560320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희소성 기대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2029968"/>
            <a:ext cx="5486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938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61704" y="1828800"/>
            <a:ext cx="2578608" cy="1737360"/>
          </a:xfrm>
          <a:prstGeom prst="rect">
            <a:avLst/>
          </a:prstGeom>
          <a:solidFill>
            <a:srgbClr val="F7F5F1"/>
          </a:solidFill>
          <a:ln w="9525">
            <a:solidFill>
              <a:srgbClr val="BDB5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26296" y="19659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매출 ↑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2560320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484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정가 수요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073384" y="2029968"/>
            <a:ext cx="548640" cy="2286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900" dirty="0"/>
          </a:p>
        </p:txBody>
      </p:sp>
      <p:pic>
        <p:nvPicPr>
          <p:cNvPr id="32" name="Image 0" descr="/tmp/claude-0/-home-user-hoho/be02f18f-1e6f-5d80-8a1f-70cf34bf4c7e/scratchpad/build/crop_ext/popmart_store_578x1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3703320"/>
            <a:ext cx="5285232" cy="16002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48640" y="5486400"/>
            <a:ext cx="11094415" cy="713232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5486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묘브제에 주는 의미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2560320" y="5486400"/>
            <a:ext cx="8854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초기에 품절·리셀이 생겨도 성공 신호로 착각하지 않는다. 정가 재구매와 다음 토끼 대기 신청을 기준으로 본다.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캐릭터 IP 사례 자료집 · 심층 확장편</dc:title>
  <dc:subject>PptxGenJS Presentation</dc:subject>
  <dc:creator>PptxGenJS</dc:creator>
  <cp:lastModifiedBy>PptxGenJS</cp:lastModifiedBy>
  <cp:revision>1</cp:revision>
  <dcterms:created xsi:type="dcterms:W3CDTF">2026-10-13T13:14:18Z</dcterms:created>
  <dcterms:modified xsi:type="dcterms:W3CDTF">2026-10-13T13:14:18Z</dcterms:modified>
</cp:coreProperties>
</file>