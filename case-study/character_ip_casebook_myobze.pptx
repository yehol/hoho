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1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응답률</c:v>
                </c:pt>
              </c:strCache>
            </c:strRef>
          </c:tx>
          <c:spPr>
            <a:solidFill>
              <a:srgbClr val="C8321F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A262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캐릭터 디자인·외모</c:v>
                  </c:pt>
                  <c:pt idx="1">
                    <c:v>캐릭터에 대한 호감</c:v>
                  </c:pt>
                  <c:pt idx="2">
                    <c:v>상품 품질</c:v>
                  </c:pt>
                  <c:pt idx="3">
                    <c:v>상품 가격</c:v>
                  </c:pt>
                  <c:pt idx="4">
                    <c:v>캐릭터 인지도·인기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42.4</c:v>
                </c:pt>
                <c:pt idx="1">
                  <c:v>42</c:v>
                </c:pt>
                <c:pt idx="2">
                  <c:v>26.8</c:v>
                </c:pt>
                <c:pt idx="3">
                  <c:v>24.3</c:v>
                </c:pt>
                <c:pt idx="4">
                  <c:v>23.5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2A262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A262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5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CHARACTER IP CASE BOOK · 묘브제 적용판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8321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rgbClr val="C832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8321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image" Target="../media/image-4-3.jpg"/><Relationship Id="rId4" Type="http://schemas.openxmlformats.org/officeDocument/2006/relationships/image" Target="../media/image-4-4.jpg"/><Relationship Id="rId5" Type="http://schemas.openxmlformats.org/officeDocument/2006/relationships/image" Target="../media/image-4-5.jpg"/><Relationship Id="rId6" Type="http://schemas.openxmlformats.org/officeDocument/2006/relationships/image" Target="../media/image-4-6.jpg"/><Relationship Id="rId7" Type="http://schemas.openxmlformats.org/officeDocument/2006/relationships/image" Target="../media/image-4-7.jpg"/><Relationship Id="rId8" Type="http://schemas.openxmlformats.org/officeDocument/2006/relationships/image" Target="../media/image-4-8.jpg"/><Relationship Id="rId9" Type="http://schemas.openxmlformats.org/officeDocument/2006/relationships/image" Target="../media/image-4-9.jpg"/><Relationship Id="rId10" Type="http://schemas.openxmlformats.org/officeDocument/2006/relationships/image" Target="../media/image-4-10.jp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jpg"/><Relationship Id="rId3" Type="http://schemas.openxmlformats.org/officeDocument/2006/relationships/image" Target="../media/image-15-3.jpg"/><Relationship Id="rId4" Type="http://schemas.openxmlformats.org/officeDocument/2006/relationships/image" Target="../media/image-15-4.jp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image" Target="../media/image-16-2.jpg"/><Relationship Id="rId3" Type="http://schemas.openxmlformats.org/officeDocument/2006/relationships/image" Target="../media/image-16-3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image" Target="../media/image-17-2.jpg"/><Relationship Id="rId3" Type="http://schemas.openxmlformats.org/officeDocument/2006/relationships/image" Target="../media/image-17-3.jpg"/><Relationship Id="rId4" Type="http://schemas.openxmlformats.org/officeDocument/2006/relationships/image" Target="../media/image-17-4.jp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hyperlink" Target="https://prod-out-res.popmart.com/cms/ANNUAL_REPORT_2025_bd4e173872.pdf" TargetMode="External"/><Relationship Id="rId2" Type="http://schemas.openxmlformats.org/officeDocument/2006/relationships/hyperlink" Target="https://www.channelnewsasia.com/cna-insider/big-read/pop-mart-labubu-worldwide-craze-5354541" TargetMode="External"/><Relationship Id="rId3" Type="http://schemas.openxmlformats.org/officeDocument/2006/relationships/hyperlink" Target="https://www.lseg.com/en/insights/data-analytics/labubu-craze-using-nlp-understand-behaviour-behind-market-surges-bubbles" TargetMode="External"/><Relationship Id="rId4" Type="http://schemas.openxmlformats.org/officeDocument/2006/relationships/hyperlink" Target="https://corporate.sanrio.co.jp/en/business-info/brands/hello_kity/index.html" TargetMode="External"/><Relationship Id="rId5" Type="http://schemas.openxmlformats.org/officeDocument/2006/relationships/hyperlink" Target="https://www.kakaocorp.com/page/detail/9439" TargetMode="External"/><Relationship Id="rId6" Type="http://schemas.openxmlformats.org/officeDocument/2006/relationships/hyperlink" Target="https://www.kakaocorp.com/page/detail/11555" TargetMode="External"/><Relationship Id="rId7" Type="http://schemas.openxmlformats.org/officeDocument/2006/relationships/hyperlink" Target="https://www.newspim.com/news/view/20250214000054" TargetMode="External"/><Relationship Id="rId8" Type="http://schemas.openxmlformats.org/officeDocument/2006/relationships/hyperlink" Target="https://m.fritz.co.kr/product/detail.html?cate_no=26&amp;display_group=1&amp;product_no=1879" TargetMode="External"/><Relationship Id="rId9" Type="http://schemas.openxmlformats.org/officeDocument/2006/relationships/hyperlink" Target="https://www.ghibli.jp/history/" TargetMode="External"/><Relationship Id="rId10" Type="http://schemas.openxmlformats.org/officeDocument/2006/relationships/hyperlink" Target="https://www.jungle.co.kr/magazine/203838" TargetMode="External"/><Relationship Id="rId11" Type="http://schemas.openxmlformats.org/officeDocument/2006/relationships/hyperlink" Target="https://corporate.pokemon.co.jp/en/aboutus/history/" TargetMode="External"/><Relationship Id="rId12" Type="http://schemas.openxmlformats.org/officeDocument/2006/relationships/hyperlink" Target="https://prtimes.jp/main/html/rd/p/000001725.000022901.html" TargetMode="External"/><Relationship Id="rId13" Type="http://schemas.openxmlformats.org/officeDocument/2006/relationships/hyperlink" Target="https://thealdrich.org/exhibitions/kaws-companion-passing-through" TargetMode="External"/><Relationship Id="rId14" Type="http://schemas.openxmlformats.org/officeDocument/2006/relationships/hyperlink" Target="https://friendswithyou.com/project/little-cloud-lamp" TargetMode="External"/><Relationship Id="rId15" Type="http://schemas.openxmlformats.org/officeDocument/2006/relationships/hyperlink" Target="https://happeningandfriends.com/article-detail/340?lang=en" TargetMode="External"/><Relationship Id="rId16" Type="http://schemas.openxmlformats.org/officeDocument/2006/relationships/hyperlink" Target="https://ninehy.tistory.com/entry/&#52852;&#52852;&#50724;&#53665;-&#51060;&#47784;&#54000;&#53080;&#44396;&#45285;&#51080;&#45716;-&#44396;&#45285;&#51060;" TargetMode="External"/><Relationship Id="rId17" Type="http://schemas.openxmlformats.org/officeDocument/2006/relationships/hyperlink" Target="https://ilovecharacter.com/news/newsview.php?ncode=1065589544292537" TargetMode="External"/><Relationship Id="rId18" Type="http://schemas.openxmlformats.org/officeDocument/2006/relationships/hyperlink" Target="https://blog.youtube/intl/ko-kr/creator-and-artist-stories/creator-of-the-month-november/" TargetMode="External"/><Relationship Id="rId19" Type="http://schemas.openxmlformats.org/officeDocument/2006/relationships/hyperlink" Target="https://www.hankyung.com/article/202607106965g" TargetMode="External"/><Relationship Id="rId20" Type="http://schemas.openxmlformats.org/officeDocument/2006/relationships/hyperlink" Target="https://en.joguman.com/23523535" TargetMode="External"/><Relationship Id="rId21" Type="http://schemas.openxmlformats.org/officeDocument/2006/relationships/hyperlink" Target="https://www.newswire.co.kr/newsRead.php?no=956571" TargetMode="External"/><Relationship Id="rId22" Type="http://schemas.openxmlformats.org/officeDocument/2006/relationships/hyperlink" Target="https://www.bt21.com/meetbt21?lang=ko" TargetMode="External"/><Relationship Id="rId23" Type="http://schemas.openxmlformats.org/officeDocument/2006/relationships/hyperlink" Target="https://news.sbs.co.kr/news/endPage.do?news_id=N1007773139" TargetMode="External"/><Relationship Id="rId24" Type="http://schemas.openxmlformats.org/officeDocument/2006/relationships/hyperlink" Target="https://jellycat.com/jellycat-fish-chips-experience-london/" TargetMode="External"/><Relationship Id="rId25" Type="http://schemas.openxmlformats.org/officeDocument/2006/relationships/hyperlink" Target="https://www.pokemon.co.jp/goods/2024/05/240531_to01.html" TargetMode="External"/><Relationship Id="rId26" Type="http://schemas.openxmlformats.org/officeDocument/2006/relationships/hyperlink" Target="https://welcon.kocca.kr/" TargetMode="External"/><Relationship Id="rId27" Type="http://schemas.openxmlformats.org/officeDocument/2006/relationships/hyperlink" Target="https://www.frontiersin.org/journals/psychology/articles/10.3389/fpsyg.2022.946527/full" TargetMode="External"/><Relationship Id="rId28" Type="http://schemas.openxmlformats.org/officeDocument/2006/relationships/hyperlink" Target="https://www.popmart.com/us/collection/the-monsters-have-a-seat" TargetMode="External"/><Relationship Id="rId29" Type="http://schemas.openxmlformats.org/officeDocument/2006/relationships/hyperlink" Target="https://finance-frontend-pc-dist.west.edge.storage-yahoo.jp/disclosure/20260623/20260623576856.pdf" TargetMode="External"/><Relationship Id="rId30" Type="http://schemas.openxmlformats.org/officeDocument/2006/relationships/hyperlink" Target="https://www.sanrio.co.jp/news/goods/pc-okigae-202502/?id=i7" TargetMode="External"/><Relationship Id="rId31" Type="http://schemas.openxmlformats.org/officeDocument/2006/relationships/hyperlink" Target="https://www.tiffany.com/world-of-tiffany/collaborations/daniel-arsham-pokemon.html" TargetMode="External"/><Relationship Id="rId32" Type="http://schemas.openxmlformats.org/officeDocument/2006/relationships/hyperlink" Target="https://www.kakaocorp.com/page/detail/9897" TargetMode="External"/><Relationship Id="rId33" Type="http://schemas.openxmlformats.org/officeDocument/2006/relationships/hyperlink" Target="https://www.korean-culture.org/koreanet/view.do?seq=1054437" TargetMode="External"/><Relationship Id="rId34" Type="http://schemas.openxmlformats.org/officeDocument/2006/relationships/hyperlink" Target="https://www.museumshop.or.kr/kor/product/product_view.do?str_bcode=030320009&amp;str_goodcode=202210250018" TargetMode="External"/><Relationship Id="rId35" Type="http://schemas.openxmlformats.org/officeDocument/2006/relationships/hyperlink" Target="https://v.daum.net/v/20200618151602666?s=print_news" TargetMode="External"/><Relationship Id="rId36" Type="http://schemas.openxmlformats.org/officeDocument/2006/relationships/hyperlink" Target="https://gov-naverworks.com/cases/fritzcoffeecompany/" TargetMode="External"/><Relationship Id="rId37" Type="http://schemas.openxmlformats.org/officeDocument/2006/relationships/hyperlink" Target="https://www.news1.kr/industry/distribution/3879053" TargetMode="External"/><Relationship Id="rId38" Type="http://schemas.openxmlformats.org/officeDocument/2006/relationships/slideLayout" Target="../slideLayouts/slideLayout2.xml"/><Relationship Id="rId39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3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CHARACTER IP CASE BOOK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6400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캐릭터 IP</a:t>
            </a:r>
            <a:endParaRPr lang="en-US" sz="4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사례 자료집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154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83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인기인가 · 무엇을 팔았나 · 묘브제에는 어떻게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7033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F58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17개 사례를 같은 질문 5개로 다시 읽고,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F58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어제 브랜딩 특강의 '브랜드 기본 체계'로 묘브제에 적용했습니다.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89204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C83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577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58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사례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057400" y="489204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C83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2057400" y="5577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58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질문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489204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C83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5577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58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인기 패턴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074920" y="489204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C83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5074920" y="5577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58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12월 검증</a:t>
            </a:r>
            <a:endParaRPr lang="en-US" sz="1100" dirty="0"/>
          </a:p>
        </p:txBody>
      </p:sp>
      <p:pic>
        <p:nvPicPr>
          <p:cNvPr id="14" name="Image 0" descr="/tmp/claude-0/-home-user-hoho/be02f18f-1e6f-5d80-8a1f-70cf34bf4c7e/scratchpad/build/crop/cov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5432" y="548640"/>
            <a:ext cx="4754880" cy="576072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6885432" y="63550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C85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2026.10.13 · 개인 참고용 · 이미지: POP MART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83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SUMMARY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장 요약: 인기 이유, 세일즈 포인트, 묘브제 적용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43584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58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질문을 5개로 고정하고 17개 사례를 같은 기준으로 다시 읽었습니다.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547872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3CBC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1488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C83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43200"/>
            <a:ext cx="2999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인기인가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91840"/>
            <a:ext cx="299923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멀리서도 알아보는 형태와, 같은 규칙 안의 변주가 기본입니다.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여기에 쓰는 장면·의미·사는 경험 중 하나 이상이 붙은 사례에서 상품화가 확인됩니다.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623560"/>
            <a:ext cx="566928" cy="237744"/>
          </a:xfrm>
          <a:prstGeom prst="rect">
            <a:avLst/>
          </a:prstGeom>
          <a:solidFill>
            <a:srgbClr val="E6E0D7"/>
          </a:solidFill>
          <a:ln w="12700">
            <a:solidFill>
              <a:srgbClr val="E6E0D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15968" y="1874520"/>
            <a:ext cx="3547872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3CBC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90288" y="21488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C83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4590288" y="2743200"/>
            <a:ext cx="2999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팔았나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590288" y="3291840"/>
            <a:ext cx="299923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캐릭터 자체보다 '어디에 두고, 어떻게 쓰고, 누구에게 주는지'를 팝니다.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진입 상품과 소장 상품을 나눈 가격 계단이 여러 사례에 공통으로 보입니다.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90288" y="5623560"/>
            <a:ext cx="566928" cy="237744"/>
          </a:xfrm>
          <a:prstGeom prst="rect">
            <a:avLst/>
          </a:prstGeom>
          <a:solidFill>
            <a:srgbClr val="E6E0D7"/>
          </a:solidFill>
          <a:ln w="12700">
            <a:solidFill>
              <a:srgbClr val="E6E0D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083296" y="1874520"/>
            <a:ext cx="3547872" cy="4206240"/>
          </a:xfrm>
          <a:prstGeom prst="rect">
            <a:avLst/>
          </a:prstGeom>
          <a:solidFill>
            <a:srgbClr val="C8321F"/>
          </a:solidFill>
          <a:ln w="12700">
            <a:solidFill>
              <a:srgbClr val="C8321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57616" y="21488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8357616" y="2743200"/>
            <a:ext cx="2999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묘브제에는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357616" y="3291840"/>
            <a:ext cx="299923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공통 실루엣은 고정, 물질만 변주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물질 설명 + 질문 카드로 맥락 전달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10cm 데스크 오브제 외에 진입 상품 검토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12월까지 실루엣·구매 이유·가격 검증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357616" y="56235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7E4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묘브제 적용 제안 · 검증 전 가설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8321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83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HOW TO READ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기준: 모든 사례에 같은 질문 5개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43584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58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어제 브랜딩 특강의 '브랜드 기본 체계'와 원고의 상품·가격 분석에서 가져왔습니다.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10312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3CBC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20299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C83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5603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 정체성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3035808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F58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누구에게 파는지 한 문장으로 말할 수 있나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44531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83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특강 · 쉽게 이해되게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98064" y="1828800"/>
            <a:ext cx="210312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3CBC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999232" y="20299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C83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2999232" y="25603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고객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2999232" y="3035808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F58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누가, 어떤 상황에서 사나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999232" y="44531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83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특강 · 핵심 고객부터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47488" y="1828800"/>
            <a:ext cx="210312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3CBC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248656" y="20299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C83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5248656" y="25603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인기 이유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5248656" y="3035808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F58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선택지와 비교해 기억에 남는 특징은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248656" y="44531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83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특강 · 차별점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296912" y="1828800"/>
            <a:ext cx="210312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3CBC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498080" y="20299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C83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7498080" y="25603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세일즈 포인트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7498080" y="3035808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F58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지갑을 열게 하는 상품 형태·가격·채널은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498080" y="44531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83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원고 · 상품·가격 분석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546336" y="1828800"/>
            <a:ext cx="210312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3CBC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747504" y="20299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C83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</a:t>
            </a:r>
            <a:endParaRPr lang="en-US" sz="2400" dirty="0"/>
          </a:p>
        </p:txBody>
      </p:sp>
      <p:sp>
        <p:nvSpPr>
          <p:cNvPr id="27" name="Text 25"/>
          <p:cNvSpPr txBox="1"/>
          <p:nvPr/>
        </p:nvSpPr>
        <p:spPr>
          <a:xfrm>
            <a:off x="9747504" y="25603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경험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9747504" y="3035808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F58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사는 과정이나 쓰는 장면에 재미가 있나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9747504" y="44531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83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특강 · 경험엔 재미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51937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표기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691640" y="5212080"/>
            <a:ext cx="566928" cy="237744"/>
          </a:xfrm>
          <a:prstGeom prst="rect">
            <a:avLst/>
          </a:prstGeom>
          <a:solidFill>
            <a:srgbClr val="C8321F"/>
          </a:solidFill>
          <a:ln w="12700">
            <a:solidFill>
              <a:srgbClr val="C832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2350008" y="52120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58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공시·공식 가격·출시 사실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4526280" y="5212080"/>
            <a:ext cx="56692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C832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83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5184648" y="52120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58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회사·기관의 설명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7360920" y="5212080"/>
            <a:ext cx="566928" cy="237744"/>
          </a:xfrm>
          <a:prstGeom prst="rect">
            <a:avLst/>
          </a:prstGeom>
          <a:solidFill>
            <a:srgbClr val="E6E0D7"/>
          </a:solidFill>
          <a:ln w="12700">
            <a:solidFill>
              <a:srgbClr val="E6E0D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8019288" y="52120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58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원고·이 자료의 분석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5650992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58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 숫자는 순위를 매기는 데 쓰지 않습니다. 회사 전체·IP 묶음·개별 상품처럼 범위가 달라 서로 비교할 수 없기 때문입니다.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8321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83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 POPULAR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인기 이유는 다섯 가지 패턴으로 묶인다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43584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58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원고의 사례 분석을 묶은 해석입니다. 소비자에게 직접 확인한 이유는 아닙니다.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10312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3CBC0"/>
            </a:solidFill>
            <a:prstDash val="solid"/>
          </a:ln>
        </p:spPr>
      </p:sp>
      <p:pic>
        <p:nvPicPr>
          <p:cNvPr id="6" name="Image 0" descr="/tmp/claude-0/-home-user-hoho/be02f18f-1e6f-5d80-8a1f-70cf34bf4c7e/scratchpad/build/crop/t_labubu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920240"/>
            <a:ext cx="886968" cy="886968"/>
          </a:xfrm>
          <a:prstGeom prst="rect">
            <a:avLst/>
          </a:prstGeom>
        </p:spPr>
      </p:pic>
      <p:pic>
        <p:nvPicPr>
          <p:cNvPr id="7" name="Image 1" descr="/tmp/claude-0/-home-user-hoho/be02f18f-1e6f-5d80-8a1f-70cf34bf4c7e/scratchpad/build/crop/t_kaw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632" y="1920240"/>
            <a:ext cx="886968" cy="88696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31520" y="299008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C83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3000" dirty="0"/>
          </a:p>
        </p:txBody>
      </p:sp>
      <p:sp>
        <p:nvSpPr>
          <p:cNvPr id="9" name="Text 5"/>
          <p:cNvSpPr txBox="1"/>
          <p:nvPr/>
        </p:nvSpPr>
        <p:spPr>
          <a:xfrm>
            <a:off x="731520" y="353872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알아보는 실루엣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731520" y="3995928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축소해도, 멀리서도 구별되는 형태 기호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731520" y="50292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83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731520" y="5276088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F58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라부부 치아 · KAWS X형 눈 · 토토로 배 무늬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2798064" y="1783080"/>
            <a:ext cx="210312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3CBC0"/>
            </a:solidFill>
            <a:prstDash val="solid"/>
          </a:ln>
        </p:spPr>
      </p:sp>
      <p:pic>
        <p:nvPicPr>
          <p:cNvPr id="14" name="Image 2" descr="/tmp/claude-0/-home-user-hoho/be02f18f-1e6f-5d80-8a1f-70cf34bf4c7e/scratchpad/build/crop/t_sanrio_kv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5224" y="1920240"/>
            <a:ext cx="886968" cy="886968"/>
          </a:xfrm>
          <a:prstGeom prst="rect">
            <a:avLst/>
          </a:prstGeom>
        </p:spPr>
      </p:pic>
      <p:pic>
        <p:nvPicPr>
          <p:cNvPr id="15" name="Image 3" descr="/tmp/claude-0/-home-user-hoho/be02f18f-1e6f-5d80-8a1f-70cf34bf4c7e/scratchpad/build/crop/t_pokemon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7056" y="1920240"/>
            <a:ext cx="886968" cy="886968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2980944" y="299008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C83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3000" dirty="0"/>
          </a:p>
        </p:txBody>
      </p:sp>
      <p:sp>
        <p:nvSpPr>
          <p:cNvPr id="17" name="Text 11"/>
          <p:cNvSpPr txBox="1"/>
          <p:nvPr/>
        </p:nvSpPr>
        <p:spPr>
          <a:xfrm>
            <a:off x="2980944" y="353872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규칙 + 변주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2980944" y="3995928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얼굴·색·이름은 고정, 의상·소재만 바꿈</a:t>
            </a:r>
            <a:endParaRPr 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2980944" y="50292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83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</a:t>
            </a:r>
            <a:endParaRPr lang="en-US" sz="1000" dirty="0"/>
          </a:p>
        </p:txBody>
      </p:sp>
      <p:sp>
        <p:nvSpPr>
          <p:cNvPr id="20" name="Text 14"/>
          <p:cNvSpPr txBox="1"/>
          <p:nvPr/>
        </p:nvSpPr>
        <p:spPr>
          <a:xfrm>
            <a:off x="2980944" y="5276088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F58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라부부 시리즈 · 산리오 · 포켓몬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5047488" y="1783080"/>
            <a:ext cx="210312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3CBC0"/>
            </a:solidFill>
            <a:prstDash val="solid"/>
          </a:ln>
        </p:spPr>
      </p:sp>
      <p:pic>
        <p:nvPicPr>
          <p:cNvPr id="22" name="Image 4" descr="/tmp/claude-0/-home-user-hoho/be02f18f-1e6f-5d80-8a1f-70cf34bf4c7e/scratchpad/build/crop/t_fwy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4648" y="1920240"/>
            <a:ext cx="886968" cy="886968"/>
          </a:xfrm>
          <a:prstGeom prst="rect">
            <a:avLst/>
          </a:prstGeom>
        </p:spPr>
      </p:pic>
      <p:pic>
        <p:nvPicPr>
          <p:cNvPr id="23" name="Image 5" descr="/tmp/claude-0/-home-user-hoho/be02f18f-1e6f-5d80-8a1f-70cf34bf4c7e/scratchpad/build/crop/t_hamzzi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1920240"/>
            <a:ext cx="886968" cy="886968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5230368" y="299008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C83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3000" dirty="0"/>
          </a:p>
        </p:txBody>
      </p:sp>
      <p:sp>
        <p:nvSpPr>
          <p:cNvPr id="25" name="Text 17"/>
          <p:cNvSpPr txBox="1"/>
          <p:nvPr/>
        </p:nvSpPr>
        <p:spPr>
          <a:xfrm>
            <a:off x="5230368" y="353872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쓰는 장면</a:t>
            </a:r>
            <a:endParaRPr lang="en-US" sz="1600" dirty="0"/>
          </a:p>
        </p:txBody>
      </p:sp>
      <p:sp>
        <p:nvSpPr>
          <p:cNvPr id="26" name="Text 18"/>
          <p:cNvSpPr txBox="1"/>
          <p:nvPr/>
        </p:nvSpPr>
        <p:spPr>
          <a:xfrm>
            <a:off x="5230368" y="3995928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가방·책상·조명처럼 쓰임이 정해진 상품</a:t>
            </a:r>
            <a:endParaRPr lang="en-US" sz="1300" dirty="0"/>
          </a:p>
        </p:txBody>
      </p:sp>
      <p:sp>
        <p:nvSpPr>
          <p:cNvPr id="27" name="Text 19"/>
          <p:cNvSpPr txBox="1"/>
          <p:nvPr/>
        </p:nvSpPr>
        <p:spPr>
          <a:xfrm>
            <a:off x="5230368" y="50292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83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</a:t>
            </a:r>
            <a:endParaRPr lang="en-US" sz="1000" dirty="0"/>
          </a:p>
        </p:txBody>
      </p:sp>
      <p:sp>
        <p:nvSpPr>
          <p:cNvPr id="28" name="Text 20"/>
          <p:cNvSpPr txBox="1"/>
          <p:nvPr/>
        </p:nvSpPr>
        <p:spPr>
          <a:xfrm>
            <a:off x="5230368" y="5276088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F58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라부부 펜던트 · 김햄찌 사무용품 · FWY 조명</a:t>
            </a:r>
            <a:endParaRPr lang="en-US" sz="1100" dirty="0"/>
          </a:p>
        </p:txBody>
      </p:sp>
      <p:sp>
        <p:nvSpPr>
          <p:cNvPr id="29" name="Shape 21"/>
          <p:cNvSpPr/>
          <p:nvPr/>
        </p:nvSpPr>
        <p:spPr>
          <a:xfrm>
            <a:off x="7296912" y="1783080"/>
            <a:ext cx="210312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3CBC0"/>
            </a:solidFill>
            <a:prstDash val="solid"/>
          </a:ln>
        </p:spPr>
      </p:sp>
      <p:pic>
        <p:nvPicPr>
          <p:cNvPr id="30" name="Image 6" descr="/tmp/claude-0/-home-user-hoho/be02f18f-1e6f-5d80-8a1f-70cf34bf4c7e/scratchpad/build/crop/t_muds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34072" y="1920240"/>
            <a:ext cx="886968" cy="886968"/>
          </a:xfrm>
          <a:prstGeom prst="rect">
            <a:avLst/>
          </a:prstGeom>
        </p:spPr>
      </p:pic>
      <p:pic>
        <p:nvPicPr>
          <p:cNvPr id="31" name="Image 7" descr="/tmp/claude-0/-home-user-hoho/be02f18f-1e6f-5d80-8a1f-70cf34bf4c7e/scratchpad/build/crop/t_fritz.jp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75904" y="1920240"/>
            <a:ext cx="886968" cy="886968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7479792" y="299008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C83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3000" dirty="0"/>
          </a:p>
        </p:txBody>
      </p:sp>
      <p:sp>
        <p:nvSpPr>
          <p:cNvPr id="33" name="Text 23"/>
          <p:cNvSpPr txBox="1"/>
          <p:nvPr/>
        </p:nvSpPr>
        <p:spPr>
          <a:xfrm>
            <a:off x="7479792" y="353872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맥락과 의미</a:t>
            </a:r>
            <a:endParaRPr lang="en-US" sz="1600" dirty="0"/>
          </a:p>
        </p:txBody>
      </p:sp>
      <p:sp>
        <p:nvSpPr>
          <p:cNvPr id="34" name="Text 24"/>
          <p:cNvSpPr txBox="1"/>
          <p:nvPr/>
        </p:nvSpPr>
        <p:spPr>
          <a:xfrm>
            <a:off x="7479792" y="3995928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출처·설명·원래 경험이 의미를 더함</a:t>
            </a:r>
            <a:endParaRPr lang="en-US" sz="1300" dirty="0"/>
          </a:p>
        </p:txBody>
      </p:sp>
      <p:sp>
        <p:nvSpPr>
          <p:cNvPr id="35" name="Text 25"/>
          <p:cNvSpPr txBox="1"/>
          <p:nvPr/>
        </p:nvSpPr>
        <p:spPr>
          <a:xfrm>
            <a:off x="7479792" y="50292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83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</a:t>
            </a:r>
            <a:endParaRPr lang="en-US" sz="1000" dirty="0"/>
          </a:p>
        </p:txBody>
      </p:sp>
      <p:sp>
        <p:nvSpPr>
          <p:cNvPr id="36" name="Text 26"/>
          <p:cNvSpPr txBox="1"/>
          <p:nvPr/>
        </p:nvSpPr>
        <p:spPr>
          <a:xfrm>
            <a:off x="7479792" y="5276088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F58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뮷즈 설명 카드 · 프릳츠 매장 경험</a:t>
            </a:r>
            <a:endParaRPr lang="en-US" sz="1100" dirty="0"/>
          </a:p>
        </p:txBody>
      </p:sp>
      <p:sp>
        <p:nvSpPr>
          <p:cNvPr id="37" name="Shape 27"/>
          <p:cNvSpPr/>
          <p:nvPr/>
        </p:nvSpPr>
        <p:spPr>
          <a:xfrm>
            <a:off x="9546336" y="1783080"/>
            <a:ext cx="210312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3CBC0"/>
            </a:solidFill>
            <a:prstDash val="solid"/>
          </a:ln>
        </p:spPr>
      </p:sp>
      <p:pic>
        <p:nvPicPr>
          <p:cNvPr id="38" name="Image 8" descr="/tmp/claude-0/-home-user-hoho/be02f18f-1e6f-5d80-8a1f-70cf34bf4c7e/scratchpad/build/crop/t_jellycat.jp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83496" y="1920240"/>
            <a:ext cx="886968" cy="886968"/>
          </a:xfrm>
          <a:prstGeom prst="rect">
            <a:avLst/>
          </a:prstGeom>
        </p:spPr>
      </p:pic>
      <p:pic>
        <p:nvPicPr>
          <p:cNvPr id="39" name="Image 9" descr="/tmp/claude-0/-home-user-hoho/be02f18f-1e6f-5d80-8a1f-70cf34bf4c7e/scratchpad/build/crop/t_kakao.jp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25328" y="1920240"/>
            <a:ext cx="886968" cy="886968"/>
          </a:xfrm>
          <a:prstGeom prst="rect">
            <a:avLst/>
          </a:prstGeom>
        </p:spPr>
      </p:pic>
      <p:sp>
        <p:nvSpPr>
          <p:cNvPr id="40" name="Text 28"/>
          <p:cNvSpPr txBox="1"/>
          <p:nvPr/>
        </p:nvSpPr>
        <p:spPr>
          <a:xfrm>
            <a:off x="9729216" y="299008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C83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3000" dirty="0"/>
          </a:p>
        </p:txBody>
      </p:sp>
      <p:sp>
        <p:nvSpPr>
          <p:cNvPr id="41" name="Text 29"/>
          <p:cNvSpPr txBox="1"/>
          <p:nvPr/>
        </p:nvSpPr>
        <p:spPr>
          <a:xfrm>
            <a:off x="9729216" y="353872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사는 경험</a:t>
            </a:r>
            <a:endParaRPr lang="en-US" sz="1600" dirty="0"/>
          </a:p>
        </p:txBody>
      </p:sp>
      <p:sp>
        <p:nvSpPr>
          <p:cNvPr id="42" name="Text 30"/>
          <p:cNvSpPr txBox="1"/>
          <p:nvPr/>
        </p:nvSpPr>
        <p:spPr>
          <a:xfrm>
            <a:off x="9729216" y="3995928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체험·개봉·행사가 그 자체로 콘텐츠</a:t>
            </a:r>
            <a:endParaRPr lang="en-US" sz="1300" dirty="0"/>
          </a:p>
        </p:txBody>
      </p:sp>
      <p:sp>
        <p:nvSpPr>
          <p:cNvPr id="43" name="Text 31"/>
          <p:cNvSpPr txBox="1"/>
          <p:nvPr/>
        </p:nvSpPr>
        <p:spPr>
          <a:xfrm>
            <a:off x="9729216" y="50292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83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</a:t>
            </a:r>
            <a:endParaRPr lang="en-US" sz="1000" dirty="0"/>
          </a:p>
        </p:txBody>
      </p:sp>
      <p:sp>
        <p:nvSpPr>
          <p:cNvPr id="44" name="Text 32"/>
          <p:cNvSpPr txBox="1"/>
          <p:nvPr/>
        </p:nvSpPr>
        <p:spPr>
          <a:xfrm>
            <a:off x="9729216" y="5276088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F58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Jellycat 체험 매장 · 카카오 팬 행사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8321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83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COMPARISON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17개 사례를 같은 기준으로 비교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43584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58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●는 원고가 그 사례의 핵심으로 다룬 패턴입니다. 마지막 열은 묘브제가 바로 참고할 수 있는 정도입니다.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4415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463040"/>
                <a:gridCol w="868680"/>
                <a:gridCol w="777240"/>
                <a:gridCol w="1005840"/>
                <a:gridCol w="777240"/>
                <a:gridCol w="777240"/>
                <a:gridCol w="2697480"/>
                <a:gridCol w="112471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32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지역·깊이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32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 실루엣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32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 변주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32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 쓰는 장면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32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 맥락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32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 경험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32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확보된 근거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32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묘브제 참고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321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A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라부부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F58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중국 운영사·심층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832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832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832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832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F58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IP 매출 +365.7% (확인)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832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◎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A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산리오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F58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일본·심층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832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832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F58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회사 매출 +33.9% (확인)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832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◎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8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A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포켓몬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F58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일본·심층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832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832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F58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티파니 협업 (확인)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A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○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A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카카오프렌즈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F58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한국·심층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832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832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F58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행사 방문 8.3만 명 (발표)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A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○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8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A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뮷즈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F58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한국·심층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832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832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F58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상품 매출 +94.2% (확인)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832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◎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A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프릳츠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F58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한국·심층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832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F58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연매출 약 80억 원, 2020 (발표)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832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◎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8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A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토토로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F58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일본·보통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832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832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F58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공식 상품 기록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A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○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A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KAWS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F58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미국·보통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832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F58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전시·협업 기록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A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○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8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A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FriendsWithYou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F58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미국·보통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832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F58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상품화 기록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832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◎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A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Jellycat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F58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영국·보통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832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F58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체험 매장 운영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832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◎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8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A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스티키몬스터랩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F58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한국·보통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832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832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F58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활동 기록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832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◎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A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구냥이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F58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한국·보통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832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F58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채널 진입 기록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A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○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8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A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김햄찌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F58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한국·보통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832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832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F58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구독·예약 반응 (발표)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A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○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A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조구만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F58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한국·짧음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832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F58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협업 기록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A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○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8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A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최고심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F58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한국·짧음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832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F58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협업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A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○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A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LINE·BT21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F58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한국·짧음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832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F58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상품 행사 기록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A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△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8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A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하츄핑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F58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한국·짧음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832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F58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연령별 선호 조사 (확인)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A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△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6181344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F58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◎ 형식·규모·카테고리가 가까워 바로 참고   ○ 일부 참고   △ 조건이 달라 참고 제한  ·  묘브제 참고 정도는 이 자료의 판단(해석)입니다.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8321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83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 POINT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세일즈 포인트: 진입 → 주력 → 소장의 가격 계단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43584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58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캐릭터라도 용도와 가격을 나눠, 처음 사는 사람과 팬을 함께 받습니다. 가격은 시장·시점이 달라 단순 비교하지 않습니다.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260604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3CBC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3200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C83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진입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367588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부담 없는 첫 구매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4041648"/>
            <a:ext cx="22860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8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프릳츠 랜덤 물개 키링 · 6,000원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8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THE MONSTERS Have a Seat · 26.99달러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8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포차코 마스코트 홀더 · 각 2,200엔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91840" y="2514600"/>
            <a:ext cx="2606040" cy="3566160"/>
          </a:xfrm>
          <a:prstGeom prst="rect">
            <a:avLst/>
          </a:prstGeom>
          <a:solidFill>
            <a:srgbClr val="F7E4DF"/>
          </a:solidFill>
          <a:ln w="12700">
            <a:solidFill>
              <a:srgbClr val="C8321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93008" y="2697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C83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주력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3493008" y="317296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브랜드를 대표하는 오브제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493008" y="3538728"/>
            <a:ext cx="2286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8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뮷즈 반가사유상 ver.3 · 65,000원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8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토토로 모래시계 · 9,680엔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35040" y="2011680"/>
            <a:ext cx="260604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3CBC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36208" y="21945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C83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소장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236208" y="267004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팬을 위한 큰 상품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236208" y="3035808"/>
            <a:ext cx="22860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8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LABUBU I FOUND YOU · 199.99달러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8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티파니 × 포켓몬 주얼리 (가격 미기재)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8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KAWS 작품·에디션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915400" y="2011680"/>
            <a:ext cx="2724912" cy="4069080"/>
          </a:xfrm>
          <a:prstGeom prst="rect">
            <a:avLst/>
          </a:prstGeom>
          <a:solidFill>
            <a:srgbClr val="C8321F"/>
          </a:solidFill>
          <a:ln w="12700">
            <a:solidFill>
              <a:srgbClr val="C8321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44000" y="2212848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묘브제는 지금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0" y="2606040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주력 한 단계만 계획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9144000" y="3108960"/>
            <a:ext cx="226771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10cm 데스크 오브제, 가설 가격 3.2만~5.9만 원 (사업계획서).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진입 상품(첫 구매)과 소장 상품(메인 15~18cm는 후속 계획)이 비어 있어, 가격 계단은 검토 과제입니다.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1447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85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S09 · N03 · N05 · N06 · N09 · S13 · S14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8321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7E4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01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심층 사례 6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5204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7E4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매출·가격·실행 근거가 가장 많은 사례입니다.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7E4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장에 한 사례, 같은 5개 질문으로 정리했습니다.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93776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라부부 · 02 산리오 · 03 포켓몬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카카오프렌즈 · 05 뮷즈 · 06 프릳츠</a:t>
            </a:r>
            <a:endParaRPr lang="en-US" sz="1300" dirty="0"/>
          </a:p>
        </p:txBody>
      </p:sp>
      <p:pic>
        <p:nvPicPr>
          <p:cNvPr id="6" name="Image 0" descr="/tmp/claude-0/-home-user-hoho/be02f18f-1e6f-5d80-8a1f-70cf34bf4c7e/scratchpad/build/crop/div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34072" y="548640"/>
            <a:ext cx="420624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hoho/be02f18f-1e6f-5d80-8a1f-70cf34bf4c7e/scratchpad/build/crop/d_labubu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4206240" cy="5394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594360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C85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이미지: POP MART 공식몰</a:t>
            </a:r>
            <a:endParaRPr lang="en-US" sz="850" dirty="0"/>
          </a:p>
        </p:txBody>
      </p:sp>
      <p:sp>
        <p:nvSpPr>
          <p:cNvPr id="4" name="Text 1"/>
          <p:cNvSpPr txBox="1"/>
          <p:nvPr/>
        </p:nvSpPr>
        <p:spPr>
          <a:xfrm>
            <a:off x="5074920" y="502920"/>
            <a:ext cx="65681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83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CASE 01 · 해외 심층 · 중국 운영사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074920" y="777240"/>
            <a:ext cx="4190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라부부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074920" y="1371600"/>
            <a:ext cx="6568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가방에 다는 장난스러운 몬스터 봉제 시리즈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074920" y="1874520"/>
            <a:ext cx="6568135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3CBC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257800" y="1938528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C83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+365.7%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7726680" y="1938528"/>
            <a:ext cx="31391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58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THE MONSTERS 매출 30.407억 → 141.611억 위안 (2024→2025). 라부부 단독 매출 아님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10911535" y="2121408"/>
            <a:ext cx="566928" cy="237744"/>
          </a:xfrm>
          <a:prstGeom prst="rect">
            <a:avLst/>
          </a:prstGeom>
          <a:solidFill>
            <a:srgbClr val="C8321F"/>
          </a:solidFill>
          <a:ln w="12700">
            <a:solidFill>
              <a:srgbClr val="C832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074920" y="2788920"/>
            <a:ext cx="6568135" cy="0"/>
          </a:xfrm>
          <a:prstGeom prst="line">
            <a:avLst/>
          </a:prstGeom>
          <a:noFill/>
          <a:ln w="12700">
            <a:solidFill>
              <a:srgbClr val="D3CBC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074920" y="289864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C83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고객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6537960" y="2880360"/>
            <a:ext cx="5105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가방에 달고 다니며 모으는 성인 수집가 (해석)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074920" y="3410712"/>
            <a:ext cx="6568135" cy="0"/>
          </a:xfrm>
          <a:prstGeom prst="line">
            <a:avLst/>
          </a:prstGeom>
          <a:noFill/>
          <a:ln w="12700">
            <a:solidFill>
              <a:srgbClr val="D3CBC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074920" y="35204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C83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인기 이유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6537960" y="3502152"/>
            <a:ext cx="5105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뾰족한 귀·드러난 치아로 멀리서도 구별. 같은 얼굴에 색·표정·의상만 바꿔 시리즈로 인식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074920" y="4032504"/>
            <a:ext cx="6568135" cy="0"/>
          </a:xfrm>
          <a:prstGeom prst="line">
            <a:avLst/>
          </a:prstGeom>
          <a:noFill/>
          <a:ln w="12700">
            <a:solidFill>
              <a:srgbClr val="D3CBC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074920" y="4142232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C83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세일즈 포인트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6537960" y="4123944"/>
            <a:ext cx="5105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26.99달러 진입 봉제부터 199.99달러 소장품까지 가격 계단. 가방에 달면 남에게 다시 보임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074920" y="4654296"/>
            <a:ext cx="6568135" cy="0"/>
          </a:xfrm>
          <a:prstGeom prst="line">
            <a:avLst/>
          </a:prstGeom>
          <a:noFill/>
          <a:ln w="12700">
            <a:solidFill>
              <a:srgbClr val="D3CBC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074920" y="4764024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C83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경험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6537960" y="4745736"/>
            <a:ext cx="5105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개봉 콘텐츠, 유명인 착용 장면이 크기·착용법을 보여 줌 (해석)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074920" y="5349240"/>
            <a:ext cx="6568135" cy="822960"/>
          </a:xfrm>
          <a:prstGeom prst="rect">
            <a:avLst/>
          </a:prstGeom>
          <a:solidFill>
            <a:srgbClr val="C8321F"/>
          </a:solidFill>
          <a:ln w="12700">
            <a:solidFill>
              <a:srgbClr val="C8321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257800" y="5413248"/>
            <a:ext cx="1188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묘브제에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가져올 것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6537960" y="5413248"/>
            <a:ext cx="492221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얼굴·실루엣은 고정하고 물질만 바꾸는 변주 규칙. 진입 상품과 소장 상품을 따로 설계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5074920" y="6236208"/>
            <a:ext cx="656813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C85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S01 · S02 · S03 · N03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8321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hoho/be02f18f-1e6f-5d80-8a1f-70cf34bf4c7e/scratchpad/build/crop/d_sanri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4206240" cy="5394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594360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C85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이미지: Sanrio 포차코 옷 갈아입기 시리즈</a:t>
            </a:r>
            <a:endParaRPr lang="en-US" sz="850" dirty="0"/>
          </a:p>
        </p:txBody>
      </p:sp>
      <p:sp>
        <p:nvSpPr>
          <p:cNvPr id="4" name="Text 1"/>
          <p:cNvSpPr txBox="1"/>
          <p:nvPr/>
        </p:nvSpPr>
        <p:spPr>
          <a:xfrm>
            <a:off x="5074920" y="502920"/>
            <a:ext cx="65681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83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CASE 02 · 해외 심층 · 일본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074920" y="777240"/>
            <a:ext cx="4190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산리오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074920" y="1371600"/>
            <a:ext cx="6568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취향대로 고르는 다중 캐릭터 생활 브랜드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074920" y="1874520"/>
            <a:ext cx="6568135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3CBC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257800" y="1938528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C83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+33.9%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7726680" y="1938528"/>
            <a:ext cx="31391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58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 매출 1,449.04억 → 1,940.88억 엔 (2025.3→2026.3 결산). 로열티 +36.3%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10911535" y="2121408"/>
            <a:ext cx="566928" cy="237744"/>
          </a:xfrm>
          <a:prstGeom prst="rect">
            <a:avLst/>
          </a:prstGeom>
          <a:solidFill>
            <a:srgbClr val="C8321F"/>
          </a:solidFill>
          <a:ln w="12700">
            <a:solidFill>
              <a:srgbClr val="C832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074920" y="2788920"/>
            <a:ext cx="6568135" cy="0"/>
          </a:xfrm>
          <a:prstGeom prst="line">
            <a:avLst/>
          </a:prstGeom>
          <a:noFill/>
          <a:ln w="12700">
            <a:solidFill>
              <a:srgbClr val="D3CBC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074920" y="289864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C83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고객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6537960" y="2880360"/>
            <a:ext cx="5105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생활용품을 반복해서 사는 폭넓은 층 (해석)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074920" y="3410712"/>
            <a:ext cx="6568135" cy="0"/>
          </a:xfrm>
          <a:prstGeom prst="line">
            <a:avLst/>
          </a:prstGeom>
          <a:noFill/>
          <a:ln w="12700">
            <a:solidFill>
              <a:srgbClr val="D3CBC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074920" y="35204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C83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인기 이유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6537960" y="3502152"/>
            <a:ext cx="5105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얼굴·대표색·이름은 지키고 시즌 의상만 바꿔 친숙함과 새로움을 함께 줌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074920" y="4032504"/>
            <a:ext cx="6568135" cy="0"/>
          </a:xfrm>
          <a:prstGeom prst="line">
            <a:avLst/>
          </a:prstGeom>
          <a:noFill/>
          <a:ln w="12700">
            <a:solidFill>
              <a:srgbClr val="D3CBC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074920" y="4142232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C83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세일즈 포인트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6537960" y="4123944"/>
            <a:ext cx="5105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주인공을 여러 생활 영역 상품으로. 포차코 마스코트 홀더 각 2,200엔 (2025)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074920" y="4654296"/>
            <a:ext cx="6568135" cy="0"/>
          </a:xfrm>
          <a:prstGeom prst="line">
            <a:avLst/>
          </a:prstGeom>
          <a:noFill/>
          <a:ln w="12700">
            <a:solidFill>
              <a:srgbClr val="D3CBC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074920" y="4764024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C83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경험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6537960" y="4745736"/>
            <a:ext cx="5105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긴 애니메이션을 몰라도 고를 수 있어 입문이 쉬움. 이후 깊은 콘텐츠로 이동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074920" y="5349240"/>
            <a:ext cx="6568135" cy="822960"/>
          </a:xfrm>
          <a:prstGeom prst="rect">
            <a:avLst/>
          </a:prstGeom>
          <a:solidFill>
            <a:srgbClr val="C8321F"/>
          </a:solidFill>
          <a:ln w="12700">
            <a:solidFill>
              <a:srgbClr val="C8321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257800" y="5413248"/>
            <a:ext cx="1188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묘브제에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가져올 것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6537960" y="5413248"/>
            <a:ext cx="492221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5종은 '고르는 재미'. 토끼별 대표색·이름·질문을 고정해 취향 선택을 쉽게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5074920" y="6236208"/>
            <a:ext cx="656813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C85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S04 · N04 · N05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8321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hoho/be02f18f-1e6f-5d80-8a1f-70cf34bf4c7e/scratchpad/build/crop/d_pokem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4206240" cy="5394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594360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C85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이미지: Tiffany &amp; Co. × Daniel Arsham × Pokémon</a:t>
            </a:r>
            <a:endParaRPr lang="en-US" sz="850" dirty="0"/>
          </a:p>
        </p:txBody>
      </p:sp>
      <p:sp>
        <p:nvSpPr>
          <p:cNvPr id="4" name="Text 1"/>
          <p:cNvSpPr txBox="1"/>
          <p:nvPr/>
        </p:nvSpPr>
        <p:spPr>
          <a:xfrm>
            <a:off x="5074920" y="502920"/>
            <a:ext cx="65681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83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CASE 03 · 해외 심층 · 일본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074920" y="777240"/>
            <a:ext cx="4190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포켓몬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074920" y="1371600"/>
            <a:ext cx="6568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골라 모으는 분류 체계를 가진 IP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074920" y="1874520"/>
            <a:ext cx="6568135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3CBC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257800" y="1938528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C83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7726680" y="1938528"/>
            <a:ext cx="31391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58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티파니 협업으로 성인 장신구 유통 진입. 판매액은 미확보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10911535" y="2121408"/>
            <a:ext cx="566928" cy="237744"/>
          </a:xfrm>
          <a:prstGeom prst="rect">
            <a:avLst/>
          </a:prstGeom>
          <a:solidFill>
            <a:srgbClr val="C8321F"/>
          </a:solidFill>
          <a:ln w="12700">
            <a:solidFill>
              <a:srgbClr val="C832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074920" y="2788920"/>
            <a:ext cx="6568135" cy="0"/>
          </a:xfrm>
          <a:prstGeom prst="line">
            <a:avLst/>
          </a:prstGeom>
          <a:noFill/>
          <a:ln w="12700">
            <a:solidFill>
              <a:srgbClr val="D3CBC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074920" y="289864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C83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고객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6537960" y="2880360"/>
            <a:ext cx="5105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어린 시절 팬이 성인이 되어 본인용으로 사는 층 (해석)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074920" y="3410712"/>
            <a:ext cx="6568135" cy="0"/>
          </a:xfrm>
          <a:prstGeom prst="line">
            <a:avLst/>
          </a:prstGeom>
          <a:noFill/>
          <a:ln w="12700">
            <a:solidFill>
              <a:srgbClr val="D3CBC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074920" y="35204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C83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인기 이유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6537960" y="3502152"/>
            <a:ext cx="5105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이름·외형으로 구분되는 캐릭터. 새 상품이 기존 분류 안에서 어디인지 이해하기 쉬움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074920" y="4032504"/>
            <a:ext cx="6568135" cy="0"/>
          </a:xfrm>
          <a:prstGeom prst="line">
            <a:avLst/>
          </a:prstGeom>
          <a:noFill/>
          <a:ln w="12700">
            <a:solidFill>
              <a:srgbClr val="D3CBC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074920" y="4142232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C83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세일즈 포인트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6537960" y="4123944"/>
            <a:ext cx="5105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 단위(좋아하는 한 마리·세대·지역). 성인용은 소재(실버·18K 골드)와 판매 장소를 바꿈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074920" y="4654296"/>
            <a:ext cx="6568135" cy="0"/>
          </a:xfrm>
          <a:prstGeom prst="line">
            <a:avLst/>
          </a:prstGeom>
          <a:noFill/>
          <a:ln w="12700">
            <a:solidFill>
              <a:srgbClr val="D3CBC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074920" y="4764024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C83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경험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6537960" y="4745736"/>
            <a:ext cx="5105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게임에서 모으던 경험을 상품 수집으로 옮기기 쉬움 (해석)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074920" y="5349240"/>
            <a:ext cx="6568135" cy="822960"/>
          </a:xfrm>
          <a:prstGeom prst="rect">
            <a:avLst/>
          </a:prstGeom>
          <a:solidFill>
            <a:srgbClr val="C8321F"/>
          </a:solidFill>
          <a:ln w="12700">
            <a:solidFill>
              <a:srgbClr val="C8321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257800" y="5413248"/>
            <a:ext cx="1188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묘브제에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가져올 것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6537960" y="5413248"/>
            <a:ext cx="492221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물질 도감처럼 5종의 위치를 한눈에. 성인용 고급화는 다시 그리기보다 소재·마감으로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5074920" y="6236208"/>
            <a:ext cx="656813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C85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S12 · S27 · N06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8321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hoho/be02f18f-1e6f-5d80-8a1f-70cf34bf4c7e/scratchpad/build/crop/d_kaka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4206240" cy="5394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594360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C85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이미지: 카카오 춘식이 콘텐츠</a:t>
            </a:r>
            <a:endParaRPr lang="en-US" sz="850" dirty="0"/>
          </a:p>
        </p:txBody>
      </p:sp>
      <p:sp>
        <p:nvSpPr>
          <p:cNvPr id="4" name="Text 1"/>
          <p:cNvSpPr txBox="1"/>
          <p:nvPr/>
        </p:nvSpPr>
        <p:spPr>
          <a:xfrm>
            <a:off x="5074920" y="502920"/>
            <a:ext cx="65681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83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CASE 04 · 국내 심층 · 한국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074920" y="777240"/>
            <a:ext cx="4190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카카오프렌즈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074920" y="1371600"/>
            <a:ext cx="6568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메신저에서 매일 쓰는 감정 표현 캐릭터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074920" y="1874520"/>
            <a:ext cx="6568135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3CBC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257800" y="1938528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C83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83,000명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7726680" y="1938528"/>
            <a:ext cx="31391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58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2022 라춘댄스 시즌2 더현대 서울 행사 방문자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10911535" y="2121408"/>
            <a:ext cx="56692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C832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83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074920" y="2788920"/>
            <a:ext cx="6568135" cy="0"/>
          </a:xfrm>
          <a:prstGeom prst="line">
            <a:avLst/>
          </a:prstGeom>
          <a:noFill/>
          <a:ln w="12700">
            <a:solidFill>
              <a:srgbClr val="D3CBC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074920" y="289864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C83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고객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6537960" y="2880360"/>
            <a:ext cx="5105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메신저 사용자 전반, 그중 팬 활동을 하는 층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074920" y="3410712"/>
            <a:ext cx="6568135" cy="0"/>
          </a:xfrm>
          <a:prstGeom prst="line">
            <a:avLst/>
          </a:prstGeom>
          <a:noFill/>
          <a:ln w="12700">
            <a:solidFill>
              <a:srgbClr val="D3CBC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074920" y="35204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C83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인기 이유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6537960" y="3502152"/>
            <a:ext cx="5105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단순한 얼굴과 분명한 색으로 작은 화면에서도 식별. 라이언·춘식이의 짧은 관계 장면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074920" y="4032504"/>
            <a:ext cx="6568135" cy="0"/>
          </a:xfrm>
          <a:prstGeom prst="line">
            <a:avLst/>
          </a:prstGeom>
          <a:noFill/>
          <a:ln w="12700">
            <a:solidFill>
              <a:srgbClr val="D3CBC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074920" y="4142232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C83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세일즈 포인트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6537960" y="4123944"/>
            <a:ext cx="5105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쓰는 친숙함을 봉제·문구·팝업 상품으로 옮김. IP별 상품 매출은 미공개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074920" y="4654296"/>
            <a:ext cx="6568135" cy="0"/>
          </a:xfrm>
          <a:prstGeom prst="line">
            <a:avLst/>
          </a:prstGeom>
          <a:noFill/>
          <a:ln w="12700">
            <a:solidFill>
              <a:srgbClr val="D3CBC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074920" y="4764024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C83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경험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6537960" y="4745736"/>
            <a:ext cx="5105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공연형 행사, 팬클럽·팬미팅으로 보는 대상에서 참여하는 대상으로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074920" y="5349240"/>
            <a:ext cx="6568135" cy="822960"/>
          </a:xfrm>
          <a:prstGeom prst="rect">
            <a:avLst/>
          </a:prstGeom>
          <a:solidFill>
            <a:srgbClr val="C8321F"/>
          </a:solidFill>
          <a:ln w="12700">
            <a:solidFill>
              <a:srgbClr val="C8321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257800" y="5413248"/>
            <a:ext cx="1188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묘브제에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가져올 것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6537960" y="5413248"/>
            <a:ext cx="492221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SNS에 반복할 짧은 장면 단위 콘텐츠. 토끼별 질문을 한 장면씩 보여주기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5074920" y="6236208"/>
            <a:ext cx="656813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C85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S06 · S07 · N01 · N07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8321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hoho/be02f18f-1e6f-5d80-8a1f-70cf34bf4c7e/scratchpad/build/crop/d_mud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4206240" cy="5394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594360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C85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이미지: 국립박물관문화재단 반가사유상 미니어처</a:t>
            </a:r>
            <a:endParaRPr lang="en-US" sz="850" dirty="0"/>
          </a:p>
        </p:txBody>
      </p:sp>
      <p:sp>
        <p:nvSpPr>
          <p:cNvPr id="4" name="Text 1"/>
          <p:cNvSpPr txBox="1"/>
          <p:nvPr/>
        </p:nvSpPr>
        <p:spPr>
          <a:xfrm>
            <a:off x="5074920" y="502920"/>
            <a:ext cx="65681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83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CASE 05 · 국내 심층 · 한국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074920" y="777240"/>
            <a:ext cx="4190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뮷즈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074920" y="1371600"/>
            <a:ext cx="6568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유물을 일상에 두는 박물관 상품 브랜드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074920" y="1874520"/>
            <a:ext cx="6568135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3CBC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257800" y="1938528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C83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+94.2%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7726680" y="1938528"/>
            <a:ext cx="31391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58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재단 상품 매출 212억 8,400만 → 413억 3,700만 원 (2024→2025)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10911535" y="2121408"/>
            <a:ext cx="566928" cy="237744"/>
          </a:xfrm>
          <a:prstGeom prst="rect">
            <a:avLst/>
          </a:prstGeom>
          <a:solidFill>
            <a:srgbClr val="C8321F"/>
          </a:solidFill>
          <a:ln w="12700">
            <a:solidFill>
              <a:srgbClr val="C832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074920" y="2788920"/>
            <a:ext cx="6568135" cy="0"/>
          </a:xfrm>
          <a:prstGeom prst="line">
            <a:avLst/>
          </a:prstGeom>
          <a:noFill/>
          <a:ln w="12700">
            <a:solidFill>
              <a:srgbClr val="D3CBC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074920" y="289864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C83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고객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6537960" y="2880360"/>
            <a:ext cx="5105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관람객과 선물을 고르는 사람 (해석)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074920" y="3410712"/>
            <a:ext cx="6568135" cy="0"/>
          </a:xfrm>
          <a:prstGeom prst="line">
            <a:avLst/>
          </a:prstGeom>
          <a:noFill/>
          <a:ln w="12700">
            <a:solidFill>
              <a:srgbClr val="D3CBC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074920" y="35204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C83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인기 이유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6537960" y="3502152"/>
            <a:ext cx="5105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박물관의 공신력, 집에 둘 수 있는 크기·색으로 전시물과의 거리를 줄임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074920" y="4032504"/>
            <a:ext cx="6568135" cy="0"/>
          </a:xfrm>
          <a:prstGeom prst="line">
            <a:avLst/>
          </a:prstGeom>
          <a:noFill/>
          <a:ln w="12700">
            <a:solidFill>
              <a:srgbClr val="D3CBC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074920" y="4142232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C83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세일즈 포인트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6537960" y="4123944"/>
            <a:ext cx="5105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레진 155mm 미니어처 65,000원. 다국어 설명 카드·패키지가 선물의 의미를 전함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074920" y="4654296"/>
            <a:ext cx="6568135" cy="0"/>
          </a:xfrm>
          <a:prstGeom prst="line">
            <a:avLst/>
          </a:prstGeom>
          <a:noFill/>
          <a:ln w="12700">
            <a:solidFill>
              <a:srgbClr val="D3CBC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074920" y="4764024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C83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경험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6537960" y="4745736"/>
            <a:ext cx="5105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전시실에서 본 대상을 집으로 가져가는 경험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074920" y="5349240"/>
            <a:ext cx="6568135" cy="822960"/>
          </a:xfrm>
          <a:prstGeom prst="rect">
            <a:avLst/>
          </a:prstGeom>
          <a:solidFill>
            <a:srgbClr val="C8321F"/>
          </a:solidFill>
          <a:ln w="12700">
            <a:solidFill>
              <a:srgbClr val="C8321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257800" y="5413248"/>
            <a:ext cx="1188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묘브제에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가져올 것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6537960" y="5413248"/>
            <a:ext cx="492221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가까운 형식. 10cm 레진 오브제 + 물질 설명 카드 + 질문 카드 패키지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5074920" y="6236208"/>
            <a:ext cx="656813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C85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S08 · S11 · N08 · N09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8321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hoho/be02f18f-1e6f-5d80-8a1f-70cf34bf4c7e/scratchpad/build/crop/d_fritz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4206240" cy="5394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594360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C85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이미지: 프릳츠 랜덤 물개 키링</a:t>
            </a:r>
            <a:endParaRPr lang="en-US" sz="850" dirty="0"/>
          </a:p>
        </p:txBody>
      </p:sp>
      <p:sp>
        <p:nvSpPr>
          <p:cNvPr id="4" name="Text 1"/>
          <p:cNvSpPr txBox="1"/>
          <p:nvPr/>
        </p:nvSpPr>
        <p:spPr>
          <a:xfrm>
            <a:off x="5074920" y="502920"/>
            <a:ext cx="65681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83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CASE 06 · 국내 심층 · 한국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074920" y="777240"/>
            <a:ext cx="4190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프릳츠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074920" y="1371600"/>
            <a:ext cx="6568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커피 경험을 기억하게 하는 물개 표식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074920" y="1874520"/>
            <a:ext cx="6568135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3CBC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257800" y="1938528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C83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₩6,000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7726680" y="1938528"/>
            <a:ext cx="31391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58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랜덤 물개 키링, 약 35mm 아크릴, 10종 (공식몰 2026-10-13 관찰)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10911535" y="2121408"/>
            <a:ext cx="566928" cy="237744"/>
          </a:xfrm>
          <a:prstGeom prst="rect">
            <a:avLst/>
          </a:prstGeom>
          <a:solidFill>
            <a:srgbClr val="C8321F"/>
          </a:solidFill>
          <a:ln w="12700">
            <a:solidFill>
              <a:srgbClr val="C832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074920" y="2788920"/>
            <a:ext cx="6568135" cy="0"/>
          </a:xfrm>
          <a:prstGeom prst="line">
            <a:avLst/>
          </a:prstGeom>
          <a:noFill/>
          <a:ln w="12700">
            <a:solidFill>
              <a:srgbClr val="D3CBC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074920" y="289864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C83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고객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6537960" y="2880360"/>
            <a:ext cx="5105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매장 방문객과 원두를 사는 사람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074920" y="3410712"/>
            <a:ext cx="6568135" cy="0"/>
          </a:xfrm>
          <a:prstGeom prst="line">
            <a:avLst/>
          </a:prstGeom>
          <a:noFill/>
          <a:ln w="12700">
            <a:solidFill>
              <a:srgbClr val="D3CBC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074920" y="35204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C83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인기 이유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6537960" y="3502152"/>
            <a:ext cx="5105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물개는 커피 기능이 아닌 시각 표식. 매장·패키지·굿즈를 같은 브랜드로 기억하게 함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074920" y="4032504"/>
            <a:ext cx="6568135" cy="0"/>
          </a:xfrm>
          <a:prstGeom prst="line">
            <a:avLst/>
          </a:prstGeom>
          <a:noFill/>
          <a:ln w="12700">
            <a:solidFill>
              <a:srgbClr val="D3CBC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074920" y="4142232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C83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세일즈 포인트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6537960" y="4123944"/>
            <a:ext cx="5105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부담 없는 6,000원 진입 상품. 회사 연매출 약 80억 원은 2020년 회사 전체 수치 (발표)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074920" y="4654296"/>
            <a:ext cx="6568135" cy="0"/>
          </a:xfrm>
          <a:prstGeom prst="line">
            <a:avLst/>
          </a:prstGeom>
          <a:noFill/>
          <a:ln w="12700">
            <a:solidFill>
              <a:srgbClr val="D3CBC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074920" y="4764024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C83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경험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6537960" y="4745736"/>
            <a:ext cx="5105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방문하고 마시고 선물한 경험이 상품의 의미가 됨 (해석)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074920" y="5349240"/>
            <a:ext cx="6568135" cy="822960"/>
          </a:xfrm>
          <a:prstGeom prst="rect">
            <a:avLst/>
          </a:prstGeom>
          <a:solidFill>
            <a:srgbClr val="C8321F"/>
          </a:solidFill>
          <a:ln w="12700">
            <a:solidFill>
              <a:srgbClr val="C8321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257800" y="5413248"/>
            <a:ext cx="1188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묘브제에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가져올 것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6537960" y="5413248"/>
            <a:ext cx="492221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브랜드의 모델. 조소 작가의 손 마감 과정을 경험 자산으로 보여주기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5074920" y="6236208"/>
            <a:ext cx="656813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C85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S09 · N10 · N11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8321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7E4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02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 사례 11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5204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7E4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보통 깊이 7개와 짧은 비교 4개입니다.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7E4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인기 이유 · 세일즈 포인트 · 묘브제 힌트 세 줄로 줄였습니다.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93776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토토로 · KAWS · FriendsWithYou · Jellycat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스티키몬스터랩 · 구냥이 · 김햄찌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조구만 · 최고심 · LINE·BT21 · 하츄핑</a:t>
            </a:r>
            <a:endParaRPr lang="en-US" sz="1300" dirty="0"/>
          </a:p>
        </p:txBody>
      </p:sp>
      <p:pic>
        <p:nvPicPr>
          <p:cNvPr id="6" name="Image 0" descr="/tmp/claude-0/-home-user-hoho/be02f18f-1e6f-5d80-8a1f-70cf34bf4c7e/scratchpad/build/crop/div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34072" y="548640"/>
            <a:ext cx="420624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83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GLOBAL · 보통 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영화·미술·체험에서 출발한 네 가지 상품화</a:t>
            </a:r>
            <a:endParaRPr lang="en-US" sz="2600" dirty="0"/>
          </a:p>
        </p:txBody>
      </p:sp>
      <p:pic>
        <p:nvPicPr>
          <p:cNvPr id="4" name="Image 0" descr="/tmp/claude-0/-home-user-hoho/be02f18f-1e6f-5d80-8a1f-70cf34bf4c7e/scratchpad/build/crop/m_totor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2606040" cy="1600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127248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토토로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456432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58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일본 · 영화 1988 · 이후 봉제·생활용품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79476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83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인기 이유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995928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58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둥근 덩어리·귀·배 무늬처럼 남길 특징이 분명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50799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83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세일즈 포인트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709160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58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영화 기억을 머그 3,960엔·모래시계 9,680엔 같은 생활용품으로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5221224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83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묘브제 힌트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5422392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형태 특징 2~3개만 남겨도 알아보게</a:t>
            </a:r>
            <a:endParaRPr lang="en-US" sz="1100" dirty="0"/>
          </a:p>
        </p:txBody>
      </p:sp>
      <p:pic>
        <p:nvPicPr>
          <p:cNvPr id="13" name="Image 1" descr="/tmp/claude-0/-home-user-hoho/be02f18f-1e6f-5d80-8a1f-70cf34bf4c7e/scratchpad/build/crop/m_kaw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4992" y="1417320"/>
            <a:ext cx="2606040" cy="16002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364992" y="3127248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KAWS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3364992" y="3456432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58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미국 · COMPANION 1999 · 대중 협업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3364992" y="379476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83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인기 이유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3364992" y="3995928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58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X형 눈이라는 식별 기호를 모든 상품에 유지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3364992" y="450799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83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세일즈 포인트</a:t>
            </a:r>
            <a:endParaRPr 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3364992" y="4709160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58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작품·소장품·의류로 접근 가격을 나눔 (유니클로 협업)</a:t>
            </a:r>
            <a:endParaRPr lang="en-US" sz="1100" dirty="0"/>
          </a:p>
        </p:txBody>
      </p:sp>
      <p:sp>
        <p:nvSpPr>
          <p:cNvPr id="20" name="Text 16"/>
          <p:cNvSpPr txBox="1"/>
          <p:nvPr/>
        </p:nvSpPr>
        <p:spPr>
          <a:xfrm>
            <a:off x="3364992" y="5221224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83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묘브제 힌트</a:t>
            </a:r>
            <a:endParaRPr lang="en-US" sz="1000" dirty="0"/>
          </a:p>
        </p:txBody>
      </p:sp>
      <p:sp>
        <p:nvSpPr>
          <p:cNvPr id="21" name="Text 17"/>
          <p:cNvSpPr txBox="1"/>
          <p:nvPr/>
        </p:nvSpPr>
        <p:spPr>
          <a:xfrm>
            <a:off x="3364992" y="5422392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작가 조형과 대중 상품의 가격 단계 분리</a:t>
            </a:r>
            <a:endParaRPr lang="en-US" sz="1100" dirty="0"/>
          </a:p>
        </p:txBody>
      </p:sp>
      <p:pic>
        <p:nvPicPr>
          <p:cNvPr id="22" name="Image 2" descr="/tmp/claude-0/-home-user-hoho/be02f18f-1e6f-5d80-8a1f-70cf34bf4c7e/scratchpad/build/crop/m_fwy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1344" y="1417320"/>
            <a:ext cx="2606040" cy="160020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6181344" y="3127248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FriendsWithYou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6181344" y="3456432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58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미국 · 2002 · 2022 Little Cloud Lamp</a:t>
            </a:r>
            <a:endParaRPr lang="en-US" sz="1000" dirty="0"/>
          </a:p>
        </p:txBody>
      </p:sp>
      <p:sp>
        <p:nvSpPr>
          <p:cNvPr id="25" name="Text 20"/>
          <p:cNvSpPr txBox="1"/>
          <p:nvPr/>
        </p:nvSpPr>
        <p:spPr>
          <a:xfrm>
            <a:off x="6181344" y="379476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83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인기 이유</a:t>
            </a:r>
            <a:endParaRPr lang="en-US" sz="1000" dirty="0"/>
          </a:p>
        </p:txBody>
      </p:sp>
      <p:sp>
        <p:nvSpPr>
          <p:cNvPr id="26" name="Text 21"/>
          <p:cNvSpPr txBox="1"/>
          <p:nvPr/>
        </p:nvSpPr>
        <p:spPr>
          <a:xfrm>
            <a:off x="6181344" y="3995928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58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구름 형태가 확산광·조명 쓰임과 잘 맞음</a:t>
            </a:r>
            <a:endParaRPr lang="en-US" sz="1100" dirty="0"/>
          </a:p>
        </p:txBody>
      </p:sp>
      <p:sp>
        <p:nvSpPr>
          <p:cNvPr id="27" name="Text 22"/>
          <p:cNvSpPr txBox="1"/>
          <p:nvPr/>
        </p:nvSpPr>
        <p:spPr>
          <a:xfrm>
            <a:off x="6181344" y="450799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83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세일즈 포인트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6181344" y="4709160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58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예술 프로젝트의 형태를 실제 생활 기능으로</a:t>
            </a:r>
            <a:endParaRPr lang="en-US" sz="1100" dirty="0"/>
          </a:p>
        </p:txBody>
      </p:sp>
      <p:sp>
        <p:nvSpPr>
          <p:cNvPr id="29" name="Text 24"/>
          <p:cNvSpPr txBox="1"/>
          <p:nvPr/>
        </p:nvSpPr>
        <p:spPr>
          <a:xfrm>
            <a:off x="6181344" y="5221224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83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묘브제 힌트</a:t>
            </a:r>
            <a:endParaRPr lang="en-US" sz="1000" dirty="0"/>
          </a:p>
        </p:txBody>
      </p:sp>
      <p:sp>
        <p:nvSpPr>
          <p:cNvPr id="30" name="Text 25"/>
          <p:cNvSpPr txBox="1"/>
          <p:nvPr/>
        </p:nvSpPr>
        <p:spPr>
          <a:xfrm>
            <a:off x="6181344" y="5422392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구름토끼: 형태와 쓰임이 맞는 상품 검토</a:t>
            </a:r>
            <a:endParaRPr lang="en-US" sz="1100" dirty="0"/>
          </a:p>
        </p:txBody>
      </p:sp>
      <p:pic>
        <p:nvPicPr>
          <p:cNvPr id="31" name="Image 3" descr="/tmp/claude-0/-home-user-hoho/be02f18f-1e6f-5d80-8a1f-70cf34bf4c7e/scratchpad/build/crop/m_jellycat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7696" y="1417320"/>
            <a:ext cx="2606040" cy="1600200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8997696" y="3127248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Jellycat</a:t>
            </a:r>
            <a:endParaRPr lang="en-US" sz="1600" dirty="0"/>
          </a:p>
        </p:txBody>
      </p:sp>
      <p:sp>
        <p:nvSpPr>
          <p:cNvPr id="33" name="Text 27"/>
          <p:cNvSpPr txBox="1"/>
          <p:nvPr/>
        </p:nvSpPr>
        <p:spPr>
          <a:xfrm>
            <a:off x="8997696" y="3456432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58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영국 · 1999 · 2024 런던 Fish &amp; Chips</a:t>
            </a:r>
            <a:endParaRPr lang="en-US" sz="1000" dirty="0"/>
          </a:p>
        </p:txBody>
      </p:sp>
      <p:sp>
        <p:nvSpPr>
          <p:cNvPr id="34" name="Text 28"/>
          <p:cNvSpPr txBox="1"/>
          <p:nvPr/>
        </p:nvSpPr>
        <p:spPr>
          <a:xfrm>
            <a:off x="8997696" y="379476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83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인기 이유</a:t>
            </a:r>
            <a:endParaRPr lang="en-US" sz="1000" dirty="0"/>
          </a:p>
        </p:txBody>
      </p:sp>
      <p:sp>
        <p:nvSpPr>
          <p:cNvPr id="35" name="Text 29"/>
          <p:cNvSpPr txBox="1"/>
          <p:nvPr/>
        </p:nvSpPr>
        <p:spPr>
          <a:xfrm>
            <a:off x="8997696" y="3995928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58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음식·사물에도 얼굴과 팔다리를 부여</a:t>
            </a:r>
            <a:endParaRPr lang="en-US" sz="1100" dirty="0"/>
          </a:p>
        </p:txBody>
      </p:sp>
      <p:sp>
        <p:nvSpPr>
          <p:cNvPr id="36" name="Text 30"/>
          <p:cNvSpPr txBox="1"/>
          <p:nvPr/>
        </p:nvSpPr>
        <p:spPr>
          <a:xfrm>
            <a:off x="8997696" y="450799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83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세일즈 포인트</a:t>
            </a:r>
            <a:endParaRPr lang="en-US" sz="1000" dirty="0"/>
          </a:p>
        </p:txBody>
      </p:sp>
      <p:sp>
        <p:nvSpPr>
          <p:cNvPr id="37" name="Text 31"/>
          <p:cNvSpPr txBox="1"/>
          <p:nvPr/>
        </p:nvSpPr>
        <p:spPr>
          <a:xfrm>
            <a:off x="8997696" y="4709160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58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봉제를 음식처럼 주문·포장하는 체험 매장</a:t>
            </a:r>
            <a:endParaRPr lang="en-US" sz="1100" dirty="0"/>
          </a:p>
        </p:txBody>
      </p:sp>
      <p:sp>
        <p:nvSpPr>
          <p:cNvPr id="38" name="Text 32"/>
          <p:cNvSpPr txBox="1"/>
          <p:nvPr/>
        </p:nvSpPr>
        <p:spPr>
          <a:xfrm>
            <a:off x="8997696" y="5221224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83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묘브제 힌트</a:t>
            </a:r>
            <a:endParaRPr lang="en-US" sz="1000" dirty="0"/>
          </a:p>
        </p:txBody>
      </p:sp>
      <p:sp>
        <p:nvSpPr>
          <p:cNvPr id="39" name="Text 33"/>
          <p:cNvSpPr txBox="1"/>
          <p:nvPr/>
        </p:nvSpPr>
        <p:spPr>
          <a:xfrm>
            <a:off x="8997696" y="5422392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전시에서 '어떤 토끼?' 고르는 체험</a:t>
            </a:r>
            <a:endParaRPr lang="en-US" sz="1100" dirty="0"/>
          </a:p>
        </p:txBody>
      </p:sp>
      <p:sp>
        <p:nvSpPr>
          <p:cNvPr id="40" name="Text 34"/>
          <p:cNvSpPr txBox="1"/>
          <p:nvPr/>
        </p:nvSpPr>
        <p:spPr>
          <a:xfrm>
            <a:off x="548640" y="6144768"/>
            <a:ext cx="11094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85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S10 · S13 · S14 · S15 · S25 · 매출·구매율은 미확인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8321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83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KOREA · 보통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형태, 디지털 사용, 사용 상황이라는 세 갈래</a:t>
            </a:r>
            <a:endParaRPr lang="en-US" sz="2600" dirty="0"/>
          </a:p>
        </p:txBody>
      </p:sp>
      <p:pic>
        <p:nvPicPr>
          <p:cNvPr id="4" name="Image 0" descr="/tmp/claude-0/-home-user-hoho/be02f18f-1e6f-5d80-8a1f-70cf34bf4c7e/scratchpad/build/crop/k_sm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3520440" cy="17373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264408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스티키몬스터랩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593592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58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2007 · 2008 전시·입체 확장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931920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83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인기 이유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133088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58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단순한 비례·색·자세를 유지해 형태만으로 시리즈를 알아봄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645152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83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세일즈 포인트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846320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58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영상·전시·조형을 오가는 활동. 레드몬 10cm 23,000원 (계획서 비교군)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5358384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83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묘브제 힌트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5559552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 10cm 피규어의 직접 비교 대상</a:t>
            </a:r>
            <a:endParaRPr lang="en-US" sz="1100" dirty="0"/>
          </a:p>
        </p:txBody>
      </p:sp>
      <p:pic>
        <p:nvPicPr>
          <p:cNvPr id="13" name="Image 1" descr="/tmp/claude-0/-home-user-hoho/be02f18f-1e6f-5d80-8a1f-70cf34bf4c7e/scratchpad/build/crop/k_gunyang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5968" y="1417320"/>
            <a:ext cx="3520440" cy="17373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315968" y="3264408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구냥이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4315968" y="3593592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58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2020 이모티콘 · 2024 문구 유통 확대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4315968" y="3931920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83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인기 이유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4315968" y="4133088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58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대화에서 쓰는 짧은 행동·성격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4315968" y="4645152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83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세일즈 포인트</a:t>
            </a:r>
            <a:endParaRPr 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4315968" y="4846320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58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이모티콘에서 작은 실물 문구로 이동</a:t>
            </a:r>
            <a:endParaRPr lang="en-US" sz="1100" dirty="0"/>
          </a:p>
        </p:txBody>
      </p:sp>
      <p:sp>
        <p:nvSpPr>
          <p:cNvPr id="20" name="Text 16"/>
          <p:cNvSpPr txBox="1"/>
          <p:nvPr/>
        </p:nvSpPr>
        <p:spPr>
          <a:xfrm>
            <a:off x="4315968" y="5358384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83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묘브제 힌트</a:t>
            </a:r>
            <a:endParaRPr lang="en-US" sz="1000" dirty="0"/>
          </a:p>
        </p:txBody>
      </p:sp>
      <p:sp>
        <p:nvSpPr>
          <p:cNvPr id="21" name="Text 17"/>
          <p:cNvSpPr txBox="1"/>
          <p:nvPr/>
        </p:nvSpPr>
        <p:spPr>
          <a:xfrm>
            <a:off x="4315968" y="5559552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토끼별 질문을 SNS 짧은 콘텐츠로</a:t>
            </a:r>
            <a:endParaRPr lang="en-US" sz="1100" dirty="0"/>
          </a:p>
        </p:txBody>
      </p:sp>
      <p:pic>
        <p:nvPicPr>
          <p:cNvPr id="22" name="Image 2" descr="/tmp/claude-0/-home-user-hoho/be02f18f-1e6f-5d80-8a1f-70cf34bf4c7e/scratchpad/build/crop/k_hamzzi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3296" y="1417320"/>
            <a:ext cx="3520440" cy="173736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8083296" y="3264408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김햄찌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8083296" y="3593592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58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 성장 · 2026 오프라인 팝업</a:t>
            </a:r>
            <a:endParaRPr lang="en-US" sz="1000" dirty="0"/>
          </a:p>
        </p:txBody>
      </p:sp>
      <p:sp>
        <p:nvSpPr>
          <p:cNvPr id="25" name="Text 20"/>
          <p:cNvSpPr txBox="1"/>
          <p:nvPr/>
        </p:nvSpPr>
        <p:spPr>
          <a:xfrm>
            <a:off x="8083296" y="3931920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83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인기 이유</a:t>
            </a:r>
            <a:endParaRPr lang="en-US" sz="1000" dirty="0"/>
          </a:p>
        </p:txBody>
      </p:sp>
      <p:sp>
        <p:nvSpPr>
          <p:cNvPr id="26" name="Text 21"/>
          <p:cNvSpPr txBox="1"/>
          <p:nvPr/>
        </p:nvSpPr>
        <p:spPr>
          <a:xfrm>
            <a:off x="8083296" y="4133088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58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직장 상황을 다루는 콘텐츠 맥락</a:t>
            </a:r>
            <a:endParaRPr lang="en-US" sz="1100" dirty="0"/>
          </a:p>
        </p:txBody>
      </p:sp>
      <p:sp>
        <p:nvSpPr>
          <p:cNvPr id="27" name="Text 22"/>
          <p:cNvSpPr txBox="1"/>
          <p:nvPr/>
        </p:nvSpPr>
        <p:spPr>
          <a:xfrm>
            <a:off x="8083296" y="4645152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83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세일즈 포인트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8083296" y="4846320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58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키캡·손목쿠션 등 사무용품. 팝업 예약 10분 마감, 굿즈 45종 (발표)</a:t>
            </a:r>
            <a:endParaRPr lang="en-US" sz="1100" dirty="0"/>
          </a:p>
        </p:txBody>
      </p:sp>
      <p:sp>
        <p:nvSpPr>
          <p:cNvPr id="29" name="Text 24"/>
          <p:cNvSpPr txBox="1"/>
          <p:nvPr/>
        </p:nvSpPr>
        <p:spPr>
          <a:xfrm>
            <a:off x="8083296" y="5358384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83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묘브제 힌트</a:t>
            </a:r>
            <a:endParaRPr lang="en-US" sz="1000" dirty="0"/>
          </a:p>
        </p:txBody>
      </p:sp>
      <p:sp>
        <p:nvSpPr>
          <p:cNvPr id="30" name="Text 25"/>
          <p:cNvSpPr txBox="1"/>
          <p:nvPr/>
        </p:nvSpPr>
        <p:spPr>
          <a:xfrm>
            <a:off x="8083296" y="5559552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책상 위에서 쓰는 장면을 먼저 보여주기</a:t>
            </a:r>
            <a:endParaRPr lang="en-US" sz="1100" dirty="0"/>
          </a:p>
        </p:txBody>
      </p:sp>
      <p:sp>
        <p:nvSpPr>
          <p:cNvPr id="31" name="Text 26"/>
          <p:cNvSpPr txBox="1"/>
          <p:nvPr/>
        </p:nvSpPr>
        <p:spPr>
          <a:xfrm>
            <a:off x="548640" y="6144768"/>
            <a:ext cx="11094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85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S16 · S17 · S18 · S19 · S20 · 같은 시장·기간의 구매 자료가 없어 우열은 매기지 않음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8321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83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KOREA · 짧은 비교 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보조 비교: 태도, 문장, 팬덤, 연령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06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3CBC0"/>
            </a:solidFill>
            <a:prstDash val="solid"/>
          </a:ln>
        </p:spPr>
      </p:sp>
      <p:pic>
        <p:nvPicPr>
          <p:cNvPr id="5" name="Image 0" descr="/tmp/claude-0/-home-user-hoho/be02f18f-1e6f-5d80-8a1f-70cf34bf4c7e/scratchpad/build/crop/s_joguma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45920"/>
            <a:ext cx="1371600" cy="1371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331720" y="164592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조구만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2331720" y="197510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58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2017 스튜디오 · 2020년대 협업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2331720" y="230428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83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인기 이유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2331720" y="2505456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58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존재라는 태도를 시각 표현에 유지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2331720" y="290779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83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묘브제 힌트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2331720" y="310896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 태도를 한 문장으로 정해 두기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172200" y="1463040"/>
            <a:ext cx="54406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3CBC0"/>
            </a:solidFill>
            <a:prstDash val="solid"/>
          </a:ln>
        </p:spPr>
      </p:sp>
      <p:pic>
        <p:nvPicPr>
          <p:cNvPr id="13" name="Image 1" descr="/tmp/claude-0/-home-user-hoho/be02f18f-1e6f-5d80-8a1f-70cf34bf4c7e/scratchpad/build/crop/s_choigosim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645920"/>
            <a:ext cx="1371600" cy="13716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955280" y="164592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최고심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7955280" y="197510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58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2020.9 데뷔 · 2022 카드 협업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7955280" y="230428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83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인기 이유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7955280" y="2505456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58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문장이 그림과 함께 상품의 핵심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7955280" y="290779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83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묘브제 힌트</a:t>
            </a:r>
            <a:endParaRPr 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7955280" y="310896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문장을 상품의 핵심 요소로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548640" y="3794760"/>
            <a:ext cx="54406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3CBC0"/>
            </a:solidFill>
            <a:prstDash val="solid"/>
          </a:ln>
        </p:spPr>
      </p:sp>
      <p:pic>
        <p:nvPicPr>
          <p:cNvPr id="21" name="Image 2" descr="/tmp/claude-0/-home-user-hoho/be02f18f-1e6f-5d80-8a1f-70cf34bf4c7e/scratchpad/build/crop/s_bt21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977640"/>
            <a:ext cx="1371600" cy="1371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2331720" y="397764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LINE FRIENDS·BT21</a:t>
            </a:r>
            <a:endParaRPr lang="en-US" sz="1600" dirty="0"/>
          </a:p>
        </p:txBody>
      </p:sp>
      <p:sp>
        <p:nvSpPr>
          <p:cNvPr id="23" name="Text 18"/>
          <p:cNvSpPr txBox="1"/>
          <p:nvPr/>
        </p:nvSpPr>
        <p:spPr>
          <a:xfrm>
            <a:off x="2331720" y="430682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58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LINE 2011 · BT21 2017.12 첫 상품 행사</a:t>
            </a:r>
            <a:endParaRPr lang="en-US" sz="1000" dirty="0"/>
          </a:p>
        </p:txBody>
      </p:sp>
      <p:sp>
        <p:nvSpPr>
          <p:cNvPr id="24" name="Text 19"/>
          <p:cNvSpPr txBox="1"/>
          <p:nvPr/>
        </p:nvSpPr>
        <p:spPr>
          <a:xfrm>
            <a:off x="2331720" y="463600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83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인기 이유</a:t>
            </a:r>
            <a:endParaRPr lang="en-US" sz="1000" dirty="0"/>
          </a:p>
        </p:txBody>
      </p:sp>
      <p:sp>
        <p:nvSpPr>
          <p:cNvPr id="25" name="Text 20"/>
          <p:cNvSpPr txBox="1"/>
          <p:nvPr/>
        </p:nvSpPr>
        <p:spPr>
          <a:xfrm>
            <a:off x="2331720" y="4837176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58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메신저 친숙함과 아티스트 팬덤이라는 유입 자산</a:t>
            </a:r>
            <a:endParaRPr lang="en-US" sz="1150" dirty="0"/>
          </a:p>
        </p:txBody>
      </p:sp>
      <p:sp>
        <p:nvSpPr>
          <p:cNvPr id="26" name="Text 21"/>
          <p:cNvSpPr txBox="1"/>
          <p:nvPr/>
        </p:nvSpPr>
        <p:spPr>
          <a:xfrm>
            <a:off x="2331720" y="523951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83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묘브제 힌트</a:t>
            </a:r>
            <a:endParaRPr lang="en-US" sz="1000" dirty="0"/>
          </a:p>
        </p:txBody>
      </p:sp>
      <p:sp>
        <p:nvSpPr>
          <p:cNvPr id="27" name="Text 22"/>
          <p:cNvSpPr txBox="1"/>
          <p:nvPr/>
        </p:nvSpPr>
        <p:spPr>
          <a:xfrm>
            <a:off x="2331720" y="544068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팬덤이 없는 신규 IP는 다른 유입 경로 필요</a:t>
            </a:r>
            <a:endParaRPr lang="en-US" sz="1150" dirty="0"/>
          </a:p>
        </p:txBody>
      </p:sp>
      <p:sp>
        <p:nvSpPr>
          <p:cNvPr id="28" name="Shape 23"/>
          <p:cNvSpPr/>
          <p:nvPr/>
        </p:nvSpPr>
        <p:spPr>
          <a:xfrm>
            <a:off x="6172200" y="3794760"/>
            <a:ext cx="54406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3CBC0"/>
            </a:solidFill>
            <a:prstDash val="solid"/>
          </a:ln>
        </p:spPr>
      </p:sp>
      <p:pic>
        <p:nvPicPr>
          <p:cNvPr id="29" name="Image 3" descr="/tmp/claude-0/-home-user-hoho/be02f18f-1e6f-5d80-8a1f-70cf34bf4c7e/scratchpad/build/crop/s_hachuping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3977640"/>
            <a:ext cx="1371600" cy="1371600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7955280" y="397764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하츄핑</a:t>
            </a:r>
            <a:endParaRPr lang="en-US" sz="1600" dirty="0"/>
          </a:p>
        </p:txBody>
      </p:sp>
      <p:sp>
        <p:nvSpPr>
          <p:cNvPr id="31" name="Text 25"/>
          <p:cNvSpPr txBox="1"/>
          <p:nvPr/>
        </p:nvSpPr>
        <p:spPr>
          <a:xfrm>
            <a:off x="7955280" y="430682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58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2020.3.19 첫 방송 · 2024 극장판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7955280" y="463600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83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인기 이유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7955280" y="4837176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58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 3–9세 최선호: 티니핑 11.2%, 하츄핑 4.8%</a:t>
            </a:r>
            <a:endParaRPr lang="en-US" sz="1150" dirty="0"/>
          </a:p>
        </p:txBody>
      </p:sp>
      <p:sp>
        <p:nvSpPr>
          <p:cNvPr id="34" name="Text 28"/>
          <p:cNvSpPr txBox="1"/>
          <p:nvPr/>
        </p:nvSpPr>
        <p:spPr>
          <a:xfrm>
            <a:off x="7955280" y="523951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83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묘브제 힌트</a:t>
            </a:r>
            <a:endParaRPr lang="en-US" sz="1000" dirty="0"/>
          </a:p>
        </p:txBody>
      </p:sp>
      <p:sp>
        <p:nvSpPr>
          <p:cNvPr id="35" name="Text 29"/>
          <p:cNvSpPr txBox="1"/>
          <p:nvPr/>
        </p:nvSpPr>
        <p:spPr>
          <a:xfrm>
            <a:off x="7955280" y="544068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성인 타깃이면 성인 본인용 상품·채널이 따로 필요</a:t>
            </a:r>
            <a:endParaRPr lang="en-US" sz="1150" dirty="0"/>
          </a:p>
        </p:txBody>
      </p:sp>
      <p:sp>
        <p:nvSpPr>
          <p:cNvPr id="36" name="Text 30"/>
          <p:cNvSpPr txBox="1"/>
          <p:nvPr/>
        </p:nvSpPr>
        <p:spPr>
          <a:xfrm>
            <a:off x="548640" y="6144768"/>
            <a:ext cx="11094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85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하츄핑 판정: '성인 확장 실패'보다 '아동층 선호가 뚜렷하고, 성인 관심이 지속적 상품 소비로 이어지는지는 미확인'이 타당 · 출처 S21–S24 · N01 · N12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8321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7E4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03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묘브제 적용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5204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7E4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사례에서 찾은 기준을 어제 브랜딩 특강의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7E4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'브랜드 기본 체계'에 맞춰 묘브제에 옮겼습니다.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93776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 기준 · 가격 위치 · 브랜드 기본 체계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가져올 5가지 · 12월까지 검증할 3가지</a:t>
            </a:r>
            <a:endParaRPr lang="en-US" sz="1300" dirty="0"/>
          </a:p>
        </p:txBody>
      </p:sp>
      <p:pic>
        <p:nvPicPr>
          <p:cNvPr id="6" name="Image 0" descr="/tmp/claude-0/-home-user-hoho/be02f18f-1e6f-5d80-8a1f-70cf34bf4c7e/scratchpad/build/crop/div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34072" y="548640"/>
            <a:ext cx="420624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83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· 구매 기준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구매자는 외형·호감과 함께 품질·가격도 본다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43584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58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KOCCA 「2024 캐릭터 이용자 조사」 캐릭터 상품 구매 경험자 2,852명, 1·2순위 합산 응답 (확인)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783080"/>
          <a:ext cx="65836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498080" y="1783080"/>
            <a:ext cx="4144975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3CBC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0" y="2011680"/>
            <a:ext cx="3596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83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묘브제에 주는 의미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0" y="2514600"/>
            <a:ext cx="359633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외형만으로는 부족합니다. 구매자 4명 중 1명꼴로 품질·가격을 1·2순위로 꼽았습니다.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조소 작가의 마감 품질을 사진·실물로 보여주는 것이 세일즈 포인트가 됩니다.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'호감'이 위로·자기투영·추억 중 무엇인지는 알 수 없습니다. '당신은 어떤 토끼인가요?'의 효과는 직접 검증해야 합니다.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144768"/>
            <a:ext cx="11094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85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 10–69세 3,500명 중 구매 경험자 응답. 전체 국민의 구매 원인이나 매출 기여율은 아님 · 출처 N01 (pp.4–5·44)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8321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83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· 가격 위치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묘브제 가설가는 대량생산 피규어와 레진 오브제 사이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43584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58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 판매가 기준(원). 크기·재질·채널이 달라 단순 비교가 아니라 '위치'를 보기 위한 그림입니다. 가로축은 로그 눈금입니다.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284524" y="2423160"/>
            <a:ext cx="1455381" cy="822960"/>
          </a:xfrm>
          <a:prstGeom prst="rect">
            <a:avLst/>
          </a:prstGeom>
          <a:solidFill>
            <a:srgbClr val="C8321F">
              <a:alpha val="18000"/>
            </a:srgbClr>
          </a:solidFill>
          <a:ln w="12700">
            <a:solidFill>
              <a:srgbClr val="C8321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735884" y="19476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3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묘브제 가설 3.2만~5.9만 원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735884" y="220370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83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10cm · 레진 · 작가 수작업 마감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68680" y="3246120"/>
            <a:ext cx="10424160" cy="0"/>
          </a:xfrm>
          <a:prstGeom prst="line">
            <a:avLst/>
          </a:prstGeom>
          <a:noFill/>
          <a:ln w="19050">
            <a:solidFill>
              <a:srgbClr val="2A262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3191256"/>
            <a:ext cx="0" cy="109728"/>
          </a:xfrm>
          <a:prstGeom prst="line">
            <a:avLst/>
          </a:prstGeom>
          <a:noFill/>
          <a:ln w="12700">
            <a:solidFill>
              <a:srgbClr val="2A262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286207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85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5천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17569" y="3191256"/>
            <a:ext cx="0" cy="109728"/>
          </a:xfrm>
          <a:prstGeom prst="line">
            <a:avLst/>
          </a:prstGeom>
          <a:noFill/>
          <a:ln w="12700">
            <a:solidFill>
              <a:srgbClr val="2A262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151809" y="286207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85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1만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130997" y="3191256"/>
            <a:ext cx="0" cy="109728"/>
          </a:xfrm>
          <a:prstGeom prst="line">
            <a:avLst/>
          </a:prstGeom>
          <a:noFill/>
          <a:ln w="12700">
            <a:solidFill>
              <a:srgbClr val="2A262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65237" y="286207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85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3만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346172" y="3191256"/>
            <a:ext cx="0" cy="109728"/>
          </a:xfrm>
          <a:prstGeom prst="line">
            <a:avLst/>
          </a:prstGeom>
          <a:noFill/>
          <a:ln w="12700">
            <a:solidFill>
              <a:srgbClr val="2A262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80412" y="286207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85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5만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95061" y="3191256"/>
            <a:ext cx="0" cy="109728"/>
          </a:xfrm>
          <a:prstGeom prst="line">
            <a:avLst/>
          </a:prstGeom>
          <a:noFill/>
          <a:ln w="12700">
            <a:solidFill>
              <a:srgbClr val="2A262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29301" y="286207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85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10만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0608489" y="3191256"/>
            <a:ext cx="0" cy="109728"/>
          </a:xfrm>
          <a:prstGeom prst="line">
            <a:avLst/>
          </a:prstGeom>
          <a:noFill/>
          <a:ln w="12700">
            <a:solidFill>
              <a:srgbClr val="2A262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242729" y="286207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85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30만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220099" y="3163824"/>
            <a:ext cx="164592" cy="164592"/>
          </a:xfrm>
          <a:prstGeom prst="ellipse">
            <a:avLst/>
          </a:prstGeom>
          <a:solidFill>
            <a:srgbClr val="2A2622"/>
          </a:solidFill>
          <a:ln w="12700">
            <a:solidFill>
              <a:srgbClr val="2A262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302395" y="3337560"/>
            <a:ext cx="0" cy="164592"/>
          </a:xfrm>
          <a:prstGeom prst="line">
            <a:avLst/>
          </a:prstGeom>
          <a:noFill/>
          <a:ln w="12700">
            <a:solidFill>
              <a:srgbClr val="D3CBC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210955" y="352044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프릳츠 물개 키링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1210955" y="376732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F58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6,000원 · 35mm 아크릴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416635" y="3163824"/>
            <a:ext cx="164592" cy="164592"/>
          </a:xfrm>
          <a:prstGeom prst="ellipse">
            <a:avLst/>
          </a:prstGeom>
          <a:solidFill>
            <a:srgbClr val="2A2622"/>
          </a:solidFill>
          <a:ln w="12700">
            <a:solidFill>
              <a:srgbClr val="2A262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98931" y="3337560"/>
            <a:ext cx="0" cy="164592"/>
          </a:xfrm>
          <a:prstGeom prst="line">
            <a:avLst/>
          </a:prstGeom>
          <a:noFill/>
          <a:ln w="12700">
            <a:solidFill>
              <a:srgbClr val="D3CBC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538811" y="352044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스티키몬스터랩 레드몬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3538811" y="376732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F58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23,000원 · 10cm ABS·PVC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968055" y="3163824"/>
            <a:ext cx="164592" cy="164592"/>
          </a:xfrm>
          <a:prstGeom prst="ellipse">
            <a:avLst/>
          </a:prstGeom>
          <a:solidFill>
            <a:srgbClr val="2A2622"/>
          </a:solidFill>
          <a:ln w="12700">
            <a:solidFill>
              <a:srgbClr val="2A262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50351" y="3337560"/>
            <a:ext cx="0" cy="1033272"/>
          </a:xfrm>
          <a:prstGeom prst="line">
            <a:avLst/>
          </a:prstGeom>
          <a:noFill/>
          <a:ln w="12700">
            <a:solidFill>
              <a:srgbClr val="D3CBC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090231" y="438912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몬치치 키링 SS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4090231" y="463600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F58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29,000원 · 16cm 봉제 (정가 4만)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888000" y="3163824"/>
            <a:ext cx="164592" cy="164592"/>
          </a:xfrm>
          <a:prstGeom prst="ellipse">
            <a:avLst/>
          </a:prstGeom>
          <a:solidFill>
            <a:srgbClr val="2A2622"/>
          </a:solidFill>
          <a:ln w="12700">
            <a:solidFill>
              <a:srgbClr val="2A262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970296" y="3337560"/>
            <a:ext cx="0" cy="164592"/>
          </a:xfrm>
          <a:prstGeom prst="line">
            <a:avLst/>
          </a:prstGeom>
          <a:noFill/>
          <a:ln w="12700">
            <a:solidFill>
              <a:srgbClr val="D3CBC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010176" y="352044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뮷즈 반가사유상 ver.3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6010176" y="376732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F58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65,000원 · 155mm 레진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608670" y="3163824"/>
            <a:ext cx="164592" cy="164592"/>
          </a:xfrm>
          <a:prstGeom prst="ellipse">
            <a:avLst/>
          </a:prstGeom>
          <a:solidFill>
            <a:srgbClr val="2A2622"/>
          </a:solidFill>
          <a:ln w="12700">
            <a:solidFill>
              <a:srgbClr val="2A262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690966" y="3337560"/>
            <a:ext cx="0" cy="1033272"/>
          </a:xfrm>
          <a:prstGeom prst="line">
            <a:avLst/>
          </a:prstGeom>
          <a:noFill/>
          <a:ln w="12700">
            <a:solidFill>
              <a:srgbClr val="D3CBC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730846" y="438912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라부부 타임 투 칠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6730846" y="463600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F58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88,000원 · 37cm 봉제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10679720" y="3163824"/>
            <a:ext cx="164592" cy="164592"/>
          </a:xfrm>
          <a:prstGeom prst="ellipse">
            <a:avLst/>
          </a:prstGeom>
          <a:solidFill>
            <a:srgbClr val="2A2622"/>
          </a:solidFill>
          <a:ln w="12700">
            <a:solidFill>
              <a:srgbClr val="2A262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762016" y="3337560"/>
            <a:ext cx="0" cy="164592"/>
          </a:xfrm>
          <a:prstGeom prst="line">
            <a:avLst/>
          </a:prstGeom>
          <a:noFill/>
          <a:ln w="12700">
            <a:solidFill>
              <a:srgbClr val="D3CBC0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933216" y="352044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토토로 디오라마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8933216" y="376732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F58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320,000원 · 18.2cm 수지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48640" y="5257800"/>
            <a:ext cx="11094415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3CBC0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77240" y="5349240"/>
            <a:ext cx="106372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3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읽는 법  </a:t>
            </a:r>
            <a:pPr indent="0" marL="0">
              <a:buNone/>
            </a:pPr>
            <a:r>
              <a:rPr lang="en-US" sz="1200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가설가는 국내 대량생산 10cm 피규어(2.3만 원)보다 높고 뮷즈 레진 오브제(6.5만 원)보다 낮습니다. 그 차이를 설명할 근거는 물성 질감과 작가 수작업 마감이며, 실물 사진 기반 가격 반응으로 확인해야 합니다.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548640" y="6144768"/>
            <a:ext cx="11094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85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가격 출처: 묘브제 사업계획서 비교 상품표(2026.9 공식 판매 페이지 기준), 원고 S09 · N09 (2026-10-13 관찰)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8321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83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BRANDING · 브랜드 기본 체계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어제 특강의 7가지 요소로 본 묘브제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43584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58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가운데 열은 사례에서 확인한 기준, 오른쪽 열은 묘브제 초안입니다. 초안은 검증 전 가설입니다.</a:t>
            </a:r>
            <a:endParaRPr lang="en-US" sz="13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2240280"/>
                <a:gridCol w="3931920"/>
                <a:gridCol w="491947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요소 · 특강 질문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32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사례에서 배운 기준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32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묘브제 초안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321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832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존재 이유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F58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왜 이 브랜드인가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F58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뮷즈·프릳츠: 맥락과 경험이 상품의 이유를 설명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A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서로 다른 물질의 질감과 이야기로, 나만의 취향을 고르게 하는 아트토이 (발표 대본)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832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 고객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F58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누가 먼저 사는가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F58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산리오·김햄찌: 구매 상황이 분명할수록 상품이 쉬워짐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A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1순위 후보: 책상·선반을 꾸미는 성인. 수집·오브제·선물 중 우선순위는 설문으로 결정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832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차별점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F58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무엇이 기억에 남나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F58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라부부·KAWS: 형태 기호 하나가 기억을 만듦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A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물질별 표면 질감 + '당신은 어떤 토끼인가요?' 질문 + 조소 작가의 마감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832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브랜드 구조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F58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무엇을 공유하고 무엇을 바꾸나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F58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산리오·라부부: 공통 규칙 + 변주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A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공통: 몸 비례·얼굴·로고·패키지  /  변주: 물질별 표면·색·질문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832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색상 체계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F58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메인·서브 색과 범위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F58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뮷즈: 생활 공간에 어울리는 색과 크기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A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저채도·자연색. 토끼별 대표색 1개 (아이보리·회백·청백·웜 베이지·짙은 회색)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832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언어 체계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F58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슬로건·스토리가 같은 핵심인가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F58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최고심: 문장이 상품의 핵심이 될 수 있음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A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태그라인은 질문 하나. 토끼별 질문 5개 (계획서 별첨)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832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경험·콘텐츠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F58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모든 접점이 같은 분위기인가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F584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Jellycat·카카오: 고르고 참여하는 과정이 콘텐츠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A26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제작 과정 SNS 3회 이상, 질감 비교, 질문 카드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C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6144768"/>
            <a:ext cx="11094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85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OT·브랜딩 특강 통합정리(2026.10.12), 묘브제 사업계획서(2026.9), 국민대 발표 대본(10.6)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8321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83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APPLY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묘브제에 가져올 5가지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43584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58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인기 패턴 A–E를 묘브제의 할 일로 바꿨습니다. 시기는 국민대 지원 일정(10–12월)에 맞췄습니다.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7830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F58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3108960" y="178308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F58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묘브제 할 일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863840" y="17830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F58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 사례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0058400" y="1783080"/>
            <a:ext cx="158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F58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시기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103120"/>
            <a:ext cx="11094415" cy="0"/>
          </a:xfrm>
          <a:prstGeom prst="line">
            <a:avLst/>
          </a:prstGeom>
          <a:noFill/>
          <a:ln w="19050">
            <a:solidFill>
              <a:srgbClr val="C8321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21284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C83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26771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알아보는 실루엣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108960" y="223113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5종 공통 실루엣 1개 확정. 귀 모양과 몸 비례를 고정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863840" y="226771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58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라부부 · 스티키몬스터랩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0" y="2267712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C83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10월 모델 보완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2852928"/>
            <a:ext cx="11094415" cy="0"/>
          </a:xfrm>
          <a:prstGeom prst="line">
            <a:avLst/>
          </a:prstGeom>
          <a:noFill/>
          <a:ln w="12700">
            <a:solidFill>
              <a:srgbClr val="D3CBC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2962656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C83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30175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규칙 + 변주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108960" y="298094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물질별로 바꾸는 것(표면·색·질문)과 안 바꾸는 것을 규칙표로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863840" y="3017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58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산리오 · 라부부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10058400" y="3017520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C83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10월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3602736"/>
            <a:ext cx="11094415" cy="0"/>
          </a:xfrm>
          <a:prstGeom prst="line">
            <a:avLst/>
          </a:prstGeom>
          <a:noFill/>
          <a:ln w="12700">
            <a:solidFill>
              <a:srgbClr val="D3CBC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8640" y="3712464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C83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40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" y="37673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쓰는 장면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3108960" y="373075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'책상 위 10cm' 촬영 기준: 모니터 옆, 선반, 손 크기 비교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863840" y="37673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58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김햄찌 · FriendsWithYou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10058400" y="3767328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C83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12월 실물 사진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4352544"/>
            <a:ext cx="11094415" cy="0"/>
          </a:xfrm>
          <a:prstGeom prst="line">
            <a:avLst/>
          </a:prstGeom>
          <a:noFill/>
          <a:ln w="12700">
            <a:solidFill>
              <a:srgbClr val="D3CBC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" y="446227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C83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400" dirty="0"/>
          </a:p>
        </p:txBody>
      </p:sp>
      <p:sp>
        <p:nvSpPr>
          <p:cNvPr id="30" name="Text 28"/>
          <p:cNvSpPr txBox="1"/>
          <p:nvPr/>
        </p:nvSpPr>
        <p:spPr>
          <a:xfrm>
            <a:off x="1097280" y="451713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맥락과 의미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3108960" y="44805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물질 설명 카드 + 질문 카드가 든 패키지 시안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7863840" y="451713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58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뮷즈 · 최고심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10058400" y="4517136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C83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11–12월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48640" y="5102352"/>
            <a:ext cx="11094415" cy="0"/>
          </a:xfrm>
          <a:prstGeom prst="line">
            <a:avLst/>
          </a:prstGeom>
          <a:noFill/>
          <a:ln w="12700">
            <a:solidFill>
              <a:srgbClr val="D3CBC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48640" y="52120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C83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2400" dirty="0"/>
          </a:p>
        </p:txBody>
      </p:sp>
      <p:sp>
        <p:nvSpPr>
          <p:cNvPr id="36" name="Text 34"/>
          <p:cNvSpPr txBox="1"/>
          <p:nvPr/>
        </p:nvSpPr>
        <p:spPr>
          <a:xfrm>
            <a:off x="1097280" y="526694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사는 경험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3108960" y="523036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전시에서 '나는 어떤 토끼?' 고르기와 질감 만져보기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7863840" y="526694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58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Jellycat · 카카오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10058400" y="5266944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C83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12월 성과 전시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48640" y="5852160"/>
            <a:ext cx="11094415" cy="0"/>
          </a:xfrm>
          <a:prstGeom prst="line">
            <a:avLst/>
          </a:prstGeom>
          <a:noFill/>
          <a:ln w="12700">
            <a:solidFill>
              <a:srgbClr val="D3CBC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48640" y="5925312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58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우선순위 낮음: 블라인드박스. 개봉의 재미는 있지만 '신규 IP도 성공한다'는 근거는 약합니다 (원고 N02 해석).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8321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83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12월까지 검증할 3가지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43584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58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사업계획서 목표(설문 20명 이상, 인터뷰 3명 이상)에 맞춰 질문을 셋으로 좁혔습니다.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547872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3CBC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0574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C83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51760"/>
            <a:ext cx="2999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알아보는가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154680"/>
            <a:ext cx="2999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5종 실루엣만 보고 같은 브랜드로 인식하는가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9776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83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206240"/>
            <a:ext cx="2999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58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실루엣 5종 이미지 → '같은 브랜드 같나요?'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5120640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83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연결: 패턴 A·B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15968" y="1828800"/>
            <a:ext cx="3547872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3CBC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90288" y="20574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C83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4590288" y="2651760"/>
            <a:ext cx="2999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사는가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4590288" y="3154680"/>
            <a:ext cx="2999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 · 공간 오브제 · 선물 중 1순위 구매 이유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4590288" y="39776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83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4590288" y="4206240"/>
            <a:ext cx="2999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58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설문 선택 + 인터뷰에서 이유 듣기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4590288" y="5120640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83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연결: 핵심 고객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083296" y="1828800"/>
            <a:ext cx="3547872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3CBC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57616" y="20574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C83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8357616" y="2651760"/>
            <a:ext cx="2999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얼마면 사는가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8357616" y="3154680"/>
            <a:ext cx="2999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실물 사진 기준 가격 수용 범위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8357616" y="39776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83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8357616" y="4206240"/>
            <a:ext cx="2999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58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3.2만 · 4.5만 · 5.9만 원 예시 중 선택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8357616" y="5120640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83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연결: 가격 위치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58064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58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'우주토끼 설문' 응답과 같은 질문을 섞으면 변화도 볼 수 있습니다. 가격 예시는 가설 범위를 나눈 값이며 확정가가 아닙니다.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8321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83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LIMITS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자료로 말할 수 있는 것과 없는 것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097280" cy="457200"/>
          </a:xfrm>
          <a:prstGeom prst="rect">
            <a:avLst/>
          </a:prstGeom>
          <a:solidFill>
            <a:srgbClr val="C8321F"/>
          </a:solidFill>
          <a:ln w="12700">
            <a:solidFill>
              <a:srgbClr val="C832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높음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874520" y="164592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공시상 매출, 공식 제품의 가격·소재, 출시·협업 사실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68880"/>
            <a:ext cx="10972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32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3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874520" y="25146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설문 범위 안의 선호, 회사가 발표한 방문·예약 반응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337560"/>
            <a:ext cx="1097280" cy="457200"/>
          </a:xfrm>
          <a:prstGeom prst="rect">
            <a:avLst/>
          </a:prstGeom>
          <a:solidFill>
            <a:srgbClr val="E6E0D7"/>
          </a:solidFill>
          <a:ln w="12700">
            <a:solidFill>
              <a:srgbClr val="2A262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874520" y="33832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특정 외형의 매력, 스토리와 상품의 적합성, 인기 패턴 A–E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206240"/>
            <a:ext cx="10972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8C857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C85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미확정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874520" y="42519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인기 정점 연도, 디자인의 매출 기여율, 제조원가, 성인 반복 구매율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949440" y="1600200"/>
            <a:ext cx="4693615" cy="3383280"/>
          </a:xfrm>
          <a:prstGeom prst="rect">
            <a:avLst/>
          </a:prstGeom>
          <a:solidFill>
            <a:srgbClr val="C8321F"/>
          </a:solidFill>
          <a:ln w="12700">
            <a:solidFill>
              <a:srgbClr val="C8321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223760" y="1810512"/>
            <a:ext cx="4144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큰 한계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223760" y="2286000"/>
            <a:ext cx="414497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 사례만 모은 선택 편향이 있습니다. 비슷한 외형·블라인드 방식·팝업을 썼지만 성장하지 못한 비교군이 없습니다.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이 자료는 성공 공식이 아니라, 묘브제가 무엇을 검증해야 하는지 정하는 데 씁니다.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2578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58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범위에서 제외: 세컨드모닝·모후샌드·스미스키·소니엔젤. 출처 S05·S26은 원고에서 제외된 번호입니다.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8321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832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SOURCES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37개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43584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58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S는 선행 조사, N은 보강 자료입니다. 제목을 누르면 원문이 열립니다. 이미지 출처는 이전 자료집의 이미지 출처 페이지와 같습니다.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5564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83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S01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755648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POP MART, Annual Report 2025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98882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83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S02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98882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CNA, How Labubu seller Pop Mart seized a cultural moment, 2025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22199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83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S03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2221992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LSEG, The Labubu craze (NLP 분석), 2026-01-07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45516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83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S04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455164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Sanrio, HELLO KITTY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26883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83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S06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68833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카카오, 카카오프렌즈 상품·공간 전개 기록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292150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83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S07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" y="2921508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카카오, 2025 프로야구단×춘식이 협업, 2025-05-19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1546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83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S08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315468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뉴스핌, 작년 박물관 뮷즈 매출 213억, 2025-02-14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38785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83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S09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3387852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프릳츠 랜덤 물개 키링 (2026-10-13 관찰)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362102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83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S10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3621024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스튜디오 지브리, スタジオジブリの歴史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385419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83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S11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1051560" y="385419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디자인정글, 뮷즈 브랜드 공개, 2022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40873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83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S12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4087368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Pokémon Company, History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432054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83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S13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1051560" y="432054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베네릭, 토토로 머그(2022)·모래시계(2024) 발표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455371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83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S14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1051560" y="4553712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Aldrich, KAWS: Companion / 유니클로 KAWS UNIVERSE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478688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83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S15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1051560" y="4786884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FriendsWithYou, Little Cloud Lamp, 2022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502005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83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S16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1051560" y="502005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happening, Sticky Monster Lab 인터뷰, 2021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525322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83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S17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1051560" y="5253228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koo9oo, 구냥있는 구냥이 출시 안내, 2020-08-25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54864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83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S18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1051560" y="548640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아이러브캐릭터, 구냥이·솜찌 소개, 2024-05-30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571957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83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S19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1051560" y="5719572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YouTube 블로그, 이달의 크리에이터 김햄찌, 2025-11-07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595274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83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S20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1051560" y="5952744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한국경제, 신세계 김햄찌 팝업, 2026-07-10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6172200" y="175564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83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S21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6675120" y="1755648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조구만 스튜디오 소개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6172200" y="198882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83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S22</a:t>
            </a:r>
            <a:endParaRPr lang="en-US" sz="950" dirty="0"/>
          </a:p>
        </p:txBody>
      </p:sp>
      <p:sp>
        <p:nvSpPr>
          <p:cNvPr id="46" name="Text 44"/>
          <p:cNvSpPr txBox="1"/>
          <p:nvPr/>
        </p:nvSpPr>
        <p:spPr>
          <a:xfrm>
            <a:off x="6675120" y="198882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신한카드, 최고심 카드 출시, 2022-11-28</a:t>
            </a:r>
            <a:endParaRPr lang="en-US" sz="950" dirty="0"/>
          </a:p>
        </p:txBody>
      </p:sp>
      <p:sp>
        <p:nvSpPr>
          <p:cNvPr id="47" name="Text 45"/>
          <p:cNvSpPr txBox="1"/>
          <p:nvPr/>
        </p:nvSpPr>
        <p:spPr>
          <a:xfrm>
            <a:off x="6172200" y="222199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83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S23</a:t>
            </a:r>
            <a:endParaRPr lang="en-US" sz="950" dirty="0"/>
          </a:p>
        </p:txBody>
      </p:sp>
      <p:sp>
        <p:nvSpPr>
          <p:cNvPr id="48" name="Text 46"/>
          <p:cNvSpPr txBox="1"/>
          <p:nvPr/>
        </p:nvSpPr>
        <p:spPr>
          <a:xfrm>
            <a:off x="6675120" y="2221992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BT21, 첫 상품 행사</a:t>
            </a:r>
            <a:endParaRPr lang="en-US" sz="950" dirty="0"/>
          </a:p>
        </p:txBody>
      </p:sp>
      <p:sp>
        <p:nvSpPr>
          <p:cNvPr id="49" name="Text 47"/>
          <p:cNvSpPr txBox="1"/>
          <p:nvPr/>
        </p:nvSpPr>
        <p:spPr>
          <a:xfrm>
            <a:off x="6172200" y="245516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83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S24</a:t>
            </a:r>
            <a:endParaRPr lang="en-US" sz="950" dirty="0"/>
          </a:p>
        </p:txBody>
      </p:sp>
      <p:sp>
        <p:nvSpPr>
          <p:cNvPr id="50" name="Text 48"/>
          <p:cNvSpPr txBox="1"/>
          <p:nvPr/>
        </p:nvSpPr>
        <p:spPr>
          <a:xfrm>
            <a:off x="6675120" y="2455164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SBS, 사랑의 하츄핑 70만 돌파, 2024-08-23</a:t>
            </a:r>
            <a:endParaRPr lang="en-US" sz="950" dirty="0"/>
          </a:p>
        </p:txBody>
      </p:sp>
      <p:sp>
        <p:nvSpPr>
          <p:cNvPr id="51" name="Text 49"/>
          <p:cNvSpPr txBox="1"/>
          <p:nvPr/>
        </p:nvSpPr>
        <p:spPr>
          <a:xfrm>
            <a:off x="6172200" y="26883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83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S25</a:t>
            </a:r>
            <a:endParaRPr lang="en-US" sz="950" dirty="0"/>
          </a:p>
        </p:txBody>
      </p:sp>
      <p:sp>
        <p:nvSpPr>
          <p:cNvPr id="52" name="Text 50"/>
          <p:cNvSpPr txBox="1"/>
          <p:nvPr/>
        </p:nvSpPr>
        <p:spPr>
          <a:xfrm>
            <a:off x="6675120" y="268833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Jellycat, Fish &amp; Chips 체험</a:t>
            </a:r>
            <a:endParaRPr lang="en-US" sz="950" dirty="0"/>
          </a:p>
        </p:txBody>
      </p:sp>
      <p:sp>
        <p:nvSpPr>
          <p:cNvPr id="53" name="Text 51"/>
          <p:cNvSpPr txBox="1"/>
          <p:nvPr/>
        </p:nvSpPr>
        <p:spPr>
          <a:xfrm>
            <a:off x="6172200" y="292150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83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S27</a:t>
            </a:r>
            <a:endParaRPr lang="en-US" sz="950" dirty="0"/>
          </a:p>
        </p:txBody>
      </p:sp>
      <p:sp>
        <p:nvSpPr>
          <p:cNvPr id="54" name="Text 52"/>
          <p:cNvSpPr txBox="1"/>
          <p:nvPr/>
        </p:nvSpPr>
        <p:spPr>
          <a:xfrm>
            <a:off x="6675120" y="2921508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Pokémon fit 칼로스 지방 시리즈, 2024-05-31</a:t>
            </a:r>
            <a:endParaRPr lang="en-US" sz="950" dirty="0"/>
          </a:p>
        </p:txBody>
      </p:sp>
      <p:sp>
        <p:nvSpPr>
          <p:cNvPr id="55" name="Text 53"/>
          <p:cNvSpPr txBox="1"/>
          <p:nvPr/>
        </p:nvSpPr>
        <p:spPr>
          <a:xfrm>
            <a:off x="6172200" y="31546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83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N01</a:t>
            </a:r>
            <a:endParaRPr lang="en-US" sz="950" dirty="0"/>
          </a:p>
        </p:txBody>
      </p:sp>
      <p:sp>
        <p:nvSpPr>
          <p:cNvPr id="56" name="Text 54"/>
          <p:cNvSpPr txBox="1"/>
          <p:nvPr/>
        </p:nvSpPr>
        <p:spPr>
          <a:xfrm>
            <a:off x="6675120" y="315468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한국콘텐츠진흥원, 2024 캐릭터 이용자 조사</a:t>
            </a:r>
            <a:endParaRPr lang="en-US" sz="950" dirty="0"/>
          </a:p>
        </p:txBody>
      </p:sp>
      <p:sp>
        <p:nvSpPr>
          <p:cNvPr id="57" name="Text 55"/>
          <p:cNvSpPr txBox="1"/>
          <p:nvPr/>
        </p:nvSpPr>
        <p:spPr>
          <a:xfrm>
            <a:off x="6172200" y="338785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83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N02</a:t>
            </a:r>
            <a:endParaRPr lang="en-US" sz="950" dirty="0"/>
          </a:p>
        </p:txBody>
      </p:sp>
      <p:sp>
        <p:nvSpPr>
          <p:cNvPr id="58" name="Text 56"/>
          <p:cNvSpPr txBox="1"/>
          <p:nvPr/>
        </p:nvSpPr>
        <p:spPr>
          <a:xfrm>
            <a:off x="6675120" y="3387852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Zhang &amp; Zhang (2022), Frontiers in Psychology</a:t>
            </a:r>
            <a:endParaRPr lang="en-US" sz="950" dirty="0"/>
          </a:p>
        </p:txBody>
      </p:sp>
      <p:sp>
        <p:nvSpPr>
          <p:cNvPr id="59" name="Text 57"/>
          <p:cNvSpPr txBox="1"/>
          <p:nvPr/>
        </p:nvSpPr>
        <p:spPr>
          <a:xfrm>
            <a:off x="6172200" y="362102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83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N03</a:t>
            </a:r>
            <a:endParaRPr lang="en-US" sz="950" dirty="0"/>
          </a:p>
        </p:txBody>
      </p:sp>
      <p:sp>
        <p:nvSpPr>
          <p:cNvPr id="60" name="Text 58"/>
          <p:cNvSpPr txBox="1"/>
          <p:nvPr/>
        </p:nvSpPr>
        <p:spPr>
          <a:xfrm>
            <a:off x="6675120" y="3621024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POP MART 미국 공식몰 THE MONSTERS (2026-10-13 관찰)</a:t>
            </a:r>
            <a:endParaRPr lang="en-US" sz="950" dirty="0"/>
          </a:p>
        </p:txBody>
      </p:sp>
      <p:sp>
        <p:nvSpPr>
          <p:cNvPr id="61" name="Text 59"/>
          <p:cNvSpPr txBox="1"/>
          <p:nvPr/>
        </p:nvSpPr>
        <p:spPr>
          <a:xfrm>
            <a:off x="6172200" y="385419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83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N04</a:t>
            </a:r>
            <a:endParaRPr lang="en-US" sz="950" dirty="0"/>
          </a:p>
        </p:txBody>
      </p:sp>
      <p:sp>
        <p:nvSpPr>
          <p:cNvPr id="62" name="Text 60"/>
          <p:cNvSpPr txBox="1"/>
          <p:nvPr/>
        </p:nvSpPr>
        <p:spPr>
          <a:xfrm>
            <a:off x="6675120" y="385419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Sanrio, FY2026.3 결산 설명 자료</a:t>
            </a:r>
            <a:endParaRPr lang="en-US" sz="950" dirty="0"/>
          </a:p>
        </p:txBody>
      </p:sp>
      <p:sp>
        <p:nvSpPr>
          <p:cNvPr id="63" name="Text 61"/>
          <p:cNvSpPr txBox="1"/>
          <p:nvPr/>
        </p:nvSpPr>
        <p:spPr>
          <a:xfrm>
            <a:off x="6172200" y="40873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83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N05</a:t>
            </a:r>
            <a:endParaRPr lang="en-US" sz="950" dirty="0"/>
          </a:p>
        </p:txBody>
      </p:sp>
      <p:sp>
        <p:nvSpPr>
          <p:cNvPr id="64" name="Text 62"/>
          <p:cNvSpPr txBox="1"/>
          <p:nvPr/>
        </p:nvSpPr>
        <p:spPr>
          <a:xfrm>
            <a:off x="6675120" y="4087368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Sanrio, 포차코 옷 갈아입기 시리즈, 2025.2</a:t>
            </a:r>
            <a:endParaRPr lang="en-US" sz="950" dirty="0"/>
          </a:p>
        </p:txBody>
      </p:sp>
      <p:sp>
        <p:nvSpPr>
          <p:cNvPr id="65" name="Text 63"/>
          <p:cNvSpPr txBox="1"/>
          <p:nvPr/>
        </p:nvSpPr>
        <p:spPr>
          <a:xfrm>
            <a:off x="6172200" y="432054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83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N06</a:t>
            </a:r>
            <a:endParaRPr lang="en-US" sz="950" dirty="0"/>
          </a:p>
        </p:txBody>
      </p:sp>
      <p:sp>
        <p:nvSpPr>
          <p:cNvPr id="66" name="Text 64"/>
          <p:cNvSpPr txBox="1"/>
          <p:nvPr/>
        </p:nvSpPr>
        <p:spPr>
          <a:xfrm>
            <a:off x="6675120" y="432054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Tiffany &amp; Co., Arsham Studio × Pokémon, 2023-11-13</a:t>
            </a:r>
            <a:endParaRPr lang="en-US" sz="950" dirty="0"/>
          </a:p>
        </p:txBody>
      </p:sp>
      <p:sp>
        <p:nvSpPr>
          <p:cNvPr id="67" name="Text 65"/>
          <p:cNvSpPr txBox="1"/>
          <p:nvPr/>
        </p:nvSpPr>
        <p:spPr>
          <a:xfrm>
            <a:off x="6172200" y="455371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83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N07</a:t>
            </a:r>
            <a:endParaRPr lang="en-US" sz="950" dirty="0"/>
          </a:p>
        </p:txBody>
      </p:sp>
      <p:sp>
        <p:nvSpPr>
          <p:cNvPr id="68" name="Text 66"/>
          <p:cNvSpPr txBox="1"/>
          <p:nvPr/>
        </p:nvSpPr>
        <p:spPr>
          <a:xfrm>
            <a:off x="6675120" y="4553712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카카오, 춘식이 팬미팅·콘텐츠 안내, 2023-03-08</a:t>
            </a:r>
            <a:endParaRPr lang="en-US" sz="950" dirty="0"/>
          </a:p>
        </p:txBody>
      </p:sp>
      <p:sp>
        <p:nvSpPr>
          <p:cNvPr id="69" name="Text 67"/>
          <p:cNvSpPr txBox="1"/>
          <p:nvPr/>
        </p:nvSpPr>
        <p:spPr>
          <a:xfrm>
            <a:off x="6172200" y="478688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83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N08</a:t>
            </a:r>
            <a:endParaRPr lang="en-US" sz="950" dirty="0"/>
          </a:p>
        </p:txBody>
      </p:sp>
      <p:sp>
        <p:nvSpPr>
          <p:cNvPr id="70" name="Text 68"/>
          <p:cNvSpPr txBox="1"/>
          <p:nvPr/>
        </p:nvSpPr>
        <p:spPr>
          <a:xfrm>
            <a:off x="6675120" y="4786884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코리아넷, 400억 시장 연 K-뮷즈, 2026-05-07</a:t>
            </a:r>
            <a:endParaRPr lang="en-US" sz="950" dirty="0"/>
          </a:p>
        </p:txBody>
      </p:sp>
      <p:sp>
        <p:nvSpPr>
          <p:cNvPr id="71" name="Text 69"/>
          <p:cNvSpPr txBox="1"/>
          <p:nvPr/>
        </p:nvSpPr>
        <p:spPr>
          <a:xfrm>
            <a:off x="6172200" y="502005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83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N09</a:t>
            </a:r>
            <a:endParaRPr lang="en-US" sz="950" dirty="0"/>
          </a:p>
        </p:txBody>
      </p:sp>
      <p:sp>
        <p:nvSpPr>
          <p:cNvPr id="72" name="Text 70"/>
          <p:cNvSpPr txBox="1"/>
          <p:nvPr/>
        </p:nvSpPr>
        <p:spPr>
          <a:xfrm>
            <a:off x="6675120" y="502005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국립박물관문화재단, 반가사유상 미니어처 ver.3</a:t>
            </a:r>
            <a:endParaRPr lang="en-US" sz="950" dirty="0"/>
          </a:p>
        </p:txBody>
      </p:sp>
      <p:sp>
        <p:nvSpPr>
          <p:cNvPr id="73" name="Text 71"/>
          <p:cNvSpPr txBox="1"/>
          <p:nvPr/>
        </p:nvSpPr>
        <p:spPr>
          <a:xfrm>
            <a:off x="6172200" y="525322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83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N10</a:t>
            </a:r>
            <a:endParaRPr lang="en-US" sz="950" dirty="0"/>
          </a:p>
        </p:txBody>
      </p:sp>
      <p:sp>
        <p:nvSpPr>
          <p:cNvPr id="74" name="Text 72"/>
          <p:cNvSpPr txBox="1"/>
          <p:nvPr/>
        </p:nvSpPr>
        <p:spPr>
          <a:xfrm>
            <a:off x="6675120" y="5253228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한국경제, 프릳츠 김병기 대표 인터뷰, 2020-06-18</a:t>
            </a:r>
            <a:endParaRPr lang="en-US" sz="950" dirty="0"/>
          </a:p>
        </p:txBody>
      </p:sp>
      <p:sp>
        <p:nvSpPr>
          <p:cNvPr id="75" name="Text 73"/>
          <p:cNvSpPr txBox="1"/>
          <p:nvPr/>
        </p:nvSpPr>
        <p:spPr>
          <a:xfrm>
            <a:off x="6172200" y="54864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83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N11</a:t>
            </a:r>
            <a:endParaRPr lang="en-US" sz="950" dirty="0"/>
          </a:p>
        </p:txBody>
      </p:sp>
      <p:sp>
        <p:nvSpPr>
          <p:cNvPr id="76" name="Text 74"/>
          <p:cNvSpPr txBox="1"/>
          <p:nvPr/>
        </p:nvSpPr>
        <p:spPr>
          <a:xfrm>
            <a:off x="6675120" y="548640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NAVER WORKS 고객 사례, 프릳츠커피컴퍼니</a:t>
            </a:r>
            <a:endParaRPr lang="en-US" sz="950" dirty="0"/>
          </a:p>
        </p:txBody>
      </p:sp>
      <p:sp>
        <p:nvSpPr>
          <p:cNvPr id="77" name="Text 75"/>
          <p:cNvSpPr txBox="1"/>
          <p:nvPr/>
        </p:nvSpPr>
        <p:spPr>
          <a:xfrm>
            <a:off x="6172200" y="571957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83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N12</a:t>
            </a:r>
            <a:endParaRPr lang="en-US" sz="950" dirty="0"/>
          </a:p>
        </p:txBody>
      </p:sp>
      <p:sp>
        <p:nvSpPr>
          <p:cNvPr id="78" name="Text 76"/>
          <p:cNvSpPr txBox="1"/>
          <p:nvPr/>
        </p:nvSpPr>
        <p:spPr>
          <a:xfrm>
            <a:off x="6675120" y="5719572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2A26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뉴스1, 캐치! 티니핑 첫 방송, 2020-03-19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8321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캐릭터 IP 사례 자료집 · 묘브제 적용판</dc:title>
  <dc:subject>PptxGenJS Presentation</dc:subject>
  <dc:creator>묘브제</dc:creator>
  <cp:lastModifiedBy>묘브제</cp:lastModifiedBy>
  <cp:revision>1</cp:revision>
  <dcterms:created xsi:type="dcterms:W3CDTF">2026-10-13T08:29:08Z</dcterms:created>
  <dcterms:modified xsi:type="dcterms:W3CDTF">2026-10-13T08:29:08Z</dcterms:modified>
</cp:coreProperties>
</file>