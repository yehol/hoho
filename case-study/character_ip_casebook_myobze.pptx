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2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응답률</c:v>
                </c:pt>
              </c:strCache>
            </c:strRef>
          </c:tx>
          <c:spPr>
            <a:solidFill>
              <a:srgbClr val="C8321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A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디자인이 마음에 들어서</c:v>
                  </c:pt>
                  <c:pt idx="1">
                    <c:v>익숙해서·자주 봐서</c:v>
                  </c:pt>
                  <c:pt idx="2">
                    <c:v>캐릭터의 행동이 좋아서</c:v>
                  </c:pt>
                  <c:pt idx="3">
                    <c:v>등장 콘텐츠가 좋아서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60.2</c:v>
                </c:pt>
                <c:pt idx="1">
                  <c:v>40.5</c:v>
                </c:pt>
                <c:pt idx="2">
                  <c:v>32.9</c:v>
                </c:pt>
                <c:pt idx="3">
                  <c:v>24.2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A2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6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응답률</c:v>
                </c:pt>
              </c:strCache>
            </c:strRef>
          </c:tx>
          <c:spPr>
            <a:solidFill>
              <a:srgbClr val="C8321F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A2622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캐릭터 디자인·외모</c:v>
                  </c:pt>
                  <c:pt idx="1">
                    <c:v>캐릭터에 대한 호감</c:v>
                  </c:pt>
                  <c:pt idx="2">
                    <c:v>상품 품질</c:v>
                  </c:pt>
                  <c:pt idx="3">
                    <c:v>상품 가격</c:v>
                  </c:pt>
                  <c:pt idx="4">
                    <c:v>캐릭터 인지도·인기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42.4</c:v>
                </c:pt>
                <c:pt idx="1">
                  <c:v>42</c:v>
                </c:pt>
                <c:pt idx="2">
                  <c:v>26.8</c:v>
                </c:pt>
                <c:pt idx="3">
                  <c:v>24.3</c:v>
                </c:pt>
                <c:pt idx="4">
                  <c:v>23.5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2A2622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A262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CHARACTER IP CASE BOOK · 묘브제 적용판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C832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1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5.jp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7.jpg"/><Relationship Id="rId8" Type="http://schemas.openxmlformats.org/officeDocument/2006/relationships/image" Target="../media/image-7-8.jpg"/><Relationship Id="rId9" Type="http://schemas.openxmlformats.org/officeDocument/2006/relationships/image" Target="../media/image-7-9.jpg"/><Relationship Id="rId10" Type="http://schemas.openxmlformats.org/officeDocument/2006/relationships/image" Target="../media/image-7-10.jpg"/><Relationship Id="rId11" Type="http://schemas.openxmlformats.org/officeDocument/2006/relationships/image" Target="../media/image-7-11.jpg"/><Relationship Id="rId12" Type="http://schemas.openxmlformats.org/officeDocument/2006/relationships/image" Target="../media/image-7-12.jpg"/><Relationship Id="rId13" Type="http://schemas.openxmlformats.org/officeDocument/2006/relationships/image" Target="../media/image-7-13.jpg"/><Relationship Id="rId14" Type="http://schemas.openxmlformats.org/officeDocument/2006/relationships/image" Target="../media/image-7-14.jpg"/><Relationship Id="rId15" Type="http://schemas.openxmlformats.org/officeDocument/2006/relationships/image" Target="../media/image-7-15.jpg"/><Relationship Id="rId16" Type="http://schemas.openxmlformats.org/officeDocument/2006/relationships/image" Target="../media/image-7-16.jpg"/><Relationship Id="rId17" Type="http://schemas.openxmlformats.org/officeDocument/2006/relationships/image" Target="../media/image-7-17.jp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image" Target="../media/image-8-7.jp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hyperlink" Target="https://prod-out-res.popmart.com/cms/ANNUAL_REPORT_2025_bd4e173872.pdf" TargetMode="External"/><Relationship Id="rId2" Type="http://schemas.openxmlformats.org/officeDocument/2006/relationships/hyperlink" Target="https://www.channelnewsasia.com/cna-insider/big-read/pop-mart-labubu-worldwide-craze-5354541" TargetMode="External"/><Relationship Id="rId3" Type="http://schemas.openxmlformats.org/officeDocument/2006/relationships/hyperlink" Target="https://www.lseg.com/en/insights/data-analytics/labubu-craze-using-nlp-understand-behaviour-behind-market-surges-bubbles" TargetMode="External"/><Relationship Id="rId4" Type="http://schemas.openxmlformats.org/officeDocument/2006/relationships/hyperlink" Target="https://corporate.sanrio.co.jp/en/business-info/brands/hello_kity/index.html" TargetMode="External"/><Relationship Id="rId5" Type="http://schemas.openxmlformats.org/officeDocument/2006/relationships/hyperlink" Target="https://www.kakaocorp.com/page/detail/9439" TargetMode="External"/><Relationship Id="rId6" Type="http://schemas.openxmlformats.org/officeDocument/2006/relationships/hyperlink" Target="https://www.kakaocorp.com/page/detail/11555" TargetMode="External"/><Relationship Id="rId7" Type="http://schemas.openxmlformats.org/officeDocument/2006/relationships/hyperlink" Target="https://www.newspim.com/news/view/20250214000054" TargetMode="External"/><Relationship Id="rId8" Type="http://schemas.openxmlformats.org/officeDocument/2006/relationships/hyperlink" Target="https://m.fritz.co.kr/product/detail.html?cate_no=26&amp;display_group=1&amp;product_no=1879" TargetMode="External"/><Relationship Id="rId9" Type="http://schemas.openxmlformats.org/officeDocument/2006/relationships/hyperlink" Target="https://www.ghibli.jp/history/" TargetMode="External"/><Relationship Id="rId10" Type="http://schemas.openxmlformats.org/officeDocument/2006/relationships/hyperlink" Target="https://www.jungle.co.kr/magazine/203838" TargetMode="External"/><Relationship Id="rId11" Type="http://schemas.openxmlformats.org/officeDocument/2006/relationships/hyperlink" Target="https://corporate.pokemon.co.jp/en/aboutus/history/" TargetMode="External"/><Relationship Id="rId12" Type="http://schemas.openxmlformats.org/officeDocument/2006/relationships/hyperlink" Target="https://prtimes.jp/main/html/rd/p/000001725.000022901.html" TargetMode="External"/><Relationship Id="rId13" Type="http://schemas.openxmlformats.org/officeDocument/2006/relationships/hyperlink" Target="https://thealdrich.org/exhibitions/kaws-companion-passing-through" TargetMode="External"/><Relationship Id="rId14" Type="http://schemas.openxmlformats.org/officeDocument/2006/relationships/hyperlink" Target="https://friendswithyou.com/project/little-cloud-lamp" TargetMode="External"/><Relationship Id="rId15" Type="http://schemas.openxmlformats.org/officeDocument/2006/relationships/hyperlink" Target="https://happeningandfriends.com/article-detail/340?lang=en" TargetMode="External"/><Relationship Id="rId16" Type="http://schemas.openxmlformats.org/officeDocument/2006/relationships/hyperlink" Target="https://ninehy.tistory.com/entry/&#52852;&#52852;&#50724;&#53665;-&#51060;&#47784;&#54000;&#53080;&#44396;&#45285;&#51080;&#45716;-&#44396;&#45285;&#51060;" TargetMode="External"/><Relationship Id="rId17" Type="http://schemas.openxmlformats.org/officeDocument/2006/relationships/hyperlink" Target="https://ilovecharacter.com/news/newsview.php?ncode=1065589544292537" TargetMode="External"/><Relationship Id="rId18" Type="http://schemas.openxmlformats.org/officeDocument/2006/relationships/hyperlink" Target="https://blog.youtube/intl/ko-kr/creator-and-artist-stories/creator-of-the-month-november/" TargetMode="External"/><Relationship Id="rId19" Type="http://schemas.openxmlformats.org/officeDocument/2006/relationships/hyperlink" Target="https://www.hankyung.com/article/202607106965g" TargetMode="External"/><Relationship Id="rId20" Type="http://schemas.openxmlformats.org/officeDocument/2006/relationships/hyperlink" Target="https://en.joguman.com/23523535" TargetMode="External"/><Relationship Id="rId21" Type="http://schemas.openxmlformats.org/officeDocument/2006/relationships/hyperlink" Target="https://www.newswire.co.kr/newsRead.php?no=956571" TargetMode="External"/><Relationship Id="rId22" Type="http://schemas.openxmlformats.org/officeDocument/2006/relationships/hyperlink" Target="https://www.bt21.com/meetbt21?lang=ko" TargetMode="External"/><Relationship Id="rId23" Type="http://schemas.openxmlformats.org/officeDocument/2006/relationships/hyperlink" Target="https://news.sbs.co.kr/news/endPage.do?news_id=N1007773139" TargetMode="External"/><Relationship Id="rId24" Type="http://schemas.openxmlformats.org/officeDocument/2006/relationships/hyperlink" Target="https://jellycat.com/jellycat-fish-chips-experience-london/" TargetMode="External"/><Relationship Id="rId25" Type="http://schemas.openxmlformats.org/officeDocument/2006/relationships/hyperlink" Target="https://www.pokemon.co.jp/goods/2024/05/240531_to01.html" TargetMode="External"/><Relationship Id="rId26" Type="http://schemas.openxmlformats.org/officeDocument/2006/relationships/hyperlink" Target="https://welcon.kocca.kr/" TargetMode="External"/><Relationship Id="rId27" Type="http://schemas.openxmlformats.org/officeDocument/2006/relationships/hyperlink" Target="https://www.frontiersin.org/journals/psychology/articles/10.3389/fpsyg.2022.946527/full" TargetMode="External"/><Relationship Id="rId28" Type="http://schemas.openxmlformats.org/officeDocument/2006/relationships/hyperlink" Target="https://www.popmart.com/us/collection/the-monsters-have-a-seat" TargetMode="External"/><Relationship Id="rId29" Type="http://schemas.openxmlformats.org/officeDocument/2006/relationships/hyperlink" Target="https://finance-frontend-pc-dist.west.edge.storage-yahoo.jp/disclosure/20260623/20260623576856.pdf" TargetMode="External"/><Relationship Id="rId30" Type="http://schemas.openxmlformats.org/officeDocument/2006/relationships/hyperlink" Target="https://www.sanrio.co.jp/news/goods/pc-okigae-202502/?id=i7" TargetMode="External"/><Relationship Id="rId31" Type="http://schemas.openxmlformats.org/officeDocument/2006/relationships/hyperlink" Target="https://www.tiffany.com/world-of-tiffany/collaborations/daniel-arsham-pokemon.html" TargetMode="External"/><Relationship Id="rId32" Type="http://schemas.openxmlformats.org/officeDocument/2006/relationships/hyperlink" Target="https://www.kakaocorp.com/page/detail/9897" TargetMode="External"/><Relationship Id="rId33" Type="http://schemas.openxmlformats.org/officeDocument/2006/relationships/hyperlink" Target="https://www.korean-culture.org/koreanet/view.do?seq=1054437" TargetMode="External"/><Relationship Id="rId34" Type="http://schemas.openxmlformats.org/officeDocument/2006/relationships/hyperlink" Target="https://www.museumshop.or.kr/kor/product/product_view.do?str_bcode=030320009&amp;str_goodcode=202210250018" TargetMode="External"/><Relationship Id="rId35" Type="http://schemas.openxmlformats.org/officeDocument/2006/relationships/hyperlink" Target="https://v.daum.net/v/20200618151602666?s=print_news" TargetMode="External"/><Relationship Id="rId36" Type="http://schemas.openxmlformats.org/officeDocument/2006/relationships/hyperlink" Target="https://gov-naverworks.com/cases/fritzcoffeecompany/" TargetMode="External"/><Relationship Id="rId37" Type="http://schemas.openxmlformats.org/officeDocument/2006/relationships/hyperlink" Target="https://www.news1.kr/industry/distribution/3879053" TargetMode="External"/><Relationship Id="rId38" Type="http://schemas.openxmlformats.org/officeDocument/2006/relationships/slideLayout" Target="../slideLayouts/slideLayout2.xml"/><Relationship Id="rId3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openads.co.kr/content/contentDetail?contsId=20677" TargetMode="External"/><Relationship Id="rId2" Type="http://schemas.openxmlformats.org/officeDocument/2006/relationships/hyperlink" Target="https://koreascience.kr/article/JAKO201724963133443.pdf" TargetMode="External"/><Relationship Id="rId3" Type="http://schemas.openxmlformats.org/officeDocument/2006/relationships/hyperlink" Target="https://www.sciencedirect.com/science/article/abs/pii/S0148296321009735" TargetMode="External"/><Relationship Id="rId4" Type="http://schemas.openxmlformats.org/officeDocument/2006/relationships/hyperlink" Target="https://news.qq.com/rain/a/20260325A049SD00" TargetMode="External"/><Relationship Id="rId5" Type="http://schemas.openxmlformats.org/officeDocument/2006/relationships/hyperlink" Target="https://www.ourchinastory.com/en/14942/Story-of-Labubu&apos;s-father:-HK-artist-Kasing-Lung" TargetMode="External"/><Relationship Id="rId6" Type="http://schemas.openxmlformats.org/officeDocument/2006/relationships/hyperlink" Target="https://www.timeout.com/tokyo/news/sanrio-has-announced-its-2025-character-ranking-results-070225" TargetMode="External"/><Relationship Id="rId7" Type="http://schemas.openxmlformats.org/officeDocument/2006/relationships/hyperlink" Target="https://en.wikipedia.org/wiki/Hello_Kitty" TargetMode="External"/><Relationship Id="rId8" Type="http://schemas.openxmlformats.org/officeDocument/2006/relationships/hyperlink" Target="https://bornlicensing.com/license/kuromi" TargetMode="External"/><Relationship Id="rId9" Type="http://schemas.openxmlformats.org/officeDocument/2006/relationships/hyperlink" Target="https://seekingalpha.com/pr/20184651-license-global-unveils-top-global-licensors-2025-whitepaper" TargetMode="External"/><Relationship Id="rId10" Type="http://schemas.openxmlformats.org/officeDocument/2006/relationships/hyperlink" Target="https://www.kakaocorp.com/page/detail/11358" TargetMode="External"/><Relationship Id="rId11" Type="http://schemas.openxmlformats.org/officeDocument/2006/relationships/hyperlink" Target="https://www.heraldk.com/article/2026020916094418250" TargetMode="External"/><Relationship Id="rId12" Type="http://schemas.openxmlformats.org/officeDocument/2006/relationships/hyperlink" Target="https://www.mentalfloss.com/entertainment/movies/my-neighbor-totoro-hayao-miyazaki-studio-ghibli-facts" TargetMode="External"/><Relationship Id="rId13" Type="http://schemas.openxmlformats.org/officeDocument/2006/relationships/hyperlink" Target="https://www.artforum.com/events/kaws-2-248311/" TargetMode="External"/><Relationship Id="rId14" Type="http://schemas.openxmlformats.org/officeDocument/2006/relationships/hyperlink" Target="https://samblog.seattleartmuseum.org/2025/08/friendswithyou-interview/" TargetMode="External"/><Relationship Id="rId15" Type="http://schemas.openxmlformats.org/officeDocument/2006/relationships/hyperlink" Target="https://maison-objet.com/en/paris/magazine/success-stories/jellycat-the-superstar-of-softies" TargetMode="External"/><Relationship Id="rId16" Type="http://schemas.openxmlformats.org/officeDocument/2006/relationships/hyperlink" Target="https://www.wkorea.com/2011/02/18/%EC%8A%A4%ED%8B%B0%ED%82%A4-%EB%AA%AC%EC%8A%A4%ED%84%B0" TargetMode="External"/><Relationship Id="rId17" Type="http://schemas.openxmlformats.org/officeDocument/2006/relationships/hyperlink" Target="https://trend.inabooth.io/koo9oo" TargetMode="External"/><Relationship Id="rId18" Type="http://schemas.openxmlformats.org/officeDocument/2006/relationships/hyperlink" Target="https://v.daum.net/v/5FXYhhe7mY" TargetMode="External"/><Relationship Id="rId19" Type="http://schemas.openxmlformats.org/officeDocument/2006/relationships/hyperlink" Target="https://www.fnnews.com/news/202607101434438201" TargetMode="External"/><Relationship Id="rId20" Type="http://schemas.openxmlformats.org/officeDocument/2006/relationships/hyperlink" Target="https://design.co.kr/article/107867/" TargetMode="External"/><Relationship Id="rId21" Type="http://schemas.openxmlformats.org/officeDocument/2006/relationships/hyperlink" Target="https://m.some.co.kr/contents/detail/AxNWREhe" TargetMode="External"/><Relationship Id="rId22" Type="http://schemas.openxmlformats.org/officeDocument/2006/relationships/hyperlink" Target="https://www.soompi.com/article/1066229wpp/watch-bts-shows-designed-original-line-friends-characters" TargetMode="External"/><Relationship Id="rId23" Type="http://schemas.openxmlformats.org/officeDocument/2006/relationships/hyperlink" Target="https://gogumafarm.kr/%EA%B4%80%EA%B0%9D-%EC%88%98-100%EB%A7%8C%EC%9D%84-%EB%8F%8C%ED%8C%8C%ED%95%9C-%ED%8B%B0%EB%8B%88%ED%95%91-%EC%8B%9C%EB%A6%AC%EC%A6%88%EC%9D%98-%EC%9D%B8%EA%B8%B0-%EB%B9%84%EA%B2%B0-%EC%82%B4/" TargetMode="External"/><Relationship Id="rId24" Type="http://schemas.openxmlformats.org/officeDocument/2006/relationships/slideLayout" Target="../slideLayouts/slideLayout2.xml"/><Relationship Id="rId25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CHARACTER IP CASE BOOK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6400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IP</a:t>
            </a:r>
            <a:endParaRPr lang="en-US" sz="48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8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 자료집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좋아하나 · 어떤 브랜드로 보이나 · 묘브제에는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사례를 매출·순위·인지도 근거로 다시 읽고,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성격·감정·비주얼 언어로 브랜드 이미지를 분석했습니다.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92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4892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2057400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갈래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법칙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74920" y="48920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5074920" y="5577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빈칸</a:t>
            </a:r>
            <a:endParaRPr lang="en-US" sz="1100" dirty="0"/>
          </a:p>
        </p:txBody>
      </p:sp>
      <p:pic>
        <p:nvPicPr>
          <p:cNvPr id="14" name="Image 0" descr="/tmp/claude-0/-home-user-hoho/be02f18f-1e6f-5d80-8a1f-70cf34bf4c7e/scratchpad/build/crop/cov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548640"/>
            <a:ext cx="4754880" cy="57607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885432" y="6355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2026.10.13 · 개인 참고용 · 이미지: POP MART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요약: 왜 좋아하나, 어떤 브랜드로 보이나, 묘브제에는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인터뷰 없이 매출·팬 투표·공개 조사로 확인한 내용과, 그 위에 올린 해석을 구분했습니다.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47872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432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좋아하나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9992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디자인은 모든 조사에서 1위입니다(60.2%).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그다음은 익숙함(40.5%)과 캐릭터의 행동(32.9%)입니다. 예쁨은 관문이고, 성격과 감정이 선호를 가릅니다.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623560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15968" y="1874520"/>
            <a:ext cx="3547872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90288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27432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브랜드로 보이나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90288" y="3291840"/>
            <a:ext cx="29992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사랑받는 캐릭터는 '예쁨 + 반전'을 갖고 있습니다.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감정은 다섯 갈래로 나뉘고, 비주얼은 '기호 하나 + 표정 절제'가 공통입니다.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5623560"/>
            <a:ext cx="566928" cy="237744"/>
          </a:xfrm>
          <a:prstGeom prst="rect">
            <a:avLst/>
          </a:prstGeom>
          <a:solidFill>
            <a:srgbClr val="E6E0D7"/>
          </a:solidFill>
          <a:ln w="12700">
            <a:solidFill>
              <a:srgbClr val="E6E0D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083296" y="1874520"/>
            <a:ext cx="3547872" cy="420624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57616" y="214884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8357616" y="27432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묘브제에는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357616" y="3291840"/>
            <a:ext cx="299923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물질의 인상과 감정 질문은 이미 있음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비어 있는 것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토끼별 성격·행동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반전(모자란 점)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기억될 기호 하나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표정 방향(투영형·표현형)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57616" y="5623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적용 제안 · 검증 전 가설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HOW TO READ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기준: 브랜드 이미지 4개 + 상품화 1개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사례를 같은 질문으로 읽었습니다. 앞의 네 개가 이번 자료의 중심입니다.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21031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5603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03580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하고, 어떤 성격이며, 어디가 모자란가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특강 · 차별점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98064" y="1828800"/>
            <a:ext cx="21031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99232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99232" y="25603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999232" y="303580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보는 사람에게 어떤 기분을 주는가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99232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특강 · 존재 이유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828800"/>
            <a:ext cx="21031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8656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48656" y="25603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5248656" y="303580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한눈에 기억되는 기호는 무엇인가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248656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특강 · 쉽게 이해되게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210312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98080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0" y="25603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선호 근거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0" y="303580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매출·팬 투표·인지도로 확인되는가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A단계 근거 조사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46336" y="1828800"/>
            <a:ext cx="2103120" cy="3063240"/>
          </a:xfrm>
          <a:prstGeom prst="rect">
            <a:avLst/>
          </a:prstGeom>
          <a:solidFill>
            <a:srgbClr val="EEEAE4"/>
          </a:solidFill>
          <a:ln w="12700">
            <a:solidFill>
              <a:srgbClr val="EEEAE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47504" y="202996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747504" y="25603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9747504" y="3035808"/>
            <a:ext cx="1737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상품·가격으로 지갑을 여는가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9747504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원고 · 상품·가격 분석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1937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표기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691640" y="5212080"/>
            <a:ext cx="566928" cy="237744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2350008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공시·공식 조사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4160520" y="5212080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4818888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회사·기관의 설명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629400" y="5212080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287768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기사·인터뷰 인용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9098280" y="5212080"/>
            <a:ext cx="566928" cy="237744"/>
          </a:xfrm>
          <a:prstGeom prst="rect">
            <a:avLst/>
          </a:prstGeom>
          <a:solidFill>
            <a:srgbClr val="E6E0D7"/>
          </a:solidFill>
          <a:ln w="12700">
            <a:solidFill>
              <a:srgbClr val="E6E0D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756648" y="5212080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자료의 분석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65099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 숫자는 순위를 매기는 데 쓰지 않습니다. 회사 전체·IP 묶음·개별 상품처럼 범위가 달라 서로 비교할 수 없기 때문입니다.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이미지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사람들이 캐릭터를 왜 좋아하는지 공개 근거로 먼저 확인하고,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사례의 성격·감정·비주얼 언어를 같은 틀로 봤습니다.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선호 근거 · 예쁨 + 반전 · 감정 다섯 갈래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기호와 이름 · 사례별 이미지 · 묘브제 점검</a:t>
            </a:r>
            <a:endParaRPr lang="en-US" sz="1300" dirty="0"/>
          </a:p>
        </p:txBody>
      </p:sp>
      <p:pic>
        <p:nvPicPr>
          <p:cNvPr id="6" name="Image 0" descr="/tmp/claude-0/-home-user-hoho/be02f18f-1e6f-5d80-8a1f-70cf34bf4c7e/scratchpad/build/crop/div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48640"/>
            <a:ext cx="4206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EVIDENCE · 선호 근거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예쁨은 관문, 그다음은 익숙함·행동·감정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최애 캐릭터를 좋아하게 된 이유 (한국콘텐츠진흥원 조사, 1·2순위 합산)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30936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669280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207008" y="566928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칼럼 인용 수치. 조사 연도·표본은 원문 확인 필요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178040" y="1783080"/>
            <a:ext cx="4465015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52360" y="1965960"/>
            <a:ext cx="3916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방향을 가리키는 다른 근거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52360" y="2423160"/>
            <a:ext cx="391637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452360" y="25146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 국내 선호도 논문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0801807" y="2532888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7452360" y="2834640"/>
            <a:ext cx="3916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외모 27.3% · 친근함 26.5% · 많이 알려져서 24.4% · 행동 14.1%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52360" y="3538728"/>
            <a:ext cx="391637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52360" y="3630168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KOCCA 2024 구매 고려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10801807" y="3648456"/>
            <a:ext cx="566928" cy="237744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452360" y="3950208"/>
            <a:ext cx="3916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'디자인·외모' 42.4%와 '캐릭터 호감' 42.0%가 따로 집계됨. 생김새와 '그 캐릭터가 좋다'는 다른 것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452360" y="4654296"/>
            <a:ext cx="391637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52360" y="4745736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J. of Business Research 2022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0801807" y="4764024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452360" y="5065776"/>
            <a:ext cx="39163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나와 닮았다는 느낌·감정적 가치 → 구매·충동구매. 생김새의 상징성 → 인지도 (225명)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오픈애즈 칼럼(KOCCA 조사 인용) · 국내 캐릭터 선호도 조사를 통한 이용충족 분석연구(2017) · KOCCA 2024 캐릭터 이용자 조사 · JBR 142:211-220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오래 사랑받는 캐릭터에는 '예쁨 + 반전'이 있다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겉모습에 결핍이나 예상 밖의 감정이 붙어 있습니다. 매출·인지도 근거가 큰 사례일수록 이 설정이 분명합니다 (해석).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1783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783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예쁨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1783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반전·결핍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1783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선호 근거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084832"/>
            <a:ext cx="11094415" cy="0"/>
          </a:xfrm>
          <a:prstGeom prst="line">
            <a:avLst/>
          </a:prstGeom>
          <a:noFill/>
          <a:ln w="19050">
            <a:solidFill>
              <a:srgbClr val="C8321F"/>
            </a:solidFill>
            <a:prstDash val="solid"/>
          </a:ln>
        </p:spPr>
      </p:sp>
      <p:pic>
        <p:nvPicPr>
          <p:cNvPr id="10" name="Image 0" descr="/tmp/claude-0/-home-user-hoho/be02f18f-1e6f-5d80-8a1f-70cf34bf4c7e/scratchpad/build/crop/t_labub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39696"/>
            <a:ext cx="621792" cy="62179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8600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474720" y="22860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털 봉제의 귀여움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228600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드러난 이빨, 착하지만 사고뭉치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144000" y="228600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MONSTERS 141.6억 위안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281635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pic>
        <p:nvPicPr>
          <p:cNvPr id="16" name="Image 1" descr="/tmp/claude-0/-home-user-hoho/be02f18f-1e6f-5d80-8a1f-70cf34bf4c7e/scratchpad/build/crop/t_ka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71216"/>
            <a:ext cx="621792" cy="62179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63040" y="30175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KAWS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3474720" y="30175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미키마우스를 닮은 몸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035040" y="301752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X형 눈과 해골, 얼굴을 가린 자세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9144000" y="301752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미술관 전시·대중 협업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354787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pic>
        <p:nvPicPr>
          <p:cNvPr id="22" name="Image 2" descr="/tmp/claude-0/-home-user-hoho/be02f18f-1e6f-5d80-8a1f-70cf34bf4c7e/scratchpad/build/crop/t_hamzz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02736"/>
            <a:ext cx="621792" cy="62179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37490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김햄찌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3474720" y="374904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작은 햄스터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035040" y="37490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거친 입담, 퇴사 충동과 번아웃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9144000" y="374904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구독자 71만 명 (2026.7)</a:t>
            </a:r>
            <a:endParaRPr lang="en-US" sz="1150" dirty="0"/>
          </a:p>
        </p:txBody>
      </p:sp>
      <p:sp>
        <p:nvSpPr>
          <p:cNvPr id="27" name="Shape 22"/>
          <p:cNvSpPr/>
          <p:nvPr/>
        </p:nvSpPr>
        <p:spPr>
          <a:xfrm>
            <a:off x="548640" y="427939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pic>
        <p:nvPicPr>
          <p:cNvPr id="28" name="Image 3" descr="/tmp/claude-0/-home-user-hoho/be02f18f-1e6f-5d80-8a1f-70cf34bf4c7e/scratchpad/build/crop/t_joguma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334256"/>
            <a:ext cx="621792" cy="62179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463040" y="44805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조구만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3474720" y="448056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찌글찌글한 작은 공룡</a:t>
            </a:r>
            <a:endParaRPr lang="en-US" sz="1300" dirty="0"/>
          </a:p>
        </p:txBody>
      </p:sp>
      <p:sp>
        <p:nvSpPr>
          <p:cNvPr id="31" name="Text 25"/>
          <p:cNvSpPr txBox="1"/>
          <p:nvPr/>
        </p:nvSpPr>
        <p:spPr>
          <a:xfrm>
            <a:off x="6035040" y="44805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'조구맣지만 안 중요하다는 건 아냐'</a:t>
            </a:r>
            <a:endParaRPr lang="en-US" sz="1300" dirty="0"/>
          </a:p>
        </p:txBody>
      </p:sp>
      <p:sp>
        <p:nvSpPr>
          <p:cNvPr id="32" name="Text 26"/>
          <p:cNvSpPr txBox="1"/>
          <p:nvPr/>
        </p:nvSpPr>
        <p:spPr>
          <a:xfrm>
            <a:off x="9144000" y="448056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NC 다이노스·불가리 협업</a:t>
            </a:r>
            <a:endParaRPr lang="en-US" sz="1150" dirty="0"/>
          </a:p>
        </p:txBody>
      </p:sp>
      <p:sp>
        <p:nvSpPr>
          <p:cNvPr id="33" name="Shape 27"/>
          <p:cNvSpPr/>
          <p:nvPr/>
        </p:nvSpPr>
        <p:spPr>
          <a:xfrm>
            <a:off x="548640" y="501091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pic>
        <p:nvPicPr>
          <p:cNvPr id="34" name="Image 4" descr="/tmp/claude-0/-home-user-hoho/be02f18f-1e6f-5d80-8a1f-70cf34bf4c7e/scratchpad/build/crop/t_sml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065776"/>
            <a:ext cx="621792" cy="621792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1463040" y="52120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스티키몬스터랩</a:t>
            </a:r>
            <a:endParaRPr lang="en-US" sz="1500" dirty="0"/>
          </a:p>
        </p:txBody>
      </p:sp>
      <p:sp>
        <p:nvSpPr>
          <p:cNvPr id="36" name="Text 29"/>
          <p:cNvSpPr txBox="1"/>
          <p:nvPr/>
        </p:nvSpPr>
        <p:spPr>
          <a:xfrm>
            <a:off x="3474720" y="5212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원색의 단순한 몸</a:t>
            </a:r>
            <a:endParaRPr lang="en-US" sz="1300" dirty="0"/>
          </a:p>
        </p:txBody>
      </p:sp>
      <p:sp>
        <p:nvSpPr>
          <p:cNvPr id="37" name="Text 30"/>
          <p:cNvSpPr txBox="1"/>
          <p:nvPr/>
        </p:nvSpPr>
        <p:spPr>
          <a:xfrm>
            <a:off x="6035040" y="521208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팔이 없음, '부족함이 매력'</a:t>
            </a:r>
            <a:endParaRPr lang="en-US" sz="1300" dirty="0"/>
          </a:p>
        </p:txBody>
      </p:sp>
      <p:sp>
        <p:nvSpPr>
          <p:cNvPr id="38" name="Text 31"/>
          <p:cNvSpPr txBox="1"/>
          <p:nvPr/>
        </p:nvSpPr>
        <p:spPr>
          <a:xfrm>
            <a:off x="9144000" y="5212080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협업 다수</a:t>
            </a:r>
            <a:endParaRPr lang="en-US" sz="1150" dirty="0"/>
          </a:p>
        </p:txBody>
      </p:sp>
      <p:sp>
        <p:nvSpPr>
          <p:cNvPr id="39" name="Shape 32"/>
          <p:cNvSpPr/>
          <p:nvPr/>
        </p:nvSpPr>
        <p:spPr>
          <a:xfrm>
            <a:off x="548640" y="574243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548640" y="58155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구조: 라이언(갈기 없는 수사자, 카카오 공식 설정) · 쿠로미(터프한 펑크지만 속은 소녀)</a:t>
            </a:r>
            <a:endParaRPr lang="en-US" sz="1200" dirty="0"/>
          </a:p>
        </p:txBody>
      </p:sp>
      <p:sp>
        <p:nvSpPr>
          <p:cNvPr id="41" name="Text 34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원고 S01·S14·S16·S19·S20, 조구만 인터뷰(디자인), W Korea 2011, 카카오 공식 발표 · 반전 설정은 공식·2차 자료, 묶음은 해석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EMOTION · 감정 갈래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감정은 다섯 갈래, 갈래끼리 우열은 없다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위로형 토토로도, 반항형 라부부도 크게 성공했습니다. 성공을 가른 건 갈래 안에서 성격이 얼마나 분명한가입니다 (해석).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03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6" name="Image 0" descr="/tmp/claude-0/-home-user-hoho/be02f18f-1e6f-5d80-8a1f-70cf34bf4c7e/scratchpad/build/crop/t_labub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896112" cy="896112"/>
          </a:xfrm>
          <a:prstGeom prst="rect">
            <a:avLst/>
          </a:prstGeom>
        </p:spPr>
      </p:pic>
      <p:pic>
        <p:nvPicPr>
          <p:cNvPr id="7" name="Image 1" descr="/tmp/claude-0/-home-user-hoho/be02f18f-1e6f-5d80-8a1f-70cf34bf4c7e/scratchpad/build/crop/t_ka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488" y="1920240"/>
            <a:ext cx="896112" cy="896112"/>
          </a:xfrm>
          <a:prstGeom prst="rect">
            <a:avLst/>
          </a:prstGeom>
        </p:spPr>
      </p:pic>
      <p:pic>
        <p:nvPicPr>
          <p:cNvPr id="8" name="Image 2" descr="/tmp/claude-0/-home-user-hoho/be02f18f-1e6f-5d80-8a1f-70cf34bf4c7e/scratchpad/build/crop/t_sm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52928"/>
            <a:ext cx="896112" cy="896112"/>
          </a:xfrm>
          <a:prstGeom prst="rect">
            <a:avLst/>
          </a:prstGeom>
        </p:spPr>
      </p:pic>
      <p:pic>
        <p:nvPicPr>
          <p:cNvPr id="9" name="Image 3" descr="/tmp/claude-0/-home-user-hoho/be02f18f-1e6f-5d80-8a1f-70cf34bf4c7e/scratchpad/build/crop/t_joguma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488" y="2852928"/>
            <a:ext cx="896112" cy="896112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731520" y="3931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장난·반항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731520" y="4389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귀여운 겉모습 + 삐딱하거나 어두운 속</a:t>
            </a:r>
            <a:endParaRPr lang="en-US" sz="1250" dirty="0"/>
          </a:p>
        </p:txBody>
      </p:sp>
      <p:sp>
        <p:nvSpPr>
          <p:cNvPr id="12" name="Text 6"/>
          <p:cNvSpPr txBox="1"/>
          <p:nvPr/>
        </p:nvSpPr>
        <p:spPr>
          <a:xfrm>
            <a:off x="731520" y="5212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· KAWS · 스티키몬스터랩 · 조구만 · 쿠로미</a:t>
            </a:r>
            <a:endParaRPr lang="en-US" sz="1050" dirty="0"/>
          </a:p>
        </p:txBody>
      </p:sp>
      <p:sp>
        <p:nvSpPr>
          <p:cNvPr id="13" name="Shape 7"/>
          <p:cNvSpPr/>
          <p:nvPr/>
        </p:nvSpPr>
        <p:spPr>
          <a:xfrm>
            <a:off x="2798064" y="1783080"/>
            <a:ext cx="2103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14" name="Image 4" descr="/tmp/claude-0/-home-user-hoho/be02f18f-1e6f-5d80-8a1f-70cf34bf4c7e/scratchpad/build/crop/t_hamzzi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5224" y="1920240"/>
            <a:ext cx="896112" cy="896112"/>
          </a:xfrm>
          <a:prstGeom prst="rect">
            <a:avLst/>
          </a:prstGeom>
        </p:spPr>
      </p:pic>
      <p:pic>
        <p:nvPicPr>
          <p:cNvPr id="15" name="Image 5" descr="/tmp/claude-0/-home-user-hoho/be02f18f-1e6f-5d80-8a1f-70cf34bf4c7e/scratchpad/build/crop/t_choigosim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67912" y="1920240"/>
            <a:ext cx="896112" cy="896112"/>
          </a:xfrm>
          <a:prstGeom prst="rect">
            <a:avLst/>
          </a:prstGeom>
        </p:spPr>
      </p:pic>
      <p:pic>
        <p:nvPicPr>
          <p:cNvPr id="16" name="Image 6" descr="/tmp/claude-0/-home-user-hoho/be02f18f-1e6f-5d80-8a1f-70cf34bf4c7e/scratchpad/build/crop/t_gunyang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35224" y="2852928"/>
            <a:ext cx="896112" cy="896112"/>
          </a:xfrm>
          <a:prstGeom prst="rect">
            <a:avLst/>
          </a:prstGeom>
        </p:spPr>
      </p:pic>
      <p:pic>
        <p:nvPicPr>
          <p:cNvPr id="17" name="Image 7" descr="/tmp/claude-0/-home-user-hoho/be02f18f-1e6f-5d80-8a1f-70cf34bf4c7e/scratchpad/build/crop/t_kakao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67912" y="2852928"/>
            <a:ext cx="896112" cy="896112"/>
          </a:xfrm>
          <a:prstGeom prst="rect">
            <a:avLst/>
          </a:prstGeom>
        </p:spPr>
      </p:pic>
      <p:sp>
        <p:nvSpPr>
          <p:cNvPr id="18" name="Text 8"/>
          <p:cNvSpPr txBox="1"/>
          <p:nvPr/>
        </p:nvSpPr>
        <p:spPr>
          <a:xfrm>
            <a:off x="2980944" y="3931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얘기" 공감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2980944" y="4389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현실의 감정을 대신 말해 줌</a:t>
            </a:r>
            <a:endParaRPr lang="en-US" sz="1250" dirty="0"/>
          </a:p>
        </p:txBody>
      </p:sp>
      <p:sp>
        <p:nvSpPr>
          <p:cNvPr id="20" name="Text 10"/>
          <p:cNvSpPr txBox="1"/>
          <p:nvPr/>
        </p:nvSpPr>
        <p:spPr>
          <a:xfrm>
            <a:off x="2980944" y="5212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김햄찌 · 최고심 · 구냥이 · 라이언</a:t>
            </a:r>
            <a:endParaRPr lang="en-US" sz="1050" dirty="0"/>
          </a:p>
        </p:txBody>
      </p:sp>
      <p:sp>
        <p:nvSpPr>
          <p:cNvPr id="21" name="Shape 11"/>
          <p:cNvSpPr/>
          <p:nvPr/>
        </p:nvSpPr>
        <p:spPr>
          <a:xfrm>
            <a:off x="5047488" y="1783080"/>
            <a:ext cx="2103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22" name="Image 8" descr="/tmp/claude-0/-home-user-hoho/be02f18f-1e6f-5d80-8a1f-70cf34bf4c7e/scratchpad/build/crop/t_totoro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84648" y="1920240"/>
            <a:ext cx="896112" cy="896112"/>
          </a:xfrm>
          <a:prstGeom prst="rect">
            <a:avLst/>
          </a:prstGeom>
        </p:spPr>
      </p:pic>
      <p:pic>
        <p:nvPicPr>
          <p:cNvPr id="23" name="Image 9" descr="/tmp/claude-0/-home-user-hoho/be02f18f-1e6f-5d80-8a1f-70cf34bf4c7e/scratchpad/build/crop/t_fwy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17336" y="1920240"/>
            <a:ext cx="896112" cy="896112"/>
          </a:xfrm>
          <a:prstGeom prst="rect">
            <a:avLst/>
          </a:prstGeom>
        </p:spPr>
      </p:pic>
      <p:pic>
        <p:nvPicPr>
          <p:cNvPr id="24" name="Image 10" descr="/tmp/claude-0/-home-user-hoho/be02f18f-1e6f-5d80-8a1f-70cf34bf4c7e/scratchpad/build/crop/t_hachuping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4648" y="2852928"/>
            <a:ext cx="896112" cy="896112"/>
          </a:xfrm>
          <a:prstGeom prst="rect">
            <a:avLst/>
          </a:prstGeom>
        </p:spPr>
      </p:pic>
      <p:pic>
        <p:nvPicPr>
          <p:cNvPr id="25" name="Image 11" descr="/tmp/claude-0/-home-user-hoho/be02f18f-1e6f-5d80-8a1f-70cf34bf4c7e/scratchpad/build/crop/t_sanrio_kv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17336" y="2852928"/>
            <a:ext cx="896112" cy="896112"/>
          </a:xfrm>
          <a:prstGeom prst="rect">
            <a:avLst/>
          </a:prstGeom>
        </p:spPr>
      </p:pic>
      <p:sp>
        <p:nvSpPr>
          <p:cNvPr id="26" name="Text 12"/>
          <p:cNvSpPr txBox="1"/>
          <p:nvPr/>
        </p:nvSpPr>
        <p:spPr>
          <a:xfrm>
            <a:off x="5230368" y="3931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위로·치유</a:t>
            </a:r>
            <a:endParaRPr lang="en-US" sz="1600" dirty="0"/>
          </a:p>
        </p:txBody>
      </p:sp>
      <p:sp>
        <p:nvSpPr>
          <p:cNvPr id="27" name="Text 13"/>
          <p:cNvSpPr txBox="1"/>
          <p:nvPr/>
        </p:nvSpPr>
        <p:spPr>
          <a:xfrm>
            <a:off x="5230368" y="4389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순수함, 자연, 사랑. 갈등보다 안정</a:t>
            </a:r>
            <a:endParaRPr lang="en-US" sz="1250" dirty="0"/>
          </a:p>
        </p:txBody>
      </p:sp>
      <p:sp>
        <p:nvSpPr>
          <p:cNvPr id="28" name="Text 14"/>
          <p:cNvSpPr txBox="1"/>
          <p:nvPr/>
        </p:nvSpPr>
        <p:spPr>
          <a:xfrm>
            <a:off x="5230368" y="5212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토토로 · FriendsWithYou · 하츄핑 · 시나모롤</a:t>
            </a:r>
            <a:endParaRPr lang="en-US" sz="1050" dirty="0"/>
          </a:p>
        </p:txBody>
      </p:sp>
      <p:sp>
        <p:nvSpPr>
          <p:cNvPr id="29" name="Shape 15"/>
          <p:cNvSpPr/>
          <p:nvPr/>
        </p:nvSpPr>
        <p:spPr>
          <a:xfrm>
            <a:off x="7296912" y="1783080"/>
            <a:ext cx="2103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30" name="Image 12" descr="/tmp/claude-0/-home-user-hoho/be02f18f-1e6f-5d80-8a1f-70cf34bf4c7e/scratchpad/build/crop/t_jellyca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34072" y="1920240"/>
            <a:ext cx="1828800" cy="1828800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7479792" y="3931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유머·놀람</a:t>
            </a:r>
            <a:endParaRPr lang="en-US" sz="1600" dirty="0"/>
          </a:p>
        </p:txBody>
      </p:sp>
      <p:sp>
        <p:nvSpPr>
          <p:cNvPr id="32" name="Text 17"/>
          <p:cNvSpPr txBox="1"/>
          <p:nvPr/>
        </p:nvSpPr>
        <p:spPr>
          <a:xfrm>
            <a:off x="7479792" y="4389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사물에 얼굴을 붙인 의외성과 촉감</a:t>
            </a:r>
            <a:endParaRPr lang="en-US" sz="1250" dirty="0"/>
          </a:p>
        </p:txBody>
      </p:sp>
      <p:sp>
        <p:nvSpPr>
          <p:cNvPr id="33" name="Text 18"/>
          <p:cNvSpPr txBox="1"/>
          <p:nvPr/>
        </p:nvSpPr>
        <p:spPr>
          <a:xfrm>
            <a:off x="7479792" y="5212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</a:t>
            </a:r>
            <a:endParaRPr lang="en-US" sz="1050" dirty="0"/>
          </a:p>
        </p:txBody>
      </p:sp>
      <p:sp>
        <p:nvSpPr>
          <p:cNvPr id="34" name="Shape 19"/>
          <p:cNvSpPr/>
          <p:nvPr/>
        </p:nvSpPr>
        <p:spPr>
          <a:xfrm>
            <a:off x="9546336" y="1783080"/>
            <a:ext cx="2103120" cy="4251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35" name="Image 13" descr="/tmp/claude-0/-home-user-hoho/be02f18f-1e6f-5d80-8a1f-70cf34bf4c7e/scratchpad/build/crop/t_muds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83496" y="1920240"/>
            <a:ext cx="896112" cy="896112"/>
          </a:xfrm>
          <a:prstGeom prst="rect">
            <a:avLst/>
          </a:prstGeom>
        </p:spPr>
      </p:pic>
      <p:pic>
        <p:nvPicPr>
          <p:cNvPr id="36" name="Image 14" descr="/tmp/claude-0/-home-user-hoho/be02f18f-1e6f-5d80-8a1f-70cf34bf4c7e/scratchpad/build/crop/t_fritz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16184" y="1920240"/>
            <a:ext cx="896112" cy="896112"/>
          </a:xfrm>
          <a:prstGeom prst="rect">
            <a:avLst/>
          </a:prstGeom>
        </p:spPr>
      </p:pic>
      <p:pic>
        <p:nvPicPr>
          <p:cNvPr id="37" name="Image 15" descr="/tmp/claude-0/-home-user-hoho/be02f18f-1e6f-5d80-8a1f-70cf34bf4c7e/scratchpad/build/crop/t_pokemon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83496" y="2852928"/>
            <a:ext cx="896112" cy="896112"/>
          </a:xfrm>
          <a:prstGeom prst="rect">
            <a:avLst/>
          </a:prstGeom>
        </p:spPr>
      </p:pic>
      <p:pic>
        <p:nvPicPr>
          <p:cNvPr id="38" name="Image 16" descr="/tmp/claude-0/-home-user-hoho/be02f18f-1e6f-5d80-8a1f-70cf34bf4c7e/scratchpad/build/crop/t_bt21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616184" y="2852928"/>
            <a:ext cx="896112" cy="896112"/>
          </a:xfrm>
          <a:prstGeom prst="rect">
            <a:avLst/>
          </a:prstGeom>
        </p:spPr>
      </p:pic>
      <p:sp>
        <p:nvSpPr>
          <p:cNvPr id="39" name="Text 20"/>
          <p:cNvSpPr txBox="1"/>
          <p:nvPr/>
        </p:nvSpPr>
        <p:spPr>
          <a:xfrm>
            <a:off x="9729216" y="39319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의미·연결</a:t>
            </a:r>
            <a:endParaRPr lang="en-US" sz="1600" dirty="0"/>
          </a:p>
        </p:txBody>
      </p:sp>
      <p:sp>
        <p:nvSpPr>
          <p:cNvPr id="40" name="Text 21"/>
          <p:cNvSpPr txBox="1"/>
          <p:nvPr/>
        </p:nvSpPr>
        <p:spPr>
          <a:xfrm>
            <a:off x="9729216" y="4389120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출처(유산·장소·게임·아티스트)가 감정을 만듦</a:t>
            </a:r>
            <a:endParaRPr lang="en-US" sz="1250" dirty="0"/>
          </a:p>
        </p:txBody>
      </p:sp>
      <p:sp>
        <p:nvSpPr>
          <p:cNvPr id="41" name="Text 22"/>
          <p:cNvSpPr txBox="1"/>
          <p:nvPr/>
        </p:nvSpPr>
        <p:spPr>
          <a:xfrm>
            <a:off x="9729216" y="521208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 · 프릳츠 · 포켓몬 · BT21</a:t>
            </a:r>
            <a:endParaRPr lang="en-US" sz="1050" dirty="0"/>
          </a:p>
        </p:txBody>
      </p:sp>
      <p:sp>
        <p:nvSpPr>
          <p:cNvPr id="42" name="Text 23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갈래 분류는 공식·2차 설정 자료를 바탕으로 한 해석입니다. 사례별 근거는 다음 두 장의 표에 있습니다.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2 ·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기호는 하나, 표정은 절제, 이름이 감정을 말한다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기호 하나 + 표정 절제</a:t>
            </a:r>
            <a:endParaRPr lang="en-US" sz="1700" dirty="0"/>
          </a:p>
        </p:txBody>
      </p:sp>
      <p:pic>
        <p:nvPicPr>
          <p:cNvPr id="5" name="Image 0" descr="/tmp/claude-0/-home-user-hoho/be02f18f-1e6f-5d80-8a1f-70cf34bf4c7e/scratchpad/build/crop/t_kaw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1234440" cy="1234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X형 눈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383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KAWS</a:t>
            </a:r>
            <a:endParaRPr lang="en-US" sz="950" dirty="0"/>
          </a:p>
        </p:txBody>
      </p:sp>
      <p:pic>
        <p:nvPicPr>
          <p:cNvPr id="8" name="Image 1" descr="/tmp/claude-0/-home-user-hoho/be02f18f-1e6f-5d80-8a1f-70cf34bf4c7e/scratchpad/build/crop/t_labub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828800"/>
            <a:ext cx="1234440" cy="12344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2024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드러난 이빨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1920240" y="3383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</a:t>
            </a:r>
            <a:endParaRPr lang="en-US" sz="950" dirty="0"/>
          </a:p>
        </p:txBody>
      </p:sp>
      <p:pic>
        <p:nvPicPr>
          <p:cNvPr id="11" name="Image 2" descr="/tmp/claude-0/-home-user-hoho/be02f18f-1e6f-5d80-8a1f-70cf34bf4c7e/scratchpad/build/crop/t_fw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828800"/>
            <a:ext cx="1234440" cy="12344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9184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눈과 볼터치</a:t>
            </a:r>
            <a:endParaRPr lang="en-US" sz="1150" dirty="0"/>
          </a:p>
        </p:txBody>
      </p:sp>
      <p:sp>
        <p:nvSpPr>
          <p:cNvPr id="13" name="Text 8"/>
          <p:cNvSpPr txBox="1"/>
          <p:nvPr/>
        </p:nvSpPr>
        <p:spPr>
          <a:xfrm>
            <a:off x="3291840" y="3383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FriendsWithYou</a:t>
            </a:r>
            <a:endParaRPr lang="en-US" sz="950" dirty="0"/>
          </a:p>
        </p:txBody>
      </p:sp>
      <p:pic>
        <p:nvPicPr>
          <p:cNvPr id="14" name="Image 3" descr="/tmp/claude-0/-home-user-hoho/be02f18f-1e6f-5d80-8a1f-70cf34bf4c7e/scratchpad/build/crop/t_sml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1828800"/>
            <a:ext cx="1234440" cy="12344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63440" y="31272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없는 몸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4663440" y="338328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스티키몬스터랩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548640" y="3840480"/>
            <a:ext cx="5349240" cy="187452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777240" y="3977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헬로키티에게 입이 없는 이유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777240" y="4370832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"보는 사람이 자기 감정을 투영할 수 있게."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산리오 대변인 설명 (2차 인용)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묘브제의 '당신은 어떤 토끼인가요?'와 같은 원리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400800" y="1371600"/>
            <a:ext cx="5242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이름·문장이 감정을 바로 전달</a:t>
            </a:r>
            <a:endParaRPr lang="en-US" sz="1700" dirty="0"/>
          </a:p>
        </p:txBody>
      </p:sp>
      <p:pic>
        <p:nvPicPr>
          <p:cNvPr id="21" name="Image 4" descr="/tmp/claude-0/-home-user-hoho/be02f18f-1e6f-5d80-8a1f-70cf34bf4c7e/scratchpad/build/crop/t_hachuping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82880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06640" y="187452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하츄핑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7406640" y="217627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자체가 감정(사랑). 티니핑은 감정 하나로 이름을 지음</a:t>
            </a:r>
            <a:endParaRPr lang="en-US" sz="1150" dirty="0"/>
          </a:p>
        </p:txBody>
      </p:sp>
      <p:pic>
        <p:nvPicPr>
          <p:cNvPr id="24" name="Image 5" descr="/tmp/claude-0/-home-user-hoho/be02f18f-1e6f-5d80-8a1f-70cf34bf4c7e/scratchpad/build/crop/t_choigosim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2834640"/>
            <a:ext cx="822960" cy="82296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7406640" y="288036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최고심</a:t>
            </a:r>
            <a:endParaRPr lang="en-US" sz="1350" dirty="0"/>
          </a:p>
        </p:txBody>
      </p:sp>
      <p:sp>
        <p:nvSpPr>
          <p:cNvPr id="26" name="Text 18"/>
          <p:cNvSpPr txBox="1"/>
          <p:nvPr/>
        </p:nvSpPr>
        <p:spPr>
          <a:xfrm>
            <a:off x="7406640" y="318211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될 일은 안 됨" 같은 파워 긍정 문장이 상품의 핵심</a:t>
            </a:r>
            <a:endParaRPr lang="en-US" sz="1150" dirty="0"/>
          </a:p>
        </p:txBody>
      </p:sp>
      <p:pic>
        <p:nvPicPr>
          <p:cNvPr id="27" name="Image 6" descr="/tmp/claude-0/-home-user-hoho/be02f18f-1e6f-5d80-8a1f-70cf34bf4c7e/scratchpad/build/crop/t_joguman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0" y="3840480"/>
            <a:ext cx="822960" cy="8229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406640" y="3886200"/>
            <a:ext cx="4236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조구만</a:t>
            </a:r>
            <a:endParaRPr lang="en-US" sz="1350" dirty="0"/>
          </a:p>
        </p:txBody>
      </p:sp>
      <p:sp>
        <p:nvSpPr>
          <p:cNvPr id="29" name="Text 20"/>
          <p:cNvSpPr txBox="1"/>
          <p:nvPr/>
        </p:nvSpPr>
        <p:spPr>
          <a:xfrm>
            <a:off x="7406640" y="4187952"/>
            <a:ext cx="4236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"조구맣지만 안 중요하다는 건 아냐" 슬로건이 곧 성격</a:t>
            </a:r>
            <a:endParaRPr lang="en-US" sz="1150" dirty="0"/>
          </a:p>
        </p:txBody>
      </p:sp>
      <p:sp>
        <p:nvSpPr>
          <p:cNvPr id="30" name="Shape 21"/>
          <p:cNvSpPr/>
          <p:nvPr/>
        </p:nvSpPr>
        <p:spPr>
          <a:xfrm>
            <a:off x="6400800" y="4937760"/>
            <a:ext cx="5242255" cy="777240"/>
          </a:xfrm>
          <a:prstGeom prst="rect">
            <a:avLst/>
          </a:prstGeom>
          <a:solidFill>
            <a:srgbClr val="F7E4D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583680" y="5010912"/>
            <a:ext cx="4876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점검: 토끼 이름(앙고라·달·구름·모래·암석)은 물질을 말하지만 감정·성격은 아직 말하지 않음</a:t>
            </a:r>
            <a:endParaRPr lang="en-US" sz="1200" dirty="0"/>
          </a:p>
        </p:txBody>
      </p:sp>
      <p:sp>
        <p:nvSpPr>
          <p:cNvPr id="32" name="Text 23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Artforum·Moco Museum(KAWS), Wikipedia Hello Kitty(산리오 대변인 인용), 하츄핑·최고심 기사, 조구만 인터뷰(디자인) · 묶음은 해석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CASES ·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사례별 브랜드 이미지: 심층 6 + 해외 보통 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성격은 공식·2차 설정, 감정은 해석, 선호 근거는 공시·조사·기사에서 가져왔습니다.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88920"/>
                <a:gridCol w="2103120"/>
                <a:gridCol w="2377440"/>
                <a:gridCol w="22219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 (설정)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가치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비주얼 기호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선호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라부부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착하고 용감하지만 의도와 반대로 사고를 치는 말썽꾼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장난·반항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뾰족한 귀, 이빨 드러낸 미소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THE MONSTERS 141.6억 위안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느긋한 폼폼푸린, 수줍은 시나모롤, 터프한 쿠로미 등 성격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취향 고르기, 반전 귀여움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대표색 하나, 키티는 입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팬 투표 6,316만 표 (발표)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포켓몬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종마다 속성과 성격이 있고 플레이어의 파트너가 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동반·성장·수집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이름·외형·속성 분류 체계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라이선스 소매 약 120억 달러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카카오프렌즈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갈기 없어 곰으로 오해받는 수사자 라이언 (공식)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친근함, 콤플렉스 공감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단순한 얼굴, 분명한 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최선호 5.6% (확인)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뮷즈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캐릭터 대신 'K-Culture Unboxed' 태도 (공식)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자부심, 의미 있는 선물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유물 형태, 반투명 레진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매출 413억 원 (확인)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프릳츠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성격 설정은 찾지 못함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장소·경험의 기억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파란 물개, 레트로 한글 (관찰)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연매출 약 80억 원, 2020 (발표)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토토로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감독: "자연에 대한 애정을 표현"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순수, 위로, 향수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둥근 덩어리, 배의 갈매기 무늬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영화 이후 장기 상품 판매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KAWS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작가는 설명하지 않음. 비평: 장난 아래 실존적 불안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우울한 장난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X형 눈, 해골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미술관·유니클로 협업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FriendsWithYou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작가: "빛과 평화의 모델"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치유, 낙관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하얀 구름, 점 눈·볼터치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메이시스 퍼레이드 풍선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출처는 마지막 장 '브랜드 이미지 출처'에 정리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CASES ·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사례별 브랜드 이미지: 보통 4 + 짧은 비교 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성격은 공식·2차 설정, 감정은 해석, 선호 근거는 공시·조사·기사에서 가져왔습니다.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788920"/>
                <a:gridCol w="2103120"/>
                <a:gridCol w="2377440"/>
                <a:gridCol w="222199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 (설정)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가치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비주얼 기호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선호 근거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Jellycat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"사람을 웃게 하는 것"이 목표인 영국식 유머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유머, 놀람, 촉감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사물에 작은 얼굴과 팔다리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런던 체험 매장 운영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스티키몬스터랩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팔이 없는 디자인 = "부족함이 매력" (2011 인터뷰)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귀여움 속 쓸쓸함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단순한 비례, 원색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 협업 다수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구냥이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꼬질하고 무심한, 챙겨주고 싶은 고양이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짠함, 일상 공감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연필 선, 말풍선 대사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이모티콘 74~125종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김햄찌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7년 차 디자이너 회사원, 귀여운 얼굴에 거친 입담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"내 얘기" 공감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실사풍 햄스터, 사무실 소품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구독자 71만 명, 2026.7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조구만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"조구맣지만 안 중요하다는 건 아냐" (공식 슬로건)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존재에 대한 위로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삐뚤삐뚤한 선, 하찮은 공룡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NC·불가리 협업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파워 긍정 말투, 사이다 문장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자존감, 통쾌함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그림일기 같은 연필 선, 고채도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팔로워 22만~33만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LINE·BT21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BTS 멤버가 성격과 취향을 직접 정함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좋아하는 사람과의 연결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멤버별 캐릭터 8종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 출시, 첫 상품 행사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하츄핑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이름이 곧 감정(사랑), 다정하고 사랑스러움 (2차)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사랑, 동경 (아동 중심)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큰 눈, 분홍, 작은 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 3–9세 최선호 4.8% (확인)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출처는 마지막 장 '브랜드 이미지 출처'에 정리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MYOBZE CHECK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 비어 있는 것: 성격과 반전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사례에서 본 기준에 묘브제 현재 상태를 맞대어 봤습니다. 오른쪽 열이 다음 단계에서 채울 부분입니다 (가설).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03120"/>
                <a:gridCol w="2194560"/>
                <a:gridCol w="19659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사례에서 본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묘브제 현재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비어 있는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예쁨 (관문)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조사에서 1위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몸 비례·얼굴, 저채도 자연색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실물 완성도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성격·행동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행동 32.9%, 산리오 성격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물질의 인상만 있음 (폭신함, 묵직함 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토끼마다 무엇을 하고 어떤 성격인지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반전·결핍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라이언, 라부부, 김햄찌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겉모습과 다른 속마음, 모자란 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감정 가치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다섯 갈래 중 하나가 분명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물질별 질문이 감정에 닿아 있음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질문과 성격의 연결, 갈래 선택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X형 눈, 이빨, 없는 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실루엣 계획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한눈에 기억될 기호 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절제하면 투영 (헬로키티)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투영형으로 갈지, 표현형으로 갈지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이름·문장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하츄핑, 최고심, 조구만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"당신은 어떤 토끼인가요?"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토끼 이름이 감정·성격을 전달하는지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27432" marB="27432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691640"/>
            <a:ext cx="3276295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595360" y="1874520"/>
            <a:ext cx="2819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방향을 보여주는 예시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2194560"/>
            <a:ext cx="28190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제안이 아니라 감을 잡기 위한 예시입니다.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2606040"/>
            <a:ext cx="281909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암석토끼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겉은 묵직하고 단단함 → 속은 쉽게 금이 갈까 걱정함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구름토끼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겉은 가볍고 부드러움 → 어디에도 오래 머물지 못함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5074920"/>
            <a:ext cx="2819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단계: 5종 성격·반전·기호·표정 초안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현재 상태: 사업계획서 별첨(물질별 인상·질문), 국민대 발표 대본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심층 사례 6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매출·순위·인지도 근거가 가장 많은 사례입니다.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 · 감정 가치 · 비주얼 기호를 먼저, 세일즈 포인트는 뒤에 뒀습니다.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라부부 · 02 산리오 · 03 포켓몬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카카오프렌즈 · 05 뮷즈 · 06 프릳츠</a:t>
            </a:r>
            <a:endParaRPr lang="en-US" sz="1300" dirty="0"/>
          </a:p>
        </p:txBody>
      </p:sp>
      <p:pic>
        <p:nvPicPr>
          <p:cNvPr id="6" name="Image 0" descr="/tmp/claude-0/-home-user-hoho/be02f18f-1e6f-5d80-8a1f-70cf34bf4c7e/scratchpad/build/crop/div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48640"/>
            <a:ext cx="4206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labub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POP MART 공식몰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01 · 해외 심층 · 중국 운영사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북유럽 요정 신화에서 온 장난꾸러기 몬스터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+365.7%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MONSTERS 매출 30.407억 → 141.611억 위안 (2024→2025). 라부부 단독 매출 아님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착하고 용감하지만 의도와 반대로 사고를 치는 말썽꾼. 작가 본인의 성격에서 왔다고 함 (2차)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장난·반항. '착한 사고뭉치'에 대한 애정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뾰족한 귀, 이빨을 드러낸 미소. 털 봉제와 장난스러운 얼굴의 대비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26.99~199.99달러 가격 계단, 가방에 다는 펜던트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토끼마다 '착하지만 모자란 점' 하나. 귀여운 몸에 반전 기호 하나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S01 · S02 · N03 · Our China Story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sanri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Sanrio 포차코 옷 갈아입기 시리즈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02 · 해외 심층 · 일본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산리오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성격을 고르는 캐릭터 가족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6,316만 표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캐릭터 대상 팬 투표 (폼폼푸린 1위, 시나모롤 2위, 포차코 3위). 회사 매출 +33.9%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느긋한 폼폼푸린, 수줍은 시나모롤, 터프하지만 속은 소녀인 쿠로미, 활발한 포차코 (2차)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취향에 맞는 성격 고르기, 쿠로미처럼 반전 있는 귀여움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얼굴, 대표색 하나. 헬로키티의 없는 입은 '감정을 투영하게' (산리오 설명)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주인공을 여러 생활 상품으로. 포차코 마스코트 각 2,200엔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5종이 서로 다른 성격이어야 '고르는 재미'. 표정은 절제해 투영 여지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S04 · N04 · N05 · Time Out · Wikipedia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pokem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Tiffany &amp; Co. × Daniel Arsham × Pokémon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03 · 해외 심층 · 일본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포켓몬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모험하며 모으고 키우는 파트너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$12B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Pokémon Company International 라이선스 상품 소매 매출, 2024 (License Global)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2차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종마다 속성과 성격이 정해져 있고, 플레이어의 파트너가 됨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동반과 성장, 수집의 성취감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이름·외형·속성이 한눈에 구분되는 분류 체계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단위(한 마리·세대·지역). 성인용은 소재를 바꿈 (티파니 실버·18K)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5종을 '물질 도감'처럼. 토끼마다 속성과 성격을 함께 정하기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S12 · S27 · N06 · License Global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kaka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카카오 춘식이 콘텐츠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04 · 국내 심층 · 한국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카카오프렌즈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메신저에서 대신 감정을 말해 주는 친구들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KOCCA 2024 만 10–69세 최선호 카카오프렌즈 (춘식이 4.1%, 따로 집계)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라이언: 갈기가 없어 곰으로 오해받는 수사자, 콤플렉스를 극복하며 성장 (공식)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친근함, 콤플렉스에 대한 공감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얼굴과 분명한 색, 작은 화면에서도 식별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쓰는 친숙함을 봉제·문구·팝업으로. 행사 방문 8.3만 명 (발표)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결핍 하나가 성격을 만든다. 토끼마다 '모자란 점'을 정하기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S06 · N01 · N07 · 카카오 공식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mud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국립박물관문화재단 반가사유상 미니어처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05 · 국내 심층 · 한국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전통 유산을 현대 일상으로 다시 해석한 박물관 상품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+94.2%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재단 상품 매출 212억 8,400만 → 413억 3,700만 원 (2024→2025)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대신 브랜드 태도: 'K-Culture Unboxed', 전통의 재창조 (공식 슬로건)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자부심, 의미 있는 선물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유물의 형태를 작게, 반투명 레진과 한국적 색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레진 155mm 65,000원 + 다국어 설명 카드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물질의 의미를 짧은 카드로. 자부심 대신 '나다움'을 의미로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S08 · S11 · N08 · N09 · 헤럴드경제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oho/be02f18f-1e6f-5d80-8a1f-70cf34bf4c7e/scratchpad/build/crop/d_frit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4206240" cy="5394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94360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이미지: 프릳츠 랜덤 물개 키링</a:t>
            </a:r>
            <a:endParaRPr lang="en-US" sz="850" dirty="0"/>
          </a:p>
        </p:txBody>
      </p:sp>
      <p:sp>
        <p:nvSpPr>
          <p:cNvPr id="4" name="Text 1"/>
          <p:cNvSpPr txBox="1"/>
          <p:nvPr/>
        </p:nvSpPr>
        <p:spPr>
          <a:xfrm>
            <a:off x="5074920" y="502920"/>
            <a:ext cx="65681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06 · 국내 심층 · 한국</a:t>
            </a:r>
            <a:endParaRPr lang="en-US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5074920" y="777240"/>
            <a:ext cx="4190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프릳츠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074920" y="1371600"/>
            <a:ext cx="6568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회사의 물개 마스코트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074920" y="1874520"/>
            <a:ext cx="65681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57800" y="1938528"/>
            <a:ext cx="2377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약 80억 원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1938528"/>
            <a:ext cx="313913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연매출, 2020 창업자 인터뷰. 물개 굿즈 매출 아님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911535" y="2121408"/>
            <a:ext cx="566928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074920" y="2788920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074920" y="2898648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537960" y="2880360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성격 설정은 찾지 못함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74920" y="3410712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074920" y="3520440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가치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3502152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장소와 경험의 기억 (해석)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74920" y="4032504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74920" y="4142232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537960" y="4123944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파란 물개, 빨강·노랑 레트로 한글 타이포 (관찰)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074920" y="4654296"/>
            <a:ext cx="656813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074920" y="4764024"/>
            <a:ext cx="1417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6537960" y="4745736"/>
            <a:ext cx="5105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6,000원 랜덤 키링, 약 35mm 아크릴 10종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074920" y="5349240"/>
            <a:ext cx="6568135" cy="82296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57800" y="5413248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가져올 것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5413248"/>
            <a:ext cx="49222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 없이도 표식은 된다. 하지만 선호는 장소 경험에서 옴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5074920" y="6236208"/>
            <a:ext cx="6568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S09 · N10 · N11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03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사례 11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 깊이 7개와 짧은 비교 4개입니다.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 · 비주얼 기호 · 묘브제 힌트 세 줄로 줄였습니다.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토토로 · KAWS · FriendsWithYou · Jellycat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스티키몬스터랩 · 구냥이 · 김햄찌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조구만 · 최고심 · LINE·BT21 · 하츄핑</a:t>
            </a:r>
            <a:endParaRPr lang="en-US" sz="1300" dirty="0"/>
          </a:p>
        </p:txBody>
      </p:sp>
      <p:pic>
        <p:nvPicPr>
          <p:cNvPr id="6" name="Image 0" descr="/tmp/claude-0/-home-user-hoho/be02f18f-1e6f-5d80-8a1f-70cf34bf4c7e/scratchpad/build/crop/div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48640"/>
            <a:ext cx="4206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 · 보통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자연, 불안, 평화, 유머: 감정이 분명한 네 사례</a:t>
            </a:r>
            <a:endParaRPr lang="en-US" sz="2600" dirty="0"/>
          </a:p>
        </p:txBody>
      </p:sp>
      <p:pic>
        <p:nvPicPr>
          <p:cNvPr id="4" name="Image 0" descr="/tmp/claude-0/-home-user-hoho/be02f18f-1e6f-5d80-8a1f-70cf34bf4c7e/scratchpad/build/crop/m_toto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2606040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토토로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4564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일본 · 영화 1988 · 이후 봉제·생활용품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47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감독: "자연에 대한 애정". 순수·위로·향수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5079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7091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둥근 덩어리, 배의 갈매기 무늬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2212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4223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 특징 2~3개로 알아보게</a:t>
            </a:r>
            <a:endParaRPr lang="en-US" sz="1100" dirty="0"/>
          </a:p>
        </p:txBody>
      </p:sp>
      <p:pic>
        <p:nvPicPr>
          <p:cNvPr id="13" name="Image 1" descr="/tmp/claude-0/-home-user-hoho/be02f18f-1e6f-5d80-8a1f-70cf34bf4c7e/scratchpad/build/crop/m_ka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1417320"/>
            <a:ext cx="2606040" cy="16002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3364992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KAWS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3364992" y="34564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· COMPANION 1999 · 대중 협업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3364992" y="37947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3364992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비평: 장난스러움 아래의 실존적 불안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3364992" y="45079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47091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X형 눈, 해골, 얼굴을 가린 자세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3364992" y="52212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3364992" y="54223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기호 하나를 모든 상품에 유지</a:t>
            </a:r>
            <a:endParaRPr lang="en-US" sz="1100" dirty="0"/>
          </a:p>
        </p:txBody>
      </p:sp>
      <p:pic>
        <p:nvPicPr>
          <p:cNvPr id="22" name="Image 2" descr="/tmp/claude-0/-home-user-hoho/be02f18f-1e6f-5d80-8a1f-70cf34bf4c7e/scratchpad/build/crop/m_fwy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417320"/>
            <a:ext cx="2606040" cy="16002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6181344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FriendsWithYou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181344" y="34564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미국 · 2002 · 2022 Little Cloud Lamp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6181344" y="37947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6181344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작가: 평화·행운·무조건적 사랑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6181344" y="45079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6181344" y="47091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하얀 둥근 구름, 점 눈과 볼터치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181344" y="52212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6181344" y="54223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구름토끼: 위로형 감정과 맞음</a:t>
            </a:r>
            <a:endParaRPr lang="en-US" sz="1100" dirty="0"/>
          </a:p>
        </p:txBody>
      </p:sp>
      <p:pic>
        <p:nvPicPr>
          <p:cNvPr id="31" name="Image 3" descr="/tmp/claude-0/-home-user-hoho/be02f18f-1e6f-5d80-8a1f-70cf34bf4c7e/scratchpad/build/crop/m_jellyca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417320"/>
            <a:ext cx="2606040" cy="160020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8997696" y="312724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</a:t>
            </a:r>
            <a:endParaRPr lang="en-US" sz="1600" dirty="0"/>
          </a:p>
        </p:txBody>
      </p:sp>
      <p:sp>
        <p:nvSpPr>
          <p:cNvPr id="33" name="Text 27"/>
          <p:cNvSpPr txBox="1"/>
          <p:nvPr/>
        </p:nvSpPr>
        <p:spPr>
          <a:xfrm>
            <a:off x="8997696" y="345643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· 1999 · 2024 런던 Fish &amp; Chips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8997696" y="379476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8997696" y="3995928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"사람을 웃게 하는" 영국식 유머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8997696" y="450799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37" name="Text 31"/>
          <p:cNvSpPr txBox="1"/>
          <p:nvPr/>
        </p:nvSpPr>
        <p:spPr>
          <a:xfrm>
            <a:off x="8997696" y="470916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사물에 작은 얼굴, 극도로 부드러운 소재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8997696" y="5221224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39" name="Text 33"/>
          <p:cNvSpPr txBox="1"/>
          <p:nvPr/>
        </p:nvSpPr>
        <p:spPr>
          <a:xfrm>
            <a:off x="8997696" y="5422392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촉감과 의외성도 감정이 된다</a:t>
            </a:r>
            <a:endParaRPr lang="en-US" sz="1100" dirty="0"/>
          </a:p>
        </p:txBody>
      </p:sp>
      <p:sp>
        <p:nvSpPr>
          <p:cNvPr id="40" name="Text 34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S10 · S14 · S15 · S25 · Artforum · Seattle Art Museum 인터뷰 · Maison&amp;Objet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KOREA · 보통 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모자람, 무심함, 거친 입담: 반전이 성격이 된 세 사례</a:t>
            </a:r>
            <a:endParaRPr lang="en-US" sz="2600" dirty="0"/>
          </a:p>
        </p:txBody>
      </p:sp>
      <p:pic>
        <p:nvPicPr>
          <p:cNvPr id="4" name="Image 0" descr="/tmp/claude-0/-home-user-hoho/be02f18f-1e6f-5d80-8a1f-70cf34bf4c7e/scratchpad/build/crop/k_sm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3520440" cy="1737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326440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스티키몬스터랩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5935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2007 · 2008 전시·입체 확장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931920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41330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없음 = "부족함이 매력" (2011 인터뷰). 귀여움 속 쓸쓸함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464515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463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비례, 원색, 팔 없는 몸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35838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5955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모자람을 디자인 기호로 만들기</a:t>
            </a:r>
            <a:endParaRPr lang="en-US" sz="1100" dirty="0"/>
          </a:p>
        </p:txBody>
      </p:sp>
      <p:pic>
        <p:nvPicPr>
          <p:cNvPr id="13" name="Image 1" descr="/tmp/claude-0/-home-user-hoho/be02f18f-1e6f-5d80-8a1f-70cf34bf4c7e/scratchpad/build/crop/k_gunya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1417320"/>
            <a:ext cx="3520440" cy="1737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15968" y="326440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구냥이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4315968" y="35935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이모티콘 · 2024 문구 유통 확대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4315968" y="3931920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4315968" y="41330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꼬질하고 무심한, 챙겨주고 싶은 고양이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315968" y="464515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4315968" y="48463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연필 선, 파스텔, 말풍선 대사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4315968" y="535838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21" name="Text 17"/>
          <p:cNvSpPr txBox="1"/>
          <p:nvPr/>
        </p:nvSpPr>
        <p:spPr>
          <a:xfrm>
            <a:off x="4315968" y="555955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쓰는 짧은 대사로 익숙함 쌓기</a:t>
            </a:r>
            <a:endParaRPr lang="en-US" sz="1100" dirty="0"/>
          </a:p>
        </p:txBody>
      </p:sp>
      <p:pic>
        <p:nvPicPr>
          <p:cNvPr id="22" name="Image 2" descr="/tmp/claude-0/-home-user-hoho/be02f18f-1e6f-5d80-8a1f-70cf34bf4c7e/scratchpad/build/crop/k_hamzz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3296" y="1417320"/>
            <a:ext cx="3520440" cy="173736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83296" y="326440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김햄찌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8083296" y="3593592"/>
            <a:ext cx="3520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성장 · 2026 오프라인 팝업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8083296" y="3931920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083296" y="413308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7년 차 회사원, 귀여운 얼굴에 거친 입담. "내 얘기" 공감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8083296" y="4645152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비주얼 기호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8083296" y="48463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실사풍 햄스터, 사무실 소품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8083296" y="5358384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8083296" y="555955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공감은 구체적인 상황에서 생긴다</a:t>
            </a:r>
            <a:endParaRPr lang="en-US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S16 · S17 · S18 · S19 · S20 · W Korea 2011 · 인어부스 · YouTube 블로그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KOREA · 짧은 비교 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태도, 문장, 팬심, 이름: 짧게 본 네 사례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5" name="Image 0" descr="/tmp/claude-0/-home-user-hoho/be02f18f-1e6f-5d80-8a1f-70cf34bf4c7e/scratchpad/build/crop/s_jogum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33172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조구만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2331720" y="19751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2017 스튜디오 · 2020년대 협업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23042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2331720" y="250545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"조구맣지만 안 중요하다는 건 아냐"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233172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2331720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태도를 한 문장 슬로건으로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72200" y="146304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13" name="Image 1" descr="/tmp/claude-0/-home-user-hoho/be02f18f-1e6f-5d80-8a1f-70cf34bf4c7e/scratchpad/build/crop/s_choigosi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645920"/>
            <a:ext cx="1371600" cy="1371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955280" y="164592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최고심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7955280" y="197510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2020.9 데뷔 · 2022 카드 협업</a:t>
            </a:r>
            <a:endParaRPr lang="en-US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7955280" y="230428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17" name="Text 13"/>
          <p:cNvSpPr txBox="1"/>
          <p:nvPr/>
        </p:nvSpPr>
        <p:spPr>
          <a:xfrm>
            <a:off x="7955280" y="250545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파워 긍정 말투, 사이다 문장. 자존감 지킴이</a:t>
            </a:r>
            <a:endParaRPr lang="en-US" sz="1150" dirty="0"/>
          </a:p>
        </p:txBody>
      </p:sp>
      <p:sp>
        <p:nvSpPr>
          <p:cNvPr id="18" name="Text 14"/>
          <p:cNvSpPr txBox="1"/>
          <p:nvPr/>
        </p:nvSpPr>
        <p:spPr>
          <a:xfrm>
            <a:off x="7955280" y="290779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7955280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문장을 상품의 핵심 요소로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48640" y="37947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21" name="Image 2" descr="/tmp/claude-0/-home-user-hoho/be02f18f-1e6f-5d80-8a1f-70cf34bf4c7e/scratchpad/build/crop/s_bt21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77640"/>
            <a:ext cx="1371600" cy="137160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2331720" y="39776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 FRIENDS·BT21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2331720" y="4306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 2011 · BT21 2017.12 첫 상품 행사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2331720" y="46360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25" name="Text 20"/>
          <p:cNvSpPr txBox="1"/>
          <p:nvPr/>
        </p:nvSpPr>
        <p:spPr>
          <a:xfrm>
            <a:off x="2331720" y="48371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멤버가 성격·취향을 정함, 팬심과 연결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2331720" y="52395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2331720" y="54406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팬덤이 없으면 성격으로 승부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172200" y="3794760"/>
            <a:ext cx="544068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29" name="Image 3" descr="/tmp/claude-0/-home-user-hoho/be02f18f-1e6f-5d80-8a1f-70cf34bf4c7e/scratchpad/build/crop/s_hachup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977640"/>
            <a:ext cx="1371600" cy="13716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955280" y="3977640"/>
            <a:ext cx="3474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하츄핑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955280" y="4306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2020.3.19 첫 방송 · 2024 극장판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7955280" y="4636008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성격·감정</a:t>
            </a:r>
            <a:endParaRPr lang="en-US" sz="1000" dirty="0"/>
          </a:p>
        </p:txBody>
      </p:sp>
      <p:sp>
        <p:nvSpPr>
          <p:cNvPr id="33" name="Text 27"/>
          <p:cNvSpPr txBox="1"/>
          <p:nvPr/>
        </p:nvSpPr>
        <p:spPr>
          <a:xfrm>
            <a:off x="7955280" y="48371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곧 감정(사랑), 아동 최선호 4.8%</a:t>
            </a:r>
            <a:endParaRPr lang="en-US" sz="1150" dirty="0"/>
          </a:p>
        </p:txBody>
      </p:sp>
      <p:sp>
        <p:nvSpPr>
          <p:cNvPr id="34" name="Text 28"/>
          <p:cNvSpPr txBox="1"/>
          <p:nvPr/>
        </p:nvSpPr>
        <p:spPr>
          <a:xfrm>
            <a:off x="7955280" y="5239512"/>
            <a:ext cx="3474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힌트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7955280" y="544068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토끼 이름에 감정을 담을지 검토</a:t>
            </a:r>
            <a:endParaRPr lang="en-US" sz="1150" dirty="0"/>
          </a:p>
        </p:txBody>
      </p:sp>
      <p:sp>
        <p:nvSpPr>
          <p:cNvPr id="36" name="Text 30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S21–S24 · N01 · N12 · 조구만 인터뷰(디자인) · 썸트렌드 · Soompi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04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01168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상품화와 묘브제 적용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이미지가 어떤 상품·가격·유통으로 이어졌는지 보고,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F7E4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브랜딩 특강의 '브랜드 기본 체계'로 묘브제에 옮겼습니다.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93776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상품화 패턴 · 비교표 · 가격 계단 · 구매 기준 · 가격 위치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기본 체계 · 가져올 5가지 · 검증할 3가지</a:t>
            </a:r>
            <a:endParaRPr lang="en-US" sz="1300" dirty="0"/>
          </a:p>
        </p:txBody>
      </p:sp>
      <p:pic>
        <p:nvPicPr>
          <p:cNvPr id="6" name="Image 0" descr="/tmp/claude-0/-home-user-hoho/be02f18f-1e6f-5d80-8a1f-70cf34bf4c7e/scratchpad/build/crop/div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4072" y="548640"/>
            <a:ext cx="4206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COMMERCE · 상품화 패턴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이미지가 상품으로 이어진 다섯 가지 패턴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원고의 사례 분석을 묶은 해석입니다. 앞의 감정 갈래와 달리 '어떤 상품으로 팔렸나'를 기준으로 묶었습니다.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103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6" name="Image 0" descr="/tmp/claude-0/-home-user-hoho/be02f18f-1e6f-5d80-8a1f-70cf34bf4c7e/scratchpad/build/crop/t_labubu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886968" cy="886968"/>
          </a:xfrm>
          <a:prstGeom prst="rect">
            <a:avLst/>
          </a:prstGeom>
        </p:spPr>
      </p:pic>
      <p:pic>
        <p:nvPicPr>
          <p:cNvPr id="7" name="Image 1" descr="/tmp/claude-0/-home-user-hoho/be02f18f-1e6f-5d80-8a1f-70cf34bf4c7e/scratchpad/build/crop/t_kaw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920240"/>
            <a:ext cx="886968" cy="8869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9008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3538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알아보는 실루엣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731520" y="399592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축소해도, 멀리서도 구별되는 형태 기호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731520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731520" y="527608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치아 · KAWS X형 눈 · 토토로 배 무늬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798064" y="1783080"/>
            <a:ext cx="2103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14" name="Image 2" descr="/tmp/claude-0/-home-user-hoho/be02f18f-1e6f-5d80-8a1f-70cf34bf4c7e/scratchpad/build/crop/t_sanrio_kv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1920240"/>
            <a:ext cx="886968" cy="886968"/>
          </a:xfrm>
          <a:prstGeom prst="rect">
            <a:avLst/>
          </a:prstGeom>
        </p:spPr>
      </p:pic>
      <p:pic>
        <p:nvPicPr>
          <p:cNvPr id="15" name="Image 3" descr="/tmp/claude-0/-home-user-hoho/be02f18f-1e6f-5d80-8a1f-70cf34bf4c7e/scratchpad/build/crop/t_pokemon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7056" y="1920240"/>
            <a:ext cx="886968" cy="88696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2980944" y="299008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3000" dirty="0"/>
          </a:p>
        </p:txBody>
      </p:sp>
      <p:sp>
        <p:nvSpPr>
          <p:cNvPr id="17" name="Text 11"/>
          <p:cNvSpPr txBox="1"/>
          <p:nvPr/>
        </p:nvSpPr>
        <p:spPr>
          <a:xfrm>
            <a:off x="2980944" y="3538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규칙 + 변주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2980944" y="399592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얼굴·색·이름은 고정, 의상·소재만 바꿈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2980944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2980944" y="527608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시리즈 · 산리오 · 포켓몬</a:t>
            </a:r>
            <a:endParaRPr lang="en-US" sz="1100" dirty="0"/>
          </a:p>
        </p:txBody>
      </p:sp>
      <p:sp>
        <p:nvSpPr>
          <p:cNvPr id="21" name="Shape 15"/>
          <p:cNvSpPr/>
          <p:nvPr/>
        </p:nvSpPr>
        <p:spPr>
          <a:xfrm>
            <a:off x="5047488" y="1783080"/>
            <a:ext cx="2103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22" name="Image 4" descr="/tmp/claude-0/-home-user-hoho/be02f18f-1e6f-5d80-8a1f-70cf34bf4c7e/scratchpad/build/crop/t_fwy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84648" y="1920240"/>
            <a:ext cx="886968" cy="886968"/>
          </a:xfrm>
          <a:prstGeom prst="rect">
            <a:avLst/>
          </a:prstGeom>
        </p:spPr>
      </p:pic>
      <p:pic>
        <p:nvPicPr>
          <p:cNvPr id="23" name="Image 5" descr="/tmp/claude-0/-home-user-hoho/be02f18f-1e6f-5d80-8a1f-70cf34bf4c7e/scratchpad/build/crop/t_hamzzi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1920240"/>
            <a:ext cx="886968" cy="886968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5230368" y="299008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3000" dirty="0"/>
          </a:p>
        </p:txBody>
      </p:sp>
      <p:sp>
        <p:nvSpPr>
          <p:cNvPr id="25" name="Text 17"/>
          <p:cNvSpPr txBox="1"/>
          <p:nvPr/>
        </p:nvSpPr>
        <p:spPr>
          <a:xfrm>
            <a:off x="5230368" y="3538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장면</a:t>
            </a:r>
            <a:endParaRPr lang="en-US" sz="1600" dirty="0"/>
          </a:p>
        </p:txBody>
      </p:sp>
      <p:sp>
        <p:nvSpPr>
          <p:cNvPr id="26" name="Text 18"/>
          <p:cNvSpPr txBox="1"/>
          <p:nvPr/>
        </p:nvSpPr>
        <p:spPr>
          <a:xfrm>
            <a:off x="5230368" y="399592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가방·책상·조명처럼 쓰임이 정해진 상품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5230368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000" dirty="0"/>
          </a:p>
        </p:txBody>
      </p:sp>
      <p:sp>
        <p:nvSpPr>
          <p:cNvPr id="28" name="Text 20"/>
          <p:cNvSpPr txBox="1"/>
          <p:nvPr/>
        </p:nvSpPr>
        <p:spPr>
          <a:xfrm>
            <a:off x="5230368" y="527608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펜던트 · 김햄찌 사무용품 · FWY 조명</a:t>
            </a:r>
            <a:endParaRPr lang="en-US" sz="1100" dirty="0"/>
          </a:p>
        </p:txBody>
      </p:sp>
      <p:sp>
        <p:nvSpPr>
          <p:cNvPr id="29" name="Shape 21"/>
          <p:cNvSpPr/>
          <p:nvPr/>
        </p:nvSpPr>
        <p:spPr>
          <a:xfrm>
            <a:off x="7296912" y="1783080"/>
            <a:ext cx="2103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30" name="Image 6" descr="/tmp/claude-0/-home-user-hoho/be02f18f-1e6f-5d80-8a1f-70cf34bf4c7e/scratchpad/build/crop/t_mud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34072" y="1920240"/>
            <a:ext cx="886968" cy="886968"/>
          </a:xfrm>
          <a:prstGeom prst="rect">
            <a:avLst/>
          </a:prstGeom>
        </p:spPr>
      </p:pic>
      <p:pic>
        <p:nvPicPr>
          <p:cNvPr id="31" name="Image 7" descr="/tmp/claude-0/-home-user-hoho/be02f18f-1e6f-5d80-8a1f-70cf34bf4c7e/scratchpad/build/crop/t_fritz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904" y="1920240"/>
            <a:ext cx="886968" cy="886968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479792" y="299008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3000" dirty="0"/>
          </a:p>
        </p:txBody>
      </p:sp>
      <p:sp>
        <p:nvSpPr>
          <p:cNvPr id="33" name="Text 23"/>
          <p:cNvSpPr txBox="1"/>
          <p:nvPr/>
        </p:nvSpPr>
        <p:spPr>
          <a:xfrm>
            <a:off x="7479792" y="3538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맥락과 의미</a:t>
            </a:r>
            <a:endParaRPr lang="en-US" sz="1600" dirty="0"/>
          </a:p>
        </p:txBody>
      </p:sp>
      <p:sp>
        <p:nvSpPr>
          <p:cNvPr id="34" name="Text 24"/>
          <p:cNvSpPr txBox="1"/>
          <p:nvPr/>
        </p:nvSpPr>
        <p:spPr>
          <a:xfrm>
            <a:off x="7479792" y="399592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출처·설명·원래 경험이 의미를 더함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7479792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7479792" y="527608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 설명 카드 · 프릳츠 매장 경험</a:t>
            </a:r>
            <a:endParaRPr lang="en-US" sz="1100" dirty="0"/>
          </a:p>
        </p:txBody>
      </p:sp>
      <p:sp>
        <p:nvSpPr>
          <p:cNvPr id="37" name="Shape 27"/>
          <p:cNvSpPr/>
          <p:nvPr/>
        </p:nvSpPr>
        <p:spPr>
          <a:xfrm>
            <a:off x="9546336" y="1783080"/>
            <a:ext cx="21031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pic>
        <p:nvPicPr>
          <p:cNvPr id="38" name="Image 8" descr="/tmp/claude-0/-home-user-hoho/be02f18f-1e6f-5d80-8a1f-70cf34bf4c7e/scratchpad/build/crop/t_jellycat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3496" y="1920240"/>
            <a:ext cx="886968" cy="886968"/>
          </a:xfrm>
          <a:prstGeom prst="rect">
            <a:avLst/>
          </a:prstGeom>
        </p:spPr>
      </p:pic>
      <p:pic>
        <p:nvPicPr>
          <p:cNvPr id="39" name="Image 9" descr="/tmp/claude-0/-home-user-hoho/be02f18f-1e6f-5d80-8a1f-70cf34bf4c7e/scratchpad/build/crop/t_kakao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5328" y="1920240"/>
            <a:ext cx="886968" cy="886968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9729216" y="299008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3000" dirty="0"/>
          </a:p>
        </p:txBody>
      </p:sp>
      <p:sp>
        <p:nvSpPr>
          <p:cNvPr id="41" name="Text 29"/>
          <p:cNvSpPr txBox="1"/>
          <p:nvPr/>
        </p:nvSpPr>
        <p:spPr>
          <a:xfrm>
            <a:off x="9729216" y="35387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사는 경험</a:t>
            </a:r>
            <a:endParaRPr lang="en-US" sz="1600" dirty="0"/>
          </a:p>
        </p:txBody>
      </p:sp>
      <p:sp>
        <p:nvSpPr>
          <p:cNvPr id="42" name="Text 30"/>
          <p:cNvSpPr txBox="1"/>
          <p:nvPr/>
        </p:nvSpPr>
        <p:spPr>
          <a:xfrm>
            <a:off x="9729216" y="3995928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체험·개봉·행사가 그 자체로 콘텐츠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9729216" y="50292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</a:t>
            </a:r>
            <a:endParaRPr lang="en-US" sz="1000" dirty="0"/>
          </a:p>
        </p:txBody>
      </p:sp>
      <p:sp>
        <p:nvSpPr>
          <p:cNvPr id="44" name="Text 32"/>
          <p:cNvSpPr txBox="1"/>
          <p:nvPr/>
        </p:nvSpPr>
        <p:spPr>
          <a:xfrm>
            <a:off x="9729216" y="5276088"/>
            <a:ext cx="1783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 체험 매장 · 카카오 팬 행사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17개 사례를 같은 기준으로 비교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●는 원고가 그 사례의 핵심으로 다룬 패턴입니다. 마지막 열은 묘브제가 바로 참고할 수 있는 정도입니다.</a:t>
            </a:r>
            <a:endParaRPr lang="en-US" sz="1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463040"/>
                <a:gridCol w="868680"/>
                <a:gridCol w="777240"/>
                <a:gridCol w="1005840"/>
                <a:gridCol w="777240"/>
                <a:gridCol w="777240"/>
                <a:gridCol w="2697480"/>
                <a:gridCol w="112471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지역·깊이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실루엣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변주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쓰는 장면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맥락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 경험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확보된 근거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묘브제 참고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라부부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중국 운영사·심층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IP 매출 +365.7% (확인)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산리오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 매출 +33.9% (확인)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포켓몬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티파니 협업 (확인)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카카오프렌즈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행사 방문 8.3만 명 (발표)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뮷즈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매출 +94.2% (확인)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프릳츠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한국·심층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연매출 약 80억 원, 2020 (발표)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토토로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일본·보통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공식 상품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KAWS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전시·협업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FriendsWithYou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상품화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Jellycat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체험 매장 운영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스티키몬스터랩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◎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구냥이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채널 진입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김햄찌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한국·보통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구독·예약 반응 (발표)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조구만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한국·짧음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협업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한국·짧음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카드 협업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LINE·BT21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한국·짧음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상품 행사 기록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하츄핑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한국·짧음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연령별 선호 조사 (확인)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18288" marB="18288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81344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◎ 형식·규모·카테고리가 가까워 바로 참고   ○ 일부 참고   △ 조건이 달라 참고 제한  ·  묘브제 참고 정도는 이 자료의 판단(해석)입니다.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POINT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세일즈 포인트: 진입 → 주력 → 소장의 가격 계단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캐릭터라도 용도와 가격을 나눠, 처음 사는 사람과 팬을 함께 받습니다. 가격은 시장·시점이 달라 단순 비교하지 않습니다.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606040" cy="3063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67588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부담 없는 첫 구매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4041648"/>
            <a:ext cx="2286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프릳츠 랜덤 물개 키링 · 6,000원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THE MONSTERS Have a Seat · 26.99달러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포차코 마스코트 홀더 · 각 2,200엔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91840" y="2514600"/>
            <a:ext cx="2606040" cy="3566160"/>
          </a:xfrm>
          <a:prstGeom prst="rect">
            <a:avLst/>
          </a:prstGeom>
          <a:solidFill>
            <a:srgbClr val="F7E4D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93008" y="2697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주력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493008" y="317296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브랜드를 대표하는 오브제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93008" y="3538728"/>
            <a:ext cx="2286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 반가사유상 ver.3 · 65,000원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토토로 모래시계 · 9,680엔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2011680"/>
            <a:ext cx="260604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36208" y="2194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소장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236208" y="26700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팬을 위한 큰 상품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236208" y="3035808"/>
            <a:ext cx="228600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LABUBU I FOUND YOU · 199.99달러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티파니 × 포켓몬 주얼리 (가격 미기재)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KAWS 작품·에디션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15400" y="2011680"/>
            <a:ext cx="2724912" cy="406908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0" y="2212848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묘브제는 지금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0" y="2606040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주력 한 단계만 계획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3108960"/>
            <a:ext cx="226771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10cm 데스크 오브제, 가설 가격 3.2만~5.9만 원 (사업계획서).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 상품(첫 구매)과 소장 상품(메인 15~18cm는 후속 계획)이 비어 있어, 가격 계단은 검토 과제입니다.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44768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S09 · N03 · N05 · N06 · N09 · S13 · S14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구매 기준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구매자는 외형·호감과 함께 품질·가격도 본다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KOCCA 「2024 캐릭터 이용자 조사」 캐릭터 상품 구매 경험자 2,852명, 1·2순위 합산 응답 (확인)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83080"/>
          <a:ext cx="65836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1783080"/>
            <a:ext cx="4144975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0" y="2011680"/>
            <a:ext cx="3596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 주는 의미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514600"/>
            <a:ext cx="359633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외형만으로는 부족합니다. 구매자 4명 중 1명꼴로 품질·가격을 1·2순위로 꼽았습니다.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조소 작가의 마감 품질을 사진·실물로 보여주는 것이 세일즈 포인트가 됩니다.</a:t>
            </a:r>
            <a:endParaRPr lang="en-US" sz="1300" dirty="0"/>
          </a:p>
          <a:p>
            <a:pPr marL="177800" indent="-1778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'호감'이 위로·자기투영·추억 중 무엇인지는 알 수 없습니다. '당신은 어떤 토끼인가요?'의 효과는 직접 검증해야 합니다.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10–69세 3,500명 중 구매 경험자 응답. 전체 국민의 구매 원인이나 매출 기여율은 아님 · 출처 N01 (pp.4–5·44)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 · 가격 위치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가설가는 대량생산 피규어와 레진 오브제 사이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판매가 기준(원). 크기·재질·채널이 달라 단순 비교가 아니라 '위치'를 보기 위한 그림입니다. 가로축은 로그 눈금입니다.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284524" y="2423160"/>
            <a:ext cx="1455381" cy="822960"/>
          </a:xfrm>
          <a:prstGeom prst="rect">
            <a:avLst/>
          </a:prstGeom>
          <a:solidFill>
            <a:srgbClr val="C8321F">
              <a:alpha val="18000"/>
            </a:srgbClr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735884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가설 3.2만~5.9만 원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735884" y="22037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10cm · 레진 · 작가 수작업 마감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68680" y="3246120"/>
            <a:ext cx="10424160" cy="0"/>
          </a:xfrm>
          <a:prstGeom prst="line">
            <a:avLst/>
          </a:prstGeom>
          <a:noFill/>
          <a:ln w="19050">
            <a:solidFill>
              <a:srgbClr val="2A26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17569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51809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1만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30997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65237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46172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80412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95061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629301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608489" y="3191256"/>
            <a:ext cx="0" cy="109728"/>
          </a:xfrm>
          <a:prstGeom prst="line">
            <a:avLst/>
          </a:prstGeom>
          <a:noFill/>
          <a:ln w="12700">
            <a:solidFill>
              <a:srgbClr val="2A262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2729" y="2862072"/>
            <a:ext cx="731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220099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02395" y="3337560"/>
            <a:ext cx="0" cy="16459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210955" y="3520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프릳츠 물개 키링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1210955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6,000원 · 35mm 아크릴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416635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98931" y="3337560"/>
            <a:ext cx="0" cy="16459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538811" y="3520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스티키몬스터랩 레드몬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538811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23,000원 · 10cm ABS·PVC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68055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50351" y="3337560"/>
            <a:ext cx="0" cy="103327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90231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몬치치 키링 SS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090231" y="46360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29,000원 · 16cm 봉제 (정가 4만)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888000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970296" y="3337560"/>
            <a:ext cx="0" cy="16459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010176" y="3520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 반가사유상 ver.3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6010176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65,000원 · 155mm 레진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608670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90966" y="3337560"/>
            <a:ext cx="0" cy="103327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30846" y="438912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타임 투 칠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6730846" y="463600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88,000원 · 37cm 봉제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10679720" y="3163824"/>
            <a:ext cx="164592" cy="164592"/>
          </a:xfrm>
          <a:prstGeom prst="ellipse">
            <a:avLst/>
          </a:prstGeom>
          <a:solidFill>
            <a:srgbClr val="2A2622"/>
          </a:solidFill>
          <a:ln w="12700">
            <a:solidFill>
              <a:srgbClr val="2A262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762016" y="3337560"/>
            <a:ext cx="0" cy="164592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933216" y="352044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토토로 디오라마</a:t>
            </a:r>
            <a:endParaRPr lang="en-US" sz="1150" dirty="0"/>
          </a:p>
        </p:txBody>
      </p:sp>
      <p:sp>
        <p:nvSpPr>
          <p:cNvPr id="44" name="Text 42"/>
          <p:cNvSpPr txBox="1"/>
          <p:nvPr/>
        </p:nvSpPr>
        <p:spPr>
          <a:xfrm>
            <a:off x="8933216" y="37673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320,000원 · 18.2cm 수지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48640" y="5257800"/>
            <a:ext cx="11094415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77240" y="534924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  </a:t>
            </a:r>
            <a:pPr indent="0" marL="0">
              <a:buNone/>
            </a:pPr>
            <a:r>
              <a:rPr lang="en-US" sz="12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가설가는 국내 대량생산 10cm 피규어(2.3만 원)보다 높고 뮷즈 레진 오브제(6.5만 원)보다 낮습니다. 그 차이를 설명할 근거는 물성 질감과 작가 수작업 마감이며, 실물 사진 기반 가격 반응으로 확인해야 합니다.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 출처: 묘브제 사업계획서 비교 상품표(2026.9 공식 판매 페이지 기준), 원고 S09 · N09 (2026-10-13 관찰)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BRANDING · 브랜드 기본 체계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특강의 7가지 요소로 본 묘브제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열은 사례에서 확인한 기준, 오른쪽 열은 묘브제 초안입니다. 초안은 검증 전 가설입니다.</a:t>
            </a:r>
            <a:endParaRPr lang="en-US" sz="13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3931920"/>
                <a:gridCol w="49194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요소 · 특강 질문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사례에서 배운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묘브제 초안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832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존재 이유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이 브랜드인가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뮷즈·프릳츠: 맥락과 경험이 상품의 이유를 설명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물질의 질감과 이야기로, 나만의 취향을 고르게 하는 아트토이 (발표 대본)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고객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 먼저 사는가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산리오·김햄찌: 구매 상황이 분명할수록 상품이 쉬워짐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1순위 후보: 책상·선반을 꾸미는 성인. 수집·오브제·선물 중 우선순위는 설문으로 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차별점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무엇이 기억에 남나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라부부·KAWS: 형태 기호 하나가 기억을 만듦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물질별 표면 질감 + '당신은 어떤 토끼인가요?' 질문 + 조소 작가의 마감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브랜드 구조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 공유하고 무엇을 바꾸나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산리오·라부부: 공통 규칙 + 변주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공통: 몸 비례·얼굴·로고·패키지  /  변주: 물질별 표면·색·질문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색상 체계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메인·서브 색과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뮷즈: 생활 공간에 어울리는 색과 크기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저채도·자연색. 토끼별 대표색 1개 (아이보리·회백·청백·웜 베이지·짙은 회색)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체계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슬로건·스토리가 같은 핵심인가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최고심: 문장이 상품의 핵심이 될 수 있음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태그라인은 질문 하나. 토끼별 질문 5개 (계획서 별첨)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8321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경험·콘텐츠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접점이 같은 분위기인가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F584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Jellycat·카카오: 고르고 참여하는 과정이 콘텐츠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26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제작 과정 SNS 3회 이상, 질감 비교, 질문 카드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CB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44768"/>
            <a:ext cx="110944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OT·브랜딩 특강 통합정리(2026.10.12), 묘브제 사업계획서(2026.9), 국민대 발표 대본(10.6)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묘브제에 가져올 5가지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상품화 패턴 A–E를 묘브제의 할 일로 바꿨습니다. 시기는 국민대 지원 일정(10–12월)에 맞췄습니다.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783080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패턴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178308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묘브제 할 일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863840" y="17830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사례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783080"/>
            <a:ext cx="1581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시기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11094415" cy="0"/>
          </a:xfrm>
          <a:prstGeom prst="line">
            <a:avLst/>
          </a:prstGeom>
          <a:noFill/>
          <a:ln w="19050">
            <a:solidFill>
              <a:srgbClr val="C832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2128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6771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알아보는 실루엣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23113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공통 실루엣 1개 확정. 귀 모양과 몸 비례를 고정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226771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라부부 · 스티키몬스터랩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267712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모델 보완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852928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296265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0175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규칙 + 변주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98094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물질별로 바꾸는 것(표면·색·질문)과 안 바꾸는 것을 규칙표로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863840" y="30175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산리오 · 라부부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0" y="3017520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602736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71246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7673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장면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3108960" y="37307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'책상 위 10cm' 촬영 기준: 모니터 옆, 선반, 손 크기 비교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37673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김햄찌 · FriendsWithYou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0" y="3767328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 실물 사진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4352544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4622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1097280" y="451713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맥락과 의미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3108960" y="44805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물질 설명 카드 + 질문 카드가 든 패키지 시안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863840" y="45171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뮷즈 · 최고심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10058400" y="4517136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11–12월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548640" y="5102352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21208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2400" dirty="0"/>
          </a:p>
        </p:txBody>
      </p:sp>
      <p:sp>
        <p:nvSpPr>
          <p:cNvPr id="36" name="Text 34"/>
          <p:cNvSpPr txBox="1"/>
          <p:nvPr/>
        </p:nvSpPr>
        <p:spPr>
          <a:xfrm>
            <a:off x="1097280" y="52669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사는 경험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108960" y="52303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전시에서 '나는 어떤 토끼?' 고르기와 질감 만져보기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7863840" y="526694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Jellycat · 카카오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10058400" y="5266944"/>
            <a:ext cx="1581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 성과 전시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5852160"/>
            <a:ext cx="11094415" cy="0"/>
          </a:xfrm>
          <a:prstGeom prst="line">
            <a:avLst/>
          </a:prstGeom>
          <a:noFill/>
          <a:ln w="12700">
            <a:solidFill>
              <a:srgbClr val="D3CBC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592531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우선순위 낮음: 블라인드박스. 개봉의 재미는 있지만 '신규 IP도 성공한다'는 근거는 약합니다 (원고 N02 해석).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12월까지 검증할 3가지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사업계획서 목표(설문 20명 이상, 인터뷰 3명 이상)에 맞춰 질문을 셋으로 좁혔습니다.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54787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알아보는가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546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실루엣만 보고 같은 브랜드로 인식하는가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20624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실루엣 5종 이미지 → '같은 브랜드 같나요?'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5120640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연결: 패턴 A·B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15968" y="1828800"/>
            <a:ext cx="354787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90288" y="20574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4590288" y="26517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사는가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4590288" y="31546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수집 · 공간 오브제 · 선물 중 1순위 구매 이유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590288" y="3977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590288" y="420624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선택 + 인터뷰에서 이유 듣기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590288" y="5120640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연결: 핵심 고객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83296" y="1828800"/>
            <a:ext cx="3547872" cy="3749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3CBC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7616" y="20574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8357616" y="26517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얼마면 사는가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8357616" y="31546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사진 기준 가격 수용 범위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357616" y="39776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357616" y="4206240"/>
            <a:ext cx="2999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3.2만 · 4.5만 · 5.9만 원 예시 중 선택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357616" y="5120640"/>
            <a:ext cx="2999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연결: 가격 위치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'우주토끼 설문' 응답과 같은 질문을 섞으면 변화도 볼 수 있습니다. 가격 예시는 가설 범위를 나눈 값이며 확정가가 아닙니다.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자료로 말할 수 있는 것과 없는 것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097280" cy="45720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높음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874520" y="164592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공시상 매출, 공식 제품의 가격·소재, 출시·협업 사실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6888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321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5146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설문 범위 안의 선호, 회사가 발표한 방문·예약 반응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337560"/>
            <a:ext cx="1097280" cy="457200"/>
          </a:xfrm>
          <a:prstGeom prst="rect">
            <a:avLst/>
          </a:prstGeom>
          <a:solidFill>
            <a:srgbClr val="E6E0D7"/>
          </a:solidFill>
          <a:ln w="12700">
            <a:solidFill>
              <a:srgbClr val="2A262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874520" y="33832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외형의 매력, 스토리와 상품의 적합성, 감정 갈래, 상품화 패턴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206240"/>
            <a:ext cx="10972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8C857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857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미확정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874520" y="4251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인기 정점 연도, 디자인의 매출 기여율, 제조원가, 성인 반복 구매율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949440" y="1600200"/>
            <a:ext cx="4693615" cy="3383280"/>
          </a:xfrm>
          <a:prstGeom prst="rect">
            <a:avLst/>
          </a:prstGeom>
          <a:solidFill>
            <a:srgbClr val="C8321F"/>
          </a:solidFill>
          <a:ln w="12700">
            <a:solidFill>
              <a:srgbClr val="C8321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23760" y="1810512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한계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223760" y="2286000"/>
            <a:ext cx="414497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 사례만 모은 선택 편향이 있습니다. 비슷한 외형·블라인드 방식·팝업을 썼지만 성장하지 못한 비교군이 없습니다.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이 자료는 성공 공식이 아니라, 묘브제가 무엇을 검증해야 하는지 정하는 데 씁니다.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578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범위에서 제외: 세컨드모닝·모후샌드·스미스키·소니엔젤. 출처 S05·S26은 원고에서 제외된 번호입니다.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SOURCES · 원고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원고 출처 37개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S는 선행 조사, N은 보강 자료입니다. 제목을 누르면 원문이 열립니다. 이미지 출처는 이전 자료집의 이미지 출처 페이지와 같습니다.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5564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556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POP MART, Annual Report 2025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888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888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CNA, How Labubu seller Pop Mart seized a cultural moment, 2025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219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2219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LSEG, The Labubu craze (NLP 분석), 2026-01-07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51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S04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4551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Sanrio, HELLO KITTY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88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S06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688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카카오, 카카오프렌즈 상품·공간 전개 기록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150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S07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29215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카카오, 2025 프로야구단×춘식이 협업, 2025-05-19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154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S08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1546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뉴스핌, 작년 박물관 뮷즈 매출 213억, 2025-02-14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3878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S09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33878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프릳츠 랜덤 물개 키링 (2026-10-13 관찰)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62102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S10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36210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스튜디오 지브리, スタジオジブリの歴史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8541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85419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디자인정글, 뮷즈 브랜드 공개, 2022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873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S12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4087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Pokémon Company, History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3205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S13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43205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베네릭, 토토로 머그(2022)·모래시계(2024) 발표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5537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S14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1051560" y="45537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Aldrich, KAWS: Companion / 유니클로 KAWS UNIVERSE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7868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S15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1051560" y="47868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FriendsWithYou, Little Cloud Lamp, 2022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02005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S16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1051560" y="5020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happening, Sticky Monster Lab 인터뷰, 2021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32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S17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1051560" y="52532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koo9oo, 구냥있는 구냥이 출시 안내, 2020-08-25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4864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S18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1051560" y="54864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아이러브캐릭터, 구냥이·솜찌 소개, 2024-05-30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7195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S19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1051560" y="57195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 블로그, 이달의 크리에이터 김햄찌, 2025-11-07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595274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S20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1051560" y="595274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한국경제, 신세계 김햄찌 팝업, 2026-07-10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175564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S21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675120" y="17556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조구만 스튜디오 소개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72200" y="19888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S22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675120" y="19888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신한카드, 최고심 카드 출시, 2022-11-28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222199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S23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6675120" y="22219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BT21, 첫 상품 행사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24551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S24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675120" y="24551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SBS, 사랑의 하츄핑 70만 돌파, 2024-08-23</a:t>
            </a:r>
            <a:endParaRPr lang="en-US" sz="950" dirty="0"/>
          </a:p>
        </p:txBody>
      </p:sp>
      <p:sp>
        <p:nvSpPr>
          <p:cNvPr id="51" name="Text 49"/>
          <p:cNvSpPr txBox="1"/>
          <p:nvPr/>
        </p:nvSpPr>
        <p:spPr>
          <a:xfrm>
            <a:off x="6172200" y="268833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75120" y="2688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Jellycat, Fish &amp; Chips 체험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6172200" y="292150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S27</a:t>
            </a:r>
            <a:endParaRPr lang="en-US" sz="950" dirty="0"/>
          </a:p>
        </p:txBody>
      </p:sp>
      <p:sp>
        <p:nvSpPr>
          <p:cNvPr id="54" name="Text 52"/>
          <p:cNvSpPr txBox="1"/>
          <p:nvPr/>
        </p:nvSpPr>
        <p:spPr>
          <a:xfrm>
            <a:off x="6675120" y="29215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Pokémon fit 칼로스 지방 시리즈, 2024-05-31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6172200" y="31546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N01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6675120" y="31546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한국콘텐츠진흥원, 2024 캐릭터 이용자 조사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6172200" y="33878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N02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6675120" y="33878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Zhang &amp; Zhang (2022), Frontiers in Psychology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172200" y="362102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N03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6675120" y="36210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POP MART 미국 공식몰 THE MONSTERS (2026-10-13 관찰)</a:t>
            </a:r>
            <a:endParaRPr lang="en-US" sz="950" dirty="0"/>
          </a:p>
        </p:txBody>
      </p:sp>
      <p:sp>
        <p:nvSpPr>
          <p:cNvPr id="61" name="Text 59"/>
          <p:cNvSpPr txBox="1"/>
          <p:nvPr/>
        </p:nvSpPr>
        <p:spPr>
          <a:xfrm>
            <a:off x="6172200" y="38541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N04</a:t>
            </a:r>
            <a:endParaRPr lang="en-US" sz="950" dirty="0"/>
          </a:p>
        </p:txBody>
      </p:sp>
      <p:sp>
        <p:nvSpPr>
          <p:cNvPr id="62" name="Text 60"/>
          <p:cNvSpPr txBox="1"/>
          <p:nvPr/>
        </p:nvSpPr>
        <p:spPr>
          <a:xfrm>
            <a:off x="6675120" y="385419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Sanrio, FY2026.3 결산 설명 자료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6172200" y="408736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N05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6675120" y="40873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Sanrio, 포차코 옷 갈아입기 시리즈, 2025.2</a:t>
            </a:r>
            <a:endParaRPr lang="en-US" sz="950" dirty="0"/>
          </a:p>
        </p:txBody>
      </p:sp>
      <p:sp>
        <p:nvSpPr>
          <p:cNvPr id="65" name="Text 63"/>
          <p:cNvSpPr txBox="1"/>
          <p:nvPr/>
        </p:nvSpPr>
        <p:spPr>
          <a:xfrm>
            <a:off x="6172200" y="43205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N06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75120" y="432054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Tiffany &amp; Co., Arsham Studio × Pokémon, 2023-11-13</a:t>
            </a:r>
            <a:endParaRPr lang="en-US" sz="950" dirty="0"/>
          </a:p>
        </p:txBody>
      </p:sp>
      <p:sp>
        <p:nvSpPr>
          <p:cNvPr id="67" name="Text 65"/>
          <p:cNvSpPr txBox="1"/>
          <p:nvPr/>
        </p:nvSpPr>
        <p:spPr>
          <a:xfrm>
            <a:off x="6172200" y="455371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N07</a:t>
            </a:r>
            <a:endParaRPr lang="en-US" sz="950" dirty="0"/>
          </a:p>
        </p:txBody>
      </p:sp>
      <p:sp>
        <p:nvSpPr>
          <p:cNvPr id="68" name="Text 66"/>
          <p:cNvSpPr txBox="1"/>
          <p:nvPr/>
        </p:nvSpPr>
        <p:spPr>
          <a:xfrm>
            <a:off x="6675120" y="45537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카카오, 춘식이 팬미팅·콘텐츠 안내, 2023-03-08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6172200" y="478688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N08</a:t>
            </a:r>
            <a:endParaRPr lang="en-US" sz="950" dirty="0"/>
          </a:p>
        </p:txBody>
      </p:sp>
      <p:sp>
        <p:nvSpPr>
          <p:cNvPr id="70" name="Text 68"/>
          <p:cNvSpPr txBox="1"/>
          <p:nvPr/>
        </p:nvSpPr>
        <p:spPr>
          <a:xfrm>
            <a:off x="6675120" y="47868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코리아넷, 400억 시장 연 K-뮷즈, 2026-05-07</a:t>
            </a:r>
            <a:endParaRPr lang="en-US" sz="950" dirty="0"/>
          </a:p>
        </p:txBody>
      </p:sp>
      <p:sp>
        <p:nvSpPr>
          <p:cNvPr id="71" name="Text 69"/>
          <p:cNvSpPr txBox="1"/>
          <p:nvPr/>
        </p:nvSpPr>
        <p:spPr>
          <a:xfrm>
            <a:off x="6172200" y="502005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N09</a:t>
            </a:r>
            <a:endParaRPr lang="en-US" sz="950" dirty="0"/>
          </a:p>
        </p:txBody>
      </p:sp>
      <p:sp>
        <p:nvSpPr>
          <p:cNvPr id="72" name="Text 70"/>
          <p:cNvSpPr txBox="1"/>
          <p:nvPr/>
        </p:nvSpPr>
        <p:spPr>
          <a:xfrm>
            <a:off x="6675120" y="5020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국립박물관문화재단, 반가사유상 미니어처 ver.3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172200" y="5253228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N10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675120" y="525322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한국경제, 프릳츠 김병기 대표 인터뷰, 2020-06-18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6172200" y="54864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N11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6675120" y="54864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NAVER WORKS 고객 사례, 프릳츠커피컴퍼니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6172200" y="571957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N12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6675120" y="571957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뉴스1, 캐치! 티니핑 첫 방송, 2020-03-19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32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SOURCES · 브랜드 이미지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이미지 출처 23개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43584"/>
            <a:ext cx="11094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8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01과 사례별 성격·감정 분석에 쓴 자료입니다. 공식 설정 페이지에 직접 접속하지 못한 경우 기사·인터뷰 인용으로 확인했습니다.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오픈애즈, 오래 사랑받는 캐릭터의 조건 (KOCCA 조사 인용)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0848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B02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0848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국내 캐릭터 선호도 조사를 통한 이용충족 분석연구, 2017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B03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140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JBR 142, How creative cute characters affect purchase intention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B04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텐센트뉴스, 팝마트 2025 실적 (IP별 매출)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B05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072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Our China Story, Labubu와 작가 카싱 룽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401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B06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4015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Time Out Tokyo, 산리오 캐릭터 대상 2025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730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B07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7307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Wikipedia, Hello Kitty (산리오 대변인 설명 인용)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B08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051560" y="4059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Born Licensing, Kuromi 캐릭터 소개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389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B09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License Global, Top Global Licensors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718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카카오, 라이언 웹툰 공개 (갈기 없는 수사자 설정)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0474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B11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헤럴드경제, 뮷즈 일본 진출 (슬로건)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376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B12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51560" y="537667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Mental Floss, My Neighbor Totoro (감독 인터뷰 인용)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1755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B13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667512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Artforum, KAWS 비평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6172200" y="20848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B14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20848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Seattle Art Museum, FriendsWithYou 인터뷰, 2025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172200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B15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6675120" y="241401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Maison&amp;Objet, Jellycat the superstar of softies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17220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B16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675120" y="27432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 Korea, 스티키 몬스터 인터뷰, 2011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6172200" y="30723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B17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6675120" y="30723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인어부스, 구냥있는 고양이 구냥이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6172200" y="34015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B18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6675120" y="340156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다음, 나는 햄스터 직업은 회사원 (김햄찌)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72200" y="37307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B19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6675120" y="373075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파이낸셜뉴스, 김햄찌 팝업, 2026-07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6172200" y="40599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B20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675120" y="405993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디자인, 조구만 스튜디오 인터뷰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6172200" y="4389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B21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6675120" y="43891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썸트렌드, MZ세대의 자존감 지킴이 최고심</a:t>
            </a:r>
            <a:endParaRPr lang="en-US" sz="950" dirty="0"/>
          </a:p>
        </p:txBody>
      </p:sp>
      <p:sp>
        <p:nvSpPr>
          <p:cNvPr id="47" name="Text 45"/>
          <p:cNvSpPr txBox="1"/>
          <p:nvPr/>
        </p:nvSpPr>
        <p:spPr>
          <a:xfrm>
            <a:off x="6172200" y="4718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B22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6675120" y="471830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Soompi, BTS가 디자인한 BT21 캐릭터</a:t>
            </a:r>
            <a:endParaRPr lang="en-US" sz="950" dirty="0"/>
          </a:p>
        </p:txBody>
      </p:sp>
      <p:sp>
        <p:nvSpPr>
          <p:cNvPr id="49" name="Text 47"/>
          <p:cNvSpPr txBox="1"/>
          <p:nvPr/>
        </p:nvSpPr>
        <p:spPr>
          <a:xfrm>
            <a:off x="6172200" y="50474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83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B23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6675120" y="504748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6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고구마팜, 티니핑 시리즈의 인기 비결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8321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캐릭터 IP 사례 자료집 · 묘브제 적용판</dc:title>
  <dc:subject>PptxGenJS Presentation</dc:subject>
  <dc:creator>묘브제</dc:creator>
  <cp:lastModifiedBy>묘브제</cp:lastModifiedBy>
  <cp:revision>1</cp:revision>
  <dcterms:created xsi:type="dcterms:W3CDTF">2026-10-13T09:10:57Z</dcterms:created>
  <dcterms:modified xsi:type="dcterms:W3CDTF">2026-10-13T09:10:57Z</dcterms:modified>
</cp:coreProperties>
</file>